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30" r:id="rId1"/>
  </p:sldMasterIdLst>
  <p:notesMasterIdLst>
    <p:notesMasterId r:id="rId23"/>
  </p:notesMasterIdLst>
  <p:sldIdLst>
    <p:sldId id="256" r:id="rId2"/>
    <p:sldId id="27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4" r:id="rId18"/>
    <p:sldId id="270" r:id="rId19"/>
    <p:sldId id="273" r:id="rId20"/>
    <p:sldId id="275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8CAE48-C88C-90A9-EAFA-D240677B8A2C}" name="Almeida Ferrera, Yasmin" initials="AFY" userId="S::yf25769@essex.ac.uk::15d6c93e-4df3-436e-9cd2-e9637bd083e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Stile medio 4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Stile medio 3 - Color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Stile chiaro 3 - Color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Stile medio 4 - Color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Stile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Stile medio 4 - Color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AF606853-7671-496A-8E4F-DF71F8EC918B}" styleName="Stile scuro 1 - Color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Stile scuro 2 - Colore 1/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Stile chiaro 3 - Color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Stile chiaro 2 - Color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DA37D80-6434-44D0-A028-1B22A696006F}" styleName="Stile chiaro 3 - Color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le chiaro 3 - Color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Stile medio 1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8603FDC-E32A-4AB5-989C-0864C3EAD2B8}" styleName="Stile con tema 2 - Colore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6376"/>
  </p:normalViewPr>
  <p:slideViewPr>
    <p:cSldViewPr snapToGrid="0">
      <p:cViewPr varScale="1">
        <p:scale>
          <a:sx n="96" d="100"/>
          <a:sy n="96" d="100"/>
        </p:scale>
        <p:origin x="17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Distribution</a:t>
            </a:r>
            <a:r>
              <a:rPr lang="it-IT" baseline="0" dirty="0"/>
              <a:t> by </a:t>
            </a:r>
          </a:p>
          <a:p>
            <a:pPr>
              <a:defRPr/>
            </a:pPr>
            <a:r>
              <a:rPr lang="it-IT" dirty="0" err="1"/>
              <a:t>Diabetes</a:t>
            </a:r>
            <a:r>
              <a:rPr lang="it-IT" baseline="0" dirty="0"/>
              <a:t> Status</a:t>
            </a:r>
          </a:p>
          <a:p>
            <a:pPr>
              <a:defRPr/>
            </a:pPr>
            <a:endParaRPr lang="it-I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Colonna1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Foglio1!$A$2:$A$3</c:f>
              <c:strCache>
                <c:ptCount val="2"/>
                <c:pt idx="0">
                  <c:v>No Diabetes</c:v>
                </c:pt>
                <c:pt idx="1">
                  <c:v>Diabetes</c:v>
                </c:pt>
              </c:strCache>
            </c:strRef>
          </c:cat>
          <c:val>
            <c:numRef>
              <c:f>Foglio1!$B$2:$B$3</c:f>
              <c:numCache>
                <c:formatCode>General</c:formatCode>
                <c:ptCount val="2"/>
                <c:pt idx="0">
                  <c:v>500</c:v>
                </c:pt>
                <c:pt idx="1">
                  <c:v>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B7-0143-9D3E-1CF34643973B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Colonna2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4-C5B7-0143-9D3E-1CF34643973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C5B7-0143-9D3E-1CF34643973B}"/>
              </c:ext>
            </c:extLst>
          </c:dPt>
          <c:cat>
            <c:strRef>
              <c:f>Foglio1!$A$2:$A$3</c:f>
              <c:strCache>
                <c:ptCount val="2"/>
                <c:pt idx="0">
                  <c:v>No Diabetes</c:v>
                </c:pt>
                <c:pt idx="1">
                  <c:v>Diabetes</c:v>
                </c:pt>
              </c:strCache>
            </c:strRef>
          </c:cat>
          <c:val>
            <c:numRef>
              <c:f>Foglio1!$C$2:$C$3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B7-0143-9D3E-1CF3464397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gapDepth val="147"/>
        <c:shape val="box"/>
        <c:axId val="1300093055"/>
        <c:axId val="1317218367"/>
        <c:axId val="0"/>
      </c:bar3DChart>
      <c:catAx>
        <c:axId val="13000930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17218367"/>
        <c:crosses val="autoZero"/>
        <c:auto val="1"/>
        <c:lblAlgn val="ctr"/>
        <c:lblOffset val="100"/>
        <c:noMultiLvlLbl val="0"/>
      </c:catAx>
      <c:valAx>
        <c:axId val="1317218367"/>
        <c:scaling>
          <c:orientation val="minMax"/>
          <c:max val="6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00093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50"/>
      <c:rotY val="2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1425244608"/>
        <c:axId val="1425255808"/>
        <c:axId val="1419596800"/>
      </c:bar3DChart>
      <c:catAx>
        <c:axId val="1425244608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25255808"/>
        <c:crosses val="autoZero"/>
        <c:auto val="1"/>
        <c:lblAlgn val="ctr"/>
        <c:lblOffset val="100"/>
        <c:noMultiLvlLbl val="0"/>
      </c:catAx>
      <c:valAx>
        <c:axId val="1425255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25244608"/>
        <c:crosses val="autoZero"/>
        <c:crossBetween val="between"/>
      </c:valAx>
      <c:serAx>
        <c:axId val="141959680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25255808"/>
        <c:crosses val="autoZero"/>
      </c:ser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11200000"/>
        <c:axId val="1570055808"/>
      </c:barChart>
      <c:catAx>
        <c:axId val="1511200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570055808"/>
        <c:crosses val="autoZero"/>
        <c:auto val="1"/>
        <c:lblAlgn val="ctr"/>
        <c:lblOffset val="100"/>
        <c:noMultiLvlLbl val="0"/>
      </c:catAx>
      <c:valAx>
        <c:axId val="1570055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511200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 err="1"/>
              <a:t>Diabetes</a:t>
            </a:r>
            <a:r>
              <a:rPr lang="it-IT" baseline="0" dirty="0"/>
              <a:t> Rate by BMI </a:t>
            </a:r>
            <a:r>
              <a:rPr lang="it-IT" baseline="0" dirty="0" err="1"/>
              <a:t>Category</a:t>
            </a:r>
            <a:endParaRPr lang="it-I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Diabetes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Foglio1!$A$2:$A$5</c:f>
              <c:strCache>
                <c:ptCount val="4"/>
                <c:pt idx="0">
                  <c:v>Underweight</c:v>
                </c:pt>
                <c:pt idx="1">
                  <c:v>Normal</c:v>
                </c:pt>
                <c:pt idx="2">
                  <c:v>Overweight</c:v>
                </c:pt>
                <c:pt idx="3">
                  <c:v>Obese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13.3</c:v>
                </c:pt>
                <c:pt idx="1">
                  <c:v>6.5</c:v>
                </c:pt>
                <c:pt idx="2">
                  <c:v>24.4</c:v>
                </c:pt>
                <c:pt idx="3">
                  <c:v>46.2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EC-854F-9E20-161E6237489F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No Diabetes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Foglio1!$A$2:$A$5</c:f>
              <c:strCache>
                <c:ptCount val="4"/>
                <c:pt idx="0">
                  <c:v>Underweight</c:v>
                </c:pt>
                <c:pt idx="1">
                  <c:v>Normal</c:v>
                </c:pt>
                <c:pt idx="2">
                  <c:v>Overweight</c:v>
                </c:pt>
                <c:pt idx="3">
                  <c:v>Obese</c:v>
                </c:pt>
              </c:strCache>
            </c:strRef>
          </c:cat>
          <c:val>
            <c:numRef>
              <c:f>Foglio1!$C$2:$C$5</c:f>
              <c:numCache>
                <c:formatCode>General</c:formatCode>
                <c:ptCount val="4"/>
                <c:pt idx="0">
                  <c:v>86.7</c:v>
                </c:pt>
                <c:pt idx="1">
                  <c:v>93.5</c:v>
                </c:pt>
                <c:pt idx="2">
                  <c:v>75.599999999999994</c:v>
                </c:pt>
                <c:pt idx="3">
                  <c:v>53.8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EC-854F-9E20-161E623748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106020544"/>
        <c:axId val="1106021440"/>
        <c:axId val="0"/>
      </c:bar3DChart>
      <c:catAx>
        <c:axId val="1106020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06021440"/>
        <c:crosses val="autoZero"/>
        <c:auto val="1"/>
        <c:lblAlgn val="ctr"/>
        <c:lblOffset val="100"/>
        <c:noMultiLvlLbl val="0"/>
      </c:catAx>
      <c:valAx>
        <c:axId val="1106021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0602054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600" dirty="0" err="1"/>
              <a:t>Diabetes</a:t>
            </a:r>
            <a:r>
              <a:rPr lang="it-IT" sz="1600" baseline="0" dirty="0"/>
              <a:t> Rate by Age Group</a:t>
            </a:r>
            <a:endParaRPr lang="it-IT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Diabetes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Foglio1!$A$2:$A$5</c:f>
              <c:strCache>
                <c:ptCount val="4"/>
                <c:pt idx="0">
                  <c:v>&lt;30</c:v>
                </c:pt>
                <c:pt idx="1">
                  <c:v>30-39</c:v>
                </c:pt>
                <c:pt idx="2">
                  <c:v>40-49</c:v>
                </c:pt>
                <c:pt idx="3">
                  <c:v>50+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21.2</c:v>
                </c:pt>
                <c:pt idx="1">
                  <c:v>46.1</c:v>
                </c:pt>
                <c:pt idx="2">
                  <c:v>55.1</c:v>
                </c:pt>
                <c:pt idx="3">
                  <c:v>48.3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B1-D940-BE2F-A9DE18940BA1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No Diabetes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Foglio1!$A$2:$A$5</c:f>
              <c:strCache>
                <c:ptCount val="4"/>
                <c:pt idx="0">
                  <c:v>&lt;30</c:v>
                </c:pt>
                <c:pt idx="1">
                  <c:v>30-39</c:v>
                </c:pt>
                <c:pt idx="2">
                  <c:v>40-49</c:v>
                </c:pt>
                <c:pt idx="3">
                  <c:v>50+</c:v>
                </c:pt>
              </c:strCache>
            </c:strRef>
          </c:cat>
          <c:val>
            <c:numRef>
              <c:f>Foglio1!$C$2:$C$5</c:f>
              <c:numCache>
                <c:formatCode>General</c:formatCode>
                <c:ptCount val="4"/>
                <c:pt idx="0">
                  <c:v>78.8</c:v>
                </c:pt>
                <c:pt idx="1">
                  <c:v>53.9</c:v>
                </c:pt>
                <c:pt idx="2">
                  <c:v>44.9</c:v>
                </c:pt>
                <c:pt idx="3">
                  <c:v>51.7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B1-D940-BE2F-A9DE18940B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13554624"/>
        <c:axId val="1032157632"/>
        <c:axId val="0"/>
      </c:bar3DChart>
      <c:catAx>
        <c:axId val="10135546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32157632"/>
        <c:crosses val="autoZero"/>
        <c:auto val="1"/>
        <c:lblAlgn val="ctr"/>
        <c:lblOffset val="100"/>
        <c:noMultiLvlLbl val="0"/>
      </c:catAx>
      <c:valAx>
        <c:axId val="10321576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1355462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600" dirty="0" err="1"/>
              <a:t>Diabetes</a:t>
            </a:r>
            <a:r>
              <a:rPr lang="it-IT" sz="1600" baseline="0" dirty="0"/>
              <a:t> Rate by </a:t>
            </a:r>
            <a:r>
              <a:rPr lang="it-IT" sz="1600" baseline="0" dirty="0" err="1"/>
              <a:t>Pregnancy</a:t>
            </a:r>
            <a:r>
              <a:rPr lang="it-IT" sz="1600" baseline="0" dirty="0"/>
              <a:t> Group</a:t>
            </a:r>
            <a:endParaRPr lang="it-IT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Foglio1!$A$2:$A$3</c:f>
              <c:strCache>
                <c:ptCount val="2"/>
                <c:pt idx="0">
                  <c:v>Diabetes</c:v>
                </c:pt>
                <c:pt idx="1">
                  <c:v>No Diabetes</c:v>
                </c:pt>
              </c:strCache>
            </c:strRef>
          </c:cat>
          <c:val>
            <c:numRef>
              <c:f>Foglio1!$B$2:$B$3</c:f>
              <c:numCache>
                <c:formatCode>General</c:formatCode>
                <c:ptCount val="2"/>
                <c:pt idx="0">
                  <c:v>34.200000000000003</c:v>
                </c:pt>
                <c:pt idx="1">
                  <c:v>65.8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03-DD4F-B75D-354A10ED9A4F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1-2.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Foglio1!$A$2:$A$3</c:f>
              <c:strCache>
                <c:ptCount val="2"/>
                <c:pt idx="0">
                  <c:v>Diabetes</c:v>
                </c:pt>
                <c:pt idx="1">
                  <c:v>No Diabetes</c:v>
                </c:pt>
              </c:strCache>
            </c:strRef>
          </c:cat>
          <c:val>
            <c:numRef>
              <c:f>Foglio1!$C$2:$C$3</c:f>
              <c:numCache>
                <c:formatCode>General</c:formatCode>
                <c:ptCount val="2"/>
                <c:pt idx="0">
                  <c:v>20.2</c:v>
                </c:pt>
                <c:pt idx="1">
                  <c:v>79.8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03-DD4F-B75D-354A10ED9A4F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3-4.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Foglio1!$A$2:$A$3</c:f>
              <c:strCache>
                <c:ptCount val="2"/>
                <c:pt idx="0">
                  <c:v>Diabetes</c:v>
                </c:pt>
                <c:pt idx="1">
                  <c:v>No Diabetes</c:v>
                </c:pt>
              </c:strCache>
            </c:strRef>
          </c:cat>
          <c:val>
            <c:numRef>
              <c:f>Foglio1!$D$2:$D$3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03-DD4F-B75D-354A10ED9A4F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5+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cat>
            <c:strRef>
              <c:f>Foglio1!$A$2:$A$3</c:f>
              <c:strCache>
                <c:ptCount val="2"/>
                <c:pt idx="0">
                  <c:v>Diabetes</c:v>
                </c:pt>
                <c:pt idx="1">
                  <c:v>No Diabetes</c:v>
                </c:pt>
              </c:strCache>
            </c:strRef>
          </c:cat>
          <c:val>
            <c:numRef>
              <c:f>Foglio1!$E$2:$E$3</c:f>
              <c:numCache>
                <c:formatCode>General</c:formatCode>
                <c:ptCount val="2"/>
                <c:pt idx="0">
                  <c:v>47.8</c:v>
                </c:pt>
                <c:pt idx="1">
                  <c:v>52.2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503-DD4F-B75D-354A10ED9A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374529151"/>
        <c:axId val="1374523775"/>
        <c:axId val="0"/>
      </c:bar3DChart>
      <c:catAx>
        <c:axId val="1374529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74523775"/>
        <c:crosses val="autoZero"/>
        <c:auto val="1"/>
        <c:lblAlgn val="ctr"/>
        <c:lblOffset val="100"/>
        <c:noMultiLvlLbl val="0"/>
      </c:catAx>
      <c:valAx>
        <c:axId val="13745237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7452915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 err="1"/>
              <a:t>Correlation</a:t>
            </a:r>
            <a:r>
              <a:rPr lang="it-IT" baseline="0" dirty="0"/>
              <a:t> with </a:t>
            </a:r>
            <a:r>
              <a:rPr lang="it-IT" baseline="0" dirty="0" err="1"/>
              <a:t>diabetes</a:t>
            </a:r>
            <a:r>
              <a:rPr lang="it-IT" baseline="0" dirty="0"/>
              <a:t> </a:t>
            </a:r>
            <a:r>
              <a:rPr lang="it-IT" baseline="0" dirty="0" err="1"/>
              <a:t>outcome</a:t>
            </a:r>
            <a:endParaRPr lang="it-I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SkinThickness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Foglio1!$B$2</c:f>
              <c:numCache>
                <c:formatCode>General</c:formatCode>
                <c:ptCount val="1"/>
                <c:pt idx="0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0B-0E41-8062-C7081D9B26FA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BloodPressure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Foglio1!$C$2</c:f>
              <c:numCache>
                <c:formatCode>General</c:formatCode>
                <c:ptCount val="1"/>
                <c:pt idx="0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0B-0E41-8062-C7081D9B26FA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Insulin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Foglio1!$D$2</c:f>
              <c:numCache>
                <c:formatCode>General</c:formatCode>
                <c:ptCount val="1"/>
                <c:pt idx="0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0B-0E41-8062-C7081D9B26FA}"/>
            </c:ext>
          </c:extLst>
        </c:ser>
        <c:ser>
          <c:idx val="3"/>
          <c:order val="3"/>
          <c:tx>
            <c:strRef>
              <c:f>Foglio1!$E$1</c:f>
              <c:strCache>
                <c:ptCount val="1"/>
                <c:pt idx="0">
                  <c:v>DPF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Foglio1!$E$2</c:f>
              <c:numCache>
                <c:formatCode>General</c:formatCode>
                <c:ptCount val="1"/>
                <c:pt idx="0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30B-0E41-8062-C7081D9B26FA}"/>
            </c:ext>
          </c:extLst>
        </c:ser>
        <c:ser>
          <c:idx val="4"/>
          <c:order val="4"/>
          <c:tx>
            <c:strRef>
              <c:f>Foglio1!$F$1</c:f>
              <c:strCache>
                <c:ptCount val="1"/>
                <c:pt idx="0">
                  <c:v>Pregnancies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Foglio1!$F$2</c:f>
              <c:numCache>
                <c:formatCode>General</c:formatCode>
                <c:ptCount val="1"/>
                <c:pt idx="0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30B-0E41-8062-C7081D9B26FA}"/>
            </c:ext>
          </c:extLst>
        </c:ser>
        <c:ser>
          <c:idx val="5"/>
          <c:order val="5"/>
          <c:tx>
            <c:strRef>
              <c:f>Foglio1!$G$1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Foglio1!$G$2</c:f>
              <c:numCache>
                <c:formatCode>General</c:formatCode>
                <c:ptCount val="1"/>
                <c:pt idx="0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30B-0E41-8062-C7081D9B26FA}"/>
            </c:ext>
          </c:extLst>
        </c:ser>
        <c:ser>
          <c:idx val="6"/>
          <c:order val="6"/>
          <c:tx>
            <c:strRef>
              <c:f>Foglio1!$H$1</c:f>
              <c:strCache>
                <c:ptCount val="1"/>
                <c:pt idx="0">
                  <c:v>BMI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Foglio1!$H$2</c:f>
              <c:numCache>
                <c:formatCode>General</c:formatCode>
                <c:ptCount val="1"/>
                <c:pt idx="0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0B-0E41-8062-C7081D9B26FA}"/>
            </c:ext>
          </c:extLst>
        </c:ser>
        <c:ser>
          <c:idx val="7"/>
          <c:order val="7"/>
          <c:tx>
            <c:strRef>
              <c:f>Foglio1!$I$1</c:f>
              <c:strCache>
                <c:ptCount val="1"/>
                <c:pt idx="0">
                  <c:v>Glucose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Foglio1!$A$2</c:f>
              <c:strCache>
                <c:ptCount val="1"/>
                <c:pt idx="0">
                  <c:v>Categoria 1</c:v>
                </c:pt>
              </c:strCache>
            </c:strRef>
          </c:cat>
          <c:val>
            <c:numRef>
              <c:f>Foglio1!$I$2</c:f>
              <c:numCache>
                <c:formatCode>General</c:formatCode>
                <c:ptCount val="1"/>
                <c:pt idx="0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30B-0E41-8062-C7081D9B26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14688000"/>
        <c:axId val="1499209600"/>
        <c:axId val="0"/>
      </c:bar3DChart>
      <c:catAx>
        <c:axId val="15146880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99209600"/>
        <c:crosses val="autoZero"/>
        <c:auto val="1"/>
        <c:lblAlgn val="ctr"/>
        <c:lblOffset val="100"/>
        <c:noMultiLvlLbl val="0"/>
      </c:catAx>
      <c:valAx>
        <c:axId val="149920960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51468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12D8FD-4D5A-2147-848A-07A45D4D479F}" type="doc">
      <dgm:prSet loTypeId="urn:microsoft.com/office/officeart/2005/8/layout/vList5" loCatId="list" qsTypeId="urn:microsoft.com/office/officeart/2005/8/quickstyle/simple3" qsCatId="simple" csTypeId="urn:microsoft.com/office/officeart/2005/8/colors/accent2_4" csCatId="accent2" phldr="1"/>
      <dgm:spPr/>
      <dgm:t>
        <a:bodyPr/>
        <a:lstStyle/>
        <a:p>
          <a:endParaRPr lang="it-IT"/>
        </a:p>
      </dgm:t>
    </dgm:pt>
    <dgm:pt modelId="{ADE37359-1E65-2A4F-AB3D-3FB83357E8A3}">
      <dgm:prSet phldrT="[Testo]"/>
      <dgm:spPr/>
      <dgm:t>
        <a:bodyPr/>
        <a:lstStyle/>
        <a:p>
          <a:r>
            <a:rPr lang="it-IT" err="1">
              <a:latin typeface="Arial" panose="020B0604020202020204" pitchFamily="34" charset="0"/>
              <a:cs typeface="Arial" panose="020B0604020202020204" pitchFamily="34" charset="0"/>
            </a:rPr>
            <a:t>Descriptive</a:t>
          </a:r>
          <a:r>
            <a:rPr lang="it-IT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err="1">
              <a:latin typeface="Arial" panose="020B0604020202020204" pitchFamily="34" charset="0"/>
              <a:cs typeface="Arial" panose="020B0604020202020204" pitchFamily="34" charset="0"/>
            </a:rPr>
            <a:t>Statistics</a:t>
          </a:r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ECC37A-180C-5F4C-8F00-7F388EE19A68}" type="parTrans" cxnId="{247ED7B3-998A-4E41-B685-AA605BE6AD1F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19FE9BE-02C2-0F40-85E5-6A7B72D7424B}" type="sibTrans" cxnId="{247ED7B3-998A-4E41-B685-AA605BE6AD1F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58B61B-2290-EA47-94AD-168F2C59B0F1}">
      <dgm:prSet phldrT="[Testo]"/>
      <dgm:spPr/>
      <dgm:t>
        <a:bodyPr/>
        <a:lstStyle/>
        <a:p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Import Dataset</a:t>
          </a:r>
        </a:p>
      </dgm:t>
    </dgm:pt>
    <dgm:pt modelId="{28E050AD-795B-BD4D-A34A-6289E44D3E0F}" type="parTrans" cxnId="{25739DB1-9D1A-6643-9822-946E680FC58B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2BCE7A-9FC5-A842-A41D-8B75822CF50F}" type="sibTrans" cxnId="{25739DB1-9D1A-6643-9822-946E680FC58B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390F7C-45B2-944C-8210-277DC1C9DF9D}">
      <dgm:prSet phldrT="[Testo]"/>
      <dgm:spPr/>
      <dgm:t>
        <a:bodyPr/>
        <a:lstStyle/>
        <a:p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Data </a:t>
          </a:r>
          <a:r>
            <a:rPr lang="it-IT" dirty="0" err="1">
              <a:latin typeface="Arial" panose="020B0604020202020204" pitchFamily="34" charset="0"/>
              <a:cs typeface="Arial" panose="020B0604020202020204" pitchFamily="34" charset="0"/>
            </a:rPr>
            <a:t>exploration</a:t>
          </a:r>
          <a:endParaRPr 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279B63C-A866-714D-BD77-311DE74BB7DD}" type="parTrans" cxnId="{6A72F5AD-33F8-E14C-80F8-64FF13432E9E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666872-1377-FE42-B2D4-5E04B7285008}" type="sibTrans" cxnId="{6A72F5AD-33F8-E14C-80F8-64FF13432E9E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79FAC5-6508-1F4E-A574-274C0825E49A}">
      <dgm:prSet/>
      <dgm:spPr/>
      <dgm:t>
        <a:bodyPr/>
        <a:lstStyle/>
        <a:p>
          <a:r>
            <a:rPr lang="it-IT" err="1">
              <a:latin typeface="Arial" panose="020B0604020202020204" pitchFamily="34" charset="0"/>
              <a:cs typeface="Arial" panose="020B0604020202020204" pitchFamily="34" charset="0"/>
            </a:rPr>
            <a:t>Exploratory</a:t>
          </a:r>
          <a:r>
            <a:rPr lang="it-IT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err="1">
              <a:latin typeface="Arial" panose="020B0604020202020204" pitchFamily="34" charset="0"/>
              <a:cs typeface="Arial" panose="020B0604020202020204" pitchFamily="34" charset="0"/>
            </a:rPr>
            <a:t>Visualisation</a:t>
          </a:r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96B5E1-24C2-AD4D-B4AB-A0AEF2DE5E06}" type="parTrans" cxnId="{7F67FA21-7A8F-5B48-87C0-3F82B213E33A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375A57-CD24-F848-A2A6-5442BC85F31E}" type="sibTrans" cxnId="{7F67FA21-7A8F-5B48-87C0-3F82B213E33A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0F8BC5-28DA-B445-AAA5-BF9EB3705763}">
      <dgm:prSet/>
      <dgm:spPr/>
      <dgm:t>
        <a:bodyPr/>
        <a:lstStyle/>
        <a:p>
          <a:r>
            <a:rPr lang="it-IT" dirty="0" err="1">
              <a:latin typeface="Arial" panose="020B0604020202020204" pitchFamily="34" charset="0"/>
              <a:cs typeface="Arial" panose="020B0604020202020204" pitchFamily="34" charset="0"/>
            </a:rPr>
            <a:t>Hypothesis</a:t>
          </a:r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 Testing</a:t>
          </a:r>
        </a:p>
      </dgm:t>
    </dgm:pt>
    <dgm:pt modelId="{8FC7CA19-7DF5-814D-B5AC-EA57EB1306BD}" type="parTrans" cxnId="{EC285B96-23E1-EC41-A2E5-63022E9EE494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12E447F-BE14-9742-B2DC-51B287B914AB}" type="sibTrans" cxnId="{EC285B96-23E1-EC41-A2E5-63022E9EE494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4D7F72-0D49-4D44-AAA9-BFF01BAE6402}">
      <dgm:prSet/>
      <dgm:spPr/>
      <dgm:t>
        <a:bodyPr/>
        <a:lstStyle/>
        <a:p>
          <a:r>
            <a:rPr lang="it-IT" dirty="0" err="1">
              <a:latin typeface="Arial" panose="020B0604020202020204" pitchFamily="34" charset="0"/>
              <a:cs typeface="Arial" panose="020B0604020202020204" pitchFamily="34" charset="0"/>
            </a:rPr>
            <a:t>Regression</a:t>
          </a:r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 Models</a:t>
          </a:r>
        </a:p>
      </dgm:t>
    </dgm:pt>
    <dgm:pt modelId="{1FE294CA-A889-BD4E-8981-A5528A7FBF76}" type="parTrans" cxnId="{F8ABBA0A-E6DA-ED42-A7D3-29DBE203A81F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87E83B-F32C-8A49-95B2-69D49D81119A}" type="sibTrans" cxnId="{F8ABBA0A-E6DA-ED42-A7D3-29DBE203A81F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3A19D0-5184-7B4C-B696-0AFDB1613C87}">
      <dgm:prSet/>
      <dgm:spPr/>
      <dgm:t>
        <a:bodyPr/>
        <a:lstStyle/>
        <a:p>
          <a:r>
            <a:rPr lang="it-IT" dirty="0">
              <a:latin typeface="Arial" panose="020B0604020202020204" pitchFamily="34" charset="0"/>
              <a:cs typeface="Arial" panose="020B0604020202020204" pitchFamily="34" charset="0"/>
            </a:rPr>
            <a:t>Model Evaluation</a:t>
          </a:r>
        </a:p>
      </dgm:t>
    </dgm:pt>
    <dgm:pt modelId="{6A37087E-3261-A04D-B8E1-423C1872D39A}" type="parTrans" cxnId="{BC8CD7A4-3BCD-374A-A885-913D8DE37572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AE0E76-6551-DC45-8FC7-FCFDF79CC328}" type="sibTrans" cxnId="{BC8CD7A4-3BCD-374A-A885-913D8DE37572}">
      <dgm:prSet/>
      <dgm:spPr/>
      <dgm:t>
        <a:bodyPr/>
        <a:lstStyle/>
        <a:p>
          <a:endParaRPr lang="it-IT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4DB5815-33E6-FF4B-BA49-8C89837861F5}" type="pres">
      <dgm:prSet presAssocID="{2412D8FD-4D5A-2147-848A-07A45D4D479F}" presName="Name0" presStyleCnt="0">
        <dgm:presLayoutVars>
          <dgm:dir/>
          <dgm:animLvl val="lvl"/>
          <dgm:resizeHandles val="exact"/>
        </dgm:presLayoutVars>
      </dgm:prSet>
      <dgm:spPr/>
    </dgm:pt>
    <dgm:pt modelId="{958BCD99-9625-0D4E-94EA-A02A28C2A9AB}" type="pres">
      <dgm:prSet presAssocID="{4958B61B-2290-EA47-94AD-168F2C59B0F1}" presName="linNode" presStyleCnt="0"/>
      <dgm:spPr/>
    </dgm:pt>
    <dgm:pt modelId="{A5E6B77E-3EFF-0746-9910-46D00ADFBE26}" type="pres">
      <dgm:prSet presAssocID="{4958B61B-2290-EA47-94AD-168F2C59B0F1}" presName="parentText" presStyleLbl="node1" presStyleIdx="0" presStyleCnt="7" custLinFactNeighborX="-87310" custLinFactNeighborY="5764">
        <dgm:presLayoutVars>
          <dgm:chMax val="1"/>
          <dgm:bulletEnabled val="1"/>
        </dgm:presLayoutVars>
      </dgm:prSet>
      <dgm:spPr/>
    </dgm:pt>
    <dgm:pt modelId="{0F6CFAF3-38C6-1A46-A800-EF1681259FCA}" type="pres">
      <dgm:prSet presAssocID="{5C2BCE7A-9FC5-A842-A41D-8B75822CF50F}" presName="sp" presStyleCnt="0"/>
      <dgm:spPr/>
    </dgm:pt>
    <dgm:pt modelId="{ADD5B42D-3C1F-F74E-A871-7C89E765264F}" type="pres">
      <dgm:prSet presAssocID="{41390F7C-45B2-944C-8210-277DC1C9DF9D}" presName="linNode" presStyleCnt="0"/>
      <dgm:spPr/>
    </dgm:pt>
    <dgm:pt modelId="{F14A8ACD-15F7-4B4D-AAEE-3F0949857893}" type="pres">
      <dgm:prSet presAssocID="{41390F7C-45B2-944C-8210-277DC1C9DF9D}" presName="parentText" presStyleLbl="node1" presStyleIdx="1" presStyleCnt="7" custLinFactNeighborX="-57464" custLinFactNeighborY="3480">
        <dgm:presLayoutVars>
          <dgm:chMax val="1"/>
          <dgm:bulletEnabled val="1"/>
        </dgm:presLayoutVars>
      </dgm:prSet>
      <dgm:spPr/>
    </dgm:pt>
    <dgm:pt modelId="{215B0880-625E-D342-915B-FE95C6E580F6}" type="pres">
      <dgm:prSet presAssocID="{8F666872-1377-FE42-B2D4-5E04B7285008}" presName="sp" presStyleCnt="0"/>
      <dgm:spPr/>
    </dgm:pt>
    <dgm:pt modelId="{723B43F2-2322-4D4D-B04B-2F55EAFAAE53}" type="pres">
      <dgm:prSet presAssocID="{ADE37359-1E65-2A4F-AB3D-3FB83357E8A3}" presName="linNode" presStyleCnt="0"/>
      <dgm:spPr/>
    </dgm:pt>
    <dgm:pt modelId="{394CD275-00F6-7D42-AB3E-E3D7B6284560}" type="pres">
      <dgm:prSet presAssocID="{ADE37359-1E65-2A4F-AB3D-3FB83357E8A3}" presName="parentText" presStyleLbl="node1" presStyleIdx="2" presStyleCnt="7" custLinFactNeighborX="-28813" custLinFactNeighborY="1185">
        <dgm:presLayoutVars>
          <dgm:chMax val="1"/>
          <dgm:bulletEnabled val="1"/>
        </dgm:presLayoutVars>
      </dgm:prSet>
      <dgm:spPr/>
    </dgm:pt>
    <dgm:pt modelId="{AE57ECDF-DD49-C64D-8209-6E80E325C07F}" type="pres">
      <dgm:prSet presAssocID="{119FE9BE-02C2-0F40-85E5-6A7B72D7424B}" presName="sp" presStyleCnt="0"/>
      <dgm:spPr/>
    </dgm:pt>
    <dgm:pt modelId="{E4BE0B6C-C557-0A4F-84D7-B99C21C87768}" type="pres">
      <dgm:prSet presAssocID="{7379FAC5-6508-1F4E-A574-274C0825E49A}" presName="linNode" presStyleCnt="0"/>
      <dgm:spPr/>
    </dgm:pt>
    <dgm:pt modelId="{A1593DC9-C55A-6149-A676-0749FE4E42A8}" type="pres">
      <dgm:prSet presAssocID="{7379FAC5-6508-1F4E-A574-274C0825E49A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BCE0ED32-7A65-864F-86D9-CA21B46D0896}" type="pres">
      <dgm:prSet presAssocID="{73375A57-CD24-F848-A2A6-5442BC85F31E}" presName="sp" presStyleCnt="0"/>
      <dgm:spPr/>
    </dgm:pt>
    <dgm:pt modelId="{242556D7-9936-D24A-ABF2-13358A82BC24}" type="pres">
      <dgm:prSet presAssocID="{1A0F8BC5-28DA-B445-AAA5-BF9EB3705763}" presName="linNode" presStyleCnt="0"/>
      <dgm:spPr/>
    </dgm:pt>
    <dgm:pt modelId="{637E64B8-DF2C-7846-BEC1-CFF37EE0520F}" type="pres">
      <dgm:prSet presAssocID="{1A0F8BC5-28DA-B445-AAA5-BF9EB3705763}" presName="parentText" presStyleLbl="node1" presStyleIdx="4" presStyleCnt="7" custLinFactNeighborX="36846" custLinFactNeighborY="605">
        <dgm:presLayoutVars>
          <dgm:chMax val="1"/>
          <dgm:bulletEnabled val="1"/>
        </dgm:presLayoutVars>
      </dgm:prSet>
      <dgm:spPr/>
    </dgm:pt>
    <dgm:pt modelId="{96EA5A1B-3EBE-1846-9F7D-20AEE2A2D473}" type="pres">
      <dgm:prSet presAssocID="{312E447F-BE14-9742-B2DC-51B287B914AB}" presName="sp" presStyleCnt="0"/>
      <dgm:spPr/>
    </dgm:pt>
    <dgm:pt modelId="{160BE020-9B0C-3A4E-897E-291DF810CF4C}" type="pres">
      <dgm:prSet presAssocID="{664D7F72-0D49-4D44-AAA9-BFF01BAE6402}" presName="linNode" presStyleCnt="0"/>
      <dgm:spPr/>
    </dgm:pt>
    <dgm:pt modelId="{9B800DD5-8023-9D45-BA5E-0B323D0ED538}" type="pres">
      <dgm:prSet presAssocID="{664D7F72-0D49-4D44-AAA9-BFF01BAE6402}" presName="parentText" presStyleLbl="node1" presStyleIdx="5" presStyleCnt="7" custLinFactNeighborX="66007" custLinFactNeighborY="1216">
        <dgm:presLayoutVars>
          <dgm:chMax val="1"/>
          <dgm:bulletEnabled val="1"/>
        </dgm:presLayoutVars>
      </dgm:prSet>
      <dgm:spPr/>
    </dgm:pt>
    <dgm:pt modelId="{E90EC9C5-16B6-824F-8F3F-0DEC81D1AFFF}" type="pres">
      <dgm:prSet presAssocID="{3A87E83B-F32C-8A49-95B2-69D49D81119A}" presName="sp" presStyleCnt="0"/>
      <dgm:spPr/>
    </dgm:pt>
    <dgm:pt modelId="{D25BCBC2-589B-AE44-845D-9BB90D472361}" type="pres">
      <dgm:prSet presAssocID="{6F3A19D0-5184-7B4C-B696-0AFDB1613C87}" presName="linNode" presStyleCnt="0"/>
      <dgm:spPr/>
    </dgm:pt>
    <dgm:pt modelId="{252B60E7-7D66-FA4B-94FB-503A709D3335}" type="pres">
      <dgm:prSet presAssocID="{6F3A19D0-5184-7B4C-B696-0AFDB1613C87}" presName="parentText" presStyleLbl="node1" presStyleIdx="6" presStyleCnt="7" custLinFactNeighborX="88758" custLinFactNeighborY="7454">
        <dgm:presLayoutVars>
          <dgm:chMax val="1"/>
          <dgm:bulletEnabled val="1"/>
        </dgm:presLayoutVars>
      </dgm:prSet>
      <dgm:spPr/>
    </dgm:pt>
  </dgm:ptLst>
  <dgm:cxnLst>
    <dgm:cxn modelId="{F8ABBA0A-E6DA-ED42-A7D3-29DBE203A81F}" srcId="{2412D8FD-4D5A-2147-848A-07A45D4D479F}" destId="{664D7F72-0D49-4D44-AAA9-BFF01BAE6402}" srcOrd="5" destOrd="0" parTransId="{1FE294CA-A889-BD4E-8981-A5528A7FBF76}" sibTransId="{3A87E83B-F32C-8A49-95B2-69D49D81119A}"/>
    <dgm:cxn modelId="{7F67FA21-7A8F-5B48-87C0-3F82B213E33A}" srcId="{2412D8FD-4D5A-2147-848A-07A45D4D479F}" destId="{7379FAC5-6508-1F4E-A574-274C0825E49A}" srcOrd="3" destOrd="0" parTransId="{2A96B5E1-24C2-AD4D-B4AB-A0AEF2DE5E06}" sibTransId="{73375A57-CD24-F848-A2A6-5442BC85F31E}"/>
    <dgm:cxn modelId="{79654F4A-9392-9946-99B7-879EB04655EC}" type="presOf" srcId="{7379FAC5-6508-1F4E-A574-274C0825E49A}" destId="{A1593DC9-C55A-6149-A676-0749FE4E42A8}" srcOrd="0" destOrd="0" presId="urn:microsoft.com/office/officeart/2005/8/layout/vList5"/>
    <dgm:cxn modelId="{314BC970-8431-434A-AF9D-367251088AAA}" type="presOf" srcId="{6F3A19D0-5184-7B4C-B696-0AFDB1613C87}" destId="{252B60E7-7D66-FA4B-94FB-503A709D3335}" srcOrd="0" destOrd="0" presId="urn:microsoft.com/office/officeart/2005/8/layout/vList5"/>
    <dgm:cxn modelId="{2E6EA077-F6AF-824D-9B7F-0FDB950C1972}" type="presOf" srcId="{1A0F8BC5-28DA-B445-AAA5-BF9EB3705763}" destId="{637E64B8-DF2C-7846-BEC1-CFF37EE0520F}" srcOrd="0" destOrd="0" presId="urn:microsoft.com/office/officeart/2005/8/layout/vList5"/>
    <dgm:cxn modelId="{82C3E783-8535-6840-BC8B-172407F56903}" type="presOf" srcId="{664D7F72-0D49-4D44-AAA9-BFF01BAE6402}" destId="{9B800DD5-8023-9D45-BA5E-0B323D0ED538}" srcOrd="0" destOrd="0" presId="urn:microsoft.com/office/officeart/2005/8/layout/vList5"/>
    <dgm:cxn modelId="{EC285B96-23E1-EC41-A2E5-63022E9EE494}" srcId="{2412D8FD-4D5A-2147-848A-07A45D4D479F}" destId="{1A0F8BC5-28DA-B445-AAA5-BF9EB3705763}" srcOrd="4" destOrd="0" parTransId="{8FC7CA19-7DF5-814D-B5AC-EA57EB1306BD}" sibTransId="{312E447F-BE14-9742-B2DC-51B287B914AB}"/>
    <dgm:cxn modelId="{BC8CD7A4-3BCD-374A-A885-913D8DE37572}" srcId="{2412D8FD-4D5A-2147-848A-07A45D4D479F}" destId="{6F3A19D0-5184-7B4C-B696-0AFDB1613C87}" srcOrd="6" destOrd="0" parTransId="{6A37087E-3261-A04D-B8E1-423C1872D39A}" sibTransId="{23AE0E76-6551-DC45-8FC7-FCFDF79CC328}"/>
    <dgm:cxn modelId="{6A72F5AD-33F8-E14C-80F8-64FF13432E9E}" srcId="{2412D8FD-4D5A-2147-848A-07A45D4D479F}" destId="{41390F7C-45B2-944C-8210-277DC1C9DF9D}" srcOrd="1" destOrd="0" parTransId="{E279B63C-A866-714D-BD77-311DE74BB7DD}" sibTransId="{8F666872-1377-FE42-B2D4-5E04B7285008}"/>
    <dgm:cxn modelId="{25739DB1-9D1A-6643-9822-946E680FC58B}" srcId="{2412D8FD-4D5A-2147-848A-07A45D4D479F}" destId="{4958B61B-2290-EA47-94AD-168F2C59B0F1}" srcOrd="0" destOrd="0" parTransId="{28E050AD-795B-BD4D-A34A-6289E44D3E0F}" sibTransId="{5C2BCE7A-9FC5-A842-A41D-8B75822CF50F}"/>
    <dgm:cxn modelId="{247ED7B3-998A-4E41-B685-AA605BE6AD1F}" srcId="{2412D8FD-4D5A-2147-848A-07A45D4D479F}" destId="{ADE37359-1E65-2A4F-AB3D-3FB83357E8A3}" srcOrd="2" destOrd="0" parTransId="{81ECC37A-180C-5F4C-8F00-7F388EE19A68}" sibTransId="{119FE9BE-02C2-0F40-85E5-6A7B72D7424B}"/>
    <dgm:cxn modelId="{2BDBDAB4-8656-BB44-BFCE-36656AA82110}" type="presOf" srcId="{ADE37359-1E65-2A4F-AB3D-3FB83357E8A3}" destId="{394CD275-00F6-7D42-AB3E-E3D7B6284560}" srcOrd="0" destOrd="0" presId="urn:microsoft.com/office/officeart/2005/8/layout/vList5"/>
    <dgm:cxn modelId="{6D8066D7-8E06-A94F-943B-09A62CB053F7}" type="presOf" srcId="{41390F7C-45B2-944C-8210-277DC1C9DF9D}" destId="{F14A8ACD-15F7-4B4D-AAEE-3F0949857893}" srcOrd="0" destOrd="0" presId="urn:microsoft.com/office/officeart/2005/8/layout/vList5"/>
    <dgm:cxn modelId="{896AA6E3-19B0-C546-A1FD-8E096FD5E45D}" type="presOf" srcId="{4958B61B-2290-EA47-94AD-168F2C59B0F1}" destId="{A5E6B77E-3EFF-0746-9910-46D00ADFBE26}" srcOrd="0" destOrd="0" presId="urn:microsoft.com/office/officeart/2005/8/layout/vList5"/>
    <dgm:cxn modelId="{B1AB7DE6-0B01-344B-8820-515BE7DA76E1}" type="presOf" srcId="{2412D8FD-4D5A-2147-848A-07A45D4D479F}" destId="{94DB5815-33E6-FF4B-BA49-8C89837861F5}" srcOrd="0" destOrd="0" presId="urn:microsoft.com/office/officeart/2005/8/layout/vList5"/>
    <dgm:cxn modelId="{3725EC5A-10FF-9F43-B8EC-69B646BE8486}" type="presParOf" srcId="{94DB5815-33E6-FF4B-BA49-8C89837861F5}" destId="{958BCD99-9625-0D4E-94EA-A02A28C2A9AB}" srcOrd="0" destOrd="0" presId="urn:microsoft.com/office/officeart/2005/8/layout/vList5"/>
    <dgm:cxn modelId="{C8A1A6EA-94F9-1C41-808D-F7D5F5D2B52E}" type="presParOf" srcId="{958BCD99-9625-0D4E-94EA-A02A28C2A9AB}" destId="{A5E6B77E-3EFF-0746-9910-46D00ADFBE26}" srcOrd="0" destOrd="0" presId="urn:microsoft.com/office/officeart/2005/8/layout/vList5"/>
    <dgm:cxn modelId="{DD5CCFFB-F32F-5F48-99EA-5F7A4FA31F53}" type="presParOf" srcId="{94DB5815-33E6-FF4B-BA49-8C89837861F5}" destId="{0F6CFAF3-38C6-1A46-A800-EF1681259FCA}" srcOrd="1" destOrd="0" presId="urn:microsoft.com/office/officeart/2005/8/layout/vList5"/>
    <dgm:cxn modelId="{A9F5682B-5890-C54C-805C-15F679F2A509}" type="presParOf" srcId="{94DB5815-33E6-FF4B-BA49-8C89837861F5}" destId="{ADD5B42D-3C1F-F74E-A871-7C89E765264F}" srcOrd="2" destOrd="0" presId="urn:microsoft.com/office/officeart/2005/8/layout/vList5"/>
    <dgm:cxn modelId="{B8277473-C922-BE4C-A6CA-8B4DC7C99779}" type="presParOf" srcId="{ADD5B42D-3C1F-F74E-A871-7C89E765264F}" destId="{F14A8ACD-15F7-4B4D-AAEE-3F0949857893}" srcOrd="0" destOrd="0" presId="urn:microsoft.com/office/officeart/2005/8/layout/vList5"/>
    <dgm:cxn modelId="{3F58853C-87BC-6D44-8438-2745AF2EF374}" type="presParOf" srcId="{94DB5815-33E6-FF4B-BA49-8C89837861F5}" destId="{215B0880-625E-D342-915B-FE95C6E580F6}" srcOrd="3" destOrd="0" presId="urn:microsoft.com/office/officeart/2005/8/layout/vList5"/>
    <dgm:cxn modelId="{969B9D24-A319-0845-B92C-E0DAE30BCC0C}" type="presParOf" srcId="{94DB5815-33E6-FF4B-BA49-8C89837861F5}" destId="{723B43F2-2322-4D4D-B04B-2F55EAFAAE53}" srcOrd="4" destOrd="0" presId="urn:microsoft.com/office/officeart/2005/8/layout/vList5"/>
    <dgm:cxn modelId="{D75E3AE9-2DD2-1E4C-B0B9-15DC47F16946}" type="presParOf" srcId="{723B43F2-2322-4D4D-B04B-2F55EAFAAE53}" destId="{394CD275-00F6-7D42-AB3E-E3D7B6284560}" srcOrd="0" destOrd="0" presId="urn:microsoft.com/office/officeart/2005/8/layout/vList5"/>
    <dgm:cxn modelId="{CEEEE597-E2E1-2C48-8C22-FB557E8D8906}" type="presParOf" srcId="{94DB5815-33E6-FF4B-BA49-8C89837861F5}" destId="{AE57ECDF-DD49-C64D-8209-6E80E325C07F}" srcOrd="5" destOrd="0" presId="urn:microsoft.com/office/officeart/2005/8/layout/vList5"/>
    <dgm:cxn modelId="{9C0DD2F6-6DF7-AB4B-A761-7921B628D813}" type="presParOf" srcId="{94DB5815-33E6-FF4B-BA49-8C89837861F5}" destId="{E4BE0B6C-C557-0A4F-84D7-B99C21C87768}" srcOrd="6" destOrd="0" presId="urn:microsoft.com/office/officeart/2005/8/layout/vList5"/>
    <dgm:cxn modelId="{2E38627E-13DA-344E-8A89-C94CD6BDC97D}" type="presParOf" srcId="{E4BE0B6C-C557-0A4F-84D7-B99C21C87768}" destId="{A1593DC9-C55A-6149-A676-0749FE4E42A8}" srcOrd="0" destOrd="0" presId="urn:microsoft.com/office/officeart/2005/8/layout/vList5"/>
    <dgm:cxn modelId="{31494A60-52B5-2046-BC94-DD2C62659D1F}" type="presParOf" srcId="{94DB5815-33E6-FF4B-BA49-8C89837861F5}" destId="{BCE0ED32-7A65-864F-86D9-CA21B46D0896}" srcOrd="7" destOrd="0" presId="urn:microsoft.com/office/officeart/2005/8/layout/vList5"/>
    <dgm:cxn modelId="{0D0B2F0C-DB97-DE40-8DE4-8B331F87BC08}" type="presParOf" srcId="{94DB5815-33E6-FF4B-BA49-8C89837861F5}" destId="{242556D7-9936-D24A-ABF2-13358A82BC24}" srcOrd="8" destOrd="0" presId="urn:microsoft.com/office/officeart/2005/8/layout/vList5"/>
    <dgm:cxn modelId="{5FEB7ACB-D976-EA42-9E42-896CE4067477}" type="presParOf" srcId="{242556D7-9936-D24A-ABF2-13358A82BC24}" destId="{637E64B8-DF2C-7846-BEC1-CFF37EE0520F}" srcOrd="0" destOrd="0" presId="urn:microsoft.com/office/officeart/2005/8/layout/vList5"/>
    <dgm:cxn modelId="{F673871E-1236-9540-B4B3-FFFD99A8AD54}" type="presParOf" srcId="{94DB5815-33E6-FF4B-BA49-8C89837861F5}" destId="{96EA5A1B-3EBE-1846-9F7D-20AEE2A2D473}" srcOrd="9" destOrd="0" presId="urn:microsoft.com/office/officeart/2005/8/layout/vList5"/>
    <dgm:cxn modelId="{DA56ECD1-0747-0741-B644-CB4B65D2A4FB}" type="presParOf" srcId="{94DB5815-33E6-FF4B-BA49-8C89837861F5}" destId="{160BE020-9B0C-3A4E-897E-291DF810CF4C}" srcOrd="10" destOrd="0" presId="urn:microsoft.com/office/officeart/2005/8/layout/vList5"/>
    <dgm:cxn modelId="{7FBE98CD-6292-6541-A72D-974E9FFD9054}" type="presParOf" srcId="{160BE020-9B0C-3A4E-897E-291DF810CF4C}" destId="{9B800DD5-8023-9D45-BA5E-0B323D0ED538}" srcOrd="0" destOrd="0" presId="urn:microsoft.com/office/officeart/2005/8/layout/vList5"/>
    <dgm:cxn modelId="{3598127E-8372-7F46-8310-85C4B0378B89}" type="presParOf" srcId="{94DB5815-33E6-FF4B-BA49-8C89837861F5}" destId="{E90EC9C5-16B6-824F-8F3F-0DEC81D1AFFF}" srcOrd="11" destOrd="0" presId="urn:microsoft.com/office/officeart/2005/8/layout/vList5"/>
    <dgm:cxn modelId="{339049CD-1AA8-2041-BE8C-7A5995E7DAC4}" type="presParOf" srcId="{94DB5815-33E6-FF4B-BA49-8C89837861F5}" destId="{D25BCBC2-589B-AE44-845D-9BB90D472361}" srcOrd="12" destOrd="0" presId="urn:microsoft.com/office/officeart/2005/8/layout/vList5"/>
    <dgm:cxn modelId="{DD76F8A1-C309-BB47-9D8A-8451A2A94176}" type="presParOf" srcId="{D25BCBC2-589B-AE44-845D-9BB90D472361}" destId="{252B60E7-7D66-FA4B-94FB-503A709D333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021EED-1CEA-4EEF-B06E-3632EEBC304D}" type="doc">
      <dgm:prSet loTypeId="urn:microsoft.com/office/officeart/2005/8/layout/vList2" loCatId="list" qsTypeId="urn:microsoft.com/office/officeart/2005/8/quickstyle/3d4" qsCatId="3D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4EE95492-9160-4D83-A2F6-2BE7929EAD62}">
      <dgm:prSet/>
      <dgm:spPr/>
      <dgm:t>
        <a:bodyPr/>
        <a:lstStyle/>
        <a:p>
          <a:r>
            <a:rPr lang="it-IT" b="1" i="0" baseline="0">
              <a:latin typeface="Arial" panose="020B0604020202020204" pitchFamily="34" charset="0"/>
              <a:cs typeface="Arial" panose="020B0604020202020204" pitchFamily="34" charset="0"/>
            </a:rPr>
            <a:t>Key Findings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C18C82-BE99-4DC9-ACE8-2F62536C201F}" type="parTrans" cxnId="{315C295B-5381-42A1-8536-B193F297DDC5}">
      <dgm:prSet/>
      <dgm:spPr/>
      <dgm:t>
        <a:bodyPr/>
        <a:lstStyle/>
        <a:p>
          <a:endParaRPr lang="en-US"/>
        </a:p>
      </dgm:t>
    </dgm:pt>
    <dgm:pt modelId="{765EFEFC-A5AC-4E24-8EDE-0002FA287CB6}" type="sibTrans" cxnId="{315C295B-5381-42A1-8536-B193F297DDC5}">
      <dgm:prSet/>
      <dgm:spPr/>
      <dgm:t>
        <a:bodyPr/>
        <a:lstStyle/>
        <a:p>
          <a:endParaRPr lang="en-US"/>
        </a:p>
      </dgm:t>
    </dgm:pt>
    <dgm:pt modelId="{3C7AE842-6AAA-4DDF-9345-48F4F0CF9ACD}">
      <dgm:prSet/>
      <dgm:spPr/>
      <dgm:t>
        <a:bodyPr/>
        <a:lstStyle/>
        <a:p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Participants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with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diabetes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had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substantially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higher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glucose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levels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24808D-F294-488A-987E-2F5B7032AAC8}" type="parTrans" cxnId="{15150B0E-82BE-48A5-B139-A627F7E029F1}">
      <dgm:prSet/>
      <dgm:spPr/>
      <dgm:t>
        <a:bodyPr/>
        <a:lstStyle/>
        <a:p>
          <a:endParaRPr lang="en-US"/>
        </a:p>
      </dgm:t>
    </dgm:pt>
    <dgm:pt modelId="{EE1C298D-63CC-4BFC-B039-977CE2A8B782}" type="sibTrans" cxnId="{15150B0E-82BE-48A5-B139-A627F7E029F1}">
      <dgm:prSet/>
      <dgm:spPr/>
      <dgm:t>
        <a:bodyPr/>
        <a:lstStyle/>
        <a:p>
          <a:endParaRPr lang="en-US"/>
        </a:p>
      </dgm:t>
    </dgm:pt>
    <dgm:pt modelId="{FF84AC09-411B-4DCD-8788-D3130ECB7BC5}">
      <dgm:prSet/>
      <dgm:spPr/>
      <dgm:t>
        <a:bodyPr/>
        <a:lstStyle/>
        <a:p>
          <a:r>
            <a:rPr lang="it-IT" b="0" i="0" baseline="0">
              <a:latin typeface="Arial" panose="020B0604020202020204" pitchFamily="34" charset="0"/>
              <a:cs typeface="Arial" panose="020B0604020202020204" pitchFamily="34" charset="0"/>
            </a:rPr>
            <a:t>• Mean glucose increased from </a:t>
          </a:r>
          <a:r>
            <a:rPr lang="it-IT" b="1" i="0" baseline="0">
              <a:latin typeface="Arial" panose="020B0604020202020204" pitchFamily="34" charset="0"/>
              <a:cs typeface="Arial" panose="020B0604020202020204" pitchFamily="34" charset="0"/>
            </a:rPr>
            <a:t>110</a:t>
          </a:r>
          <a:r>
            <a:rPr lang="it-IT" b="0" i="0" baseline="0">
              <a:latin typeface="Arial" panose="020B0604020202020204" pitchFamily="34" charset="0"/>
              <a:cs typeface="Arial" panose="020B0604020202020204" pitchFamily="34" charset="0"/>
            </a:rPr>
            <a:t> to </a:t>
          </a:r>
          <a:r>
            <a:rPr lang="it-IT" b="1" i="0" baseline="0">
              <a:latin typeface="Arial" panose="020B0604020202020204" pitchFamily="34" charset="0"/>
              <a:cs typeface="Arial" panose="020B0604020202020204" pitchFamily="34" charset="0"/>
            </a:rPr>
            <a:t>141 mg/dL</a:t>
          </a:r>
          <a:r>
            <a:rPr lang="it-IT" b="0" i="0" baseline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19B5F8A-CAF8-4A6B-808F-668F74B13D76}" type="parTrans" cxnId="{78B32A85-6E29-4746-8CF5-CB89B117B894}">
      <dgm:prSet/>
      <dgm:spPr/>
      <dgm:t>
        <a:bodyPr/>
        <a:lstStyle/>
        <a:p>
          <a:endParaRPr lang="en-US"/>
        </a:p>
      </dgm:t>
    </dgm:pt>
    <dgm:pt modelId="{C80F96C3-B58F-4BDC-AD49-AE97C7F06486}" type="sibTrans" cxnId="{78B32A85-6E29-4746-8CF5-CB89B117B894}">
      <dgm:prSet/>
      <dgm:spPr/>
      <dgm:t>
        <a:bodyPr/>
        <a:lstStyle/>
        <a:p>
          <a:endParaRPr lang="en-US"/>
        </a:p>
      </dgm:t>
    </dgm:pt>
    <dgm:pt modelId="{40FFDD62-D9F2-4AF8-ABF5-BBF7681082A2}">
      <dgm:prSet/>
      <dgm:spPr/>
      <dgm:t>
        <a:bodyPr/>
        <a:lstStyle/>
        <a:p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• The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difference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was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statistically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significant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it-IT" b="1" i="0" baseline="0" dirty="0" err="1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it-IT" b="1" i="0" baseline="0" dirty="0">
              <a:latin typeface="Arial" panose="020B0604020202020204" pitchFamily="34" charset="0"/>
              <a:cs typeface="Arial" panose="020B0604020202020204" pitchFamily="34" charset="0"/>
            </a:rPr>
            <a:t> &lt; 0.001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).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A65191-1D7D-4268-A29F-AA550B86B662}" type="parTrans" cxnId="{9DEE74CE-9C97-4C4F-9180-24418AC403F8}">
      <dgm:prSet/>
      <dgm:spPr/>
      <dgm:t>
        <a:bodyPr/>
        <a:lstStyle/>
        <a:p>
          <a:endParaRPr lang="en-US"/>
        </a:p>
      </dgm:t>
    </dgm:pt>
    <dgm:pt modelId="{F2D4B144-E4E1-46A4-B048-F6D23056582B}" type="sibTrans" cxnId="{9DEE74CE-9C97-4C4F-9180-24418AC403F8}">
      <dgm:prSet/>
      <dgm:spPr/>
      <dgm:t>
        <a:bodyPr/>
        <a:lstStyle/>
        <a:p>
          <a:endParaRPr lang="en-US"/>
        </a:p>
      </dgm:t>
    </dgm:pt>
    <dgm:pt modelId="{2C9E9BEB-B830-2247-9EAC-D2402D32DEE9}" type="pres">
      <dgm:prSet presAssocID="{A5021EED-1CEA-4EEF-B06E-3632EEBC304D}" presName="linear" presStyleCnt="0">
        <dgm:presLayoutVars>
          <dgm:animLvl val="lvl"/>
          <dgm:resizeHandles val="exact"/>
        </dgm:presLayoutVars>
      </dgm:prSet>
      <dgm:spPr/>
    </dgm:pt>
    <dgm:pt modelId="{25E18E50-583D-184F-8BD7-34AA6888C915}" type="pres">
      <dgm:prSet presAssocID="{4EE95492-9160-4D83-A2F6-2BE7929EAD6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B6F7D6F-EB9D-4D4F-B303-625B5B472667}" type="pres">
      <dgm:prSet presAssocID="{765EFEFC-A5AC-4E24-8EDE-0002FA287CB6}" presName="spacer" presStyleCnt="0"/>
      <dgm:spPr/>
    </dgm:pt>
    <dgm:pt modelId="{2322DA75-2CBD-2748-BA9A-5FBFC6D932A9}" type="pres">
      <dgm:prSet presAssocID="{3C7AE842-6AAA-4DDF-9345-48F4F0CF9ACD}" presName="parentText" presStyleLbl="node1" presStyleIdx="1" presStyleCnt="4" custLinFactNeighborX="-7570" custLinFactNeighborY="49570">
        <dgm:presLayoutVars>
          <dgm:chMax val="0"/>
          <dgm:bulletEnabled val="1"/>
        </dgm:presLayoutVars>
      </dgm:prSet>
      <dgm:spPr/>
    </dgm:pt>
    <dgm:pt modelId="{21D32A51-E7DA-6D45-B701-8A017478830A}" type="pres">
      <dgm:prSet presAssocID="{EE1C298D-63CC-4BFC-B039-977CE2A8B782}" presName="spacer" presStyleCnt="0"/>
      <dgm:spPr/>
    </dgm:pt>
    <dgm:pt modelId="{9BBAB39E-B4C7-C749-B8E0-37F67F606120}" type="pres">
      <dgm:prSet presAssocID="{FF84AC09-411B-4DCD-8788-D3130ECB7BC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BD5A17F-AB3F-A44F-9C3B-7933A64E09B8}" type="pres">
      <dgm:prSet presAssocID="{C80F96C3-B58F-4BDC-AD49-AE97C7F06486}" presName="spacer" presStyleCnt="0"/>
      <dgm:spPr/>
    </dgm:pt>
    <dgm:pt modelId="{0C400CBB-8AEF-7F48-8E3A-793ED7324DFA}" type="pres">
      <dgm:prSet presAssocID="{40FFDD62-D9F2-4AF8-ABF5-BBF7681082A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150B0E-82BE-48A5-B139-A627F7E029F1}" srcId="{A5021EED-1CEA-4EEF-B06E-3632EEBC304D}" destId="{3C7AE842-6AAA-4DDF-9345-48F4F0CF9ACD}" srcOrd="1" destOrd="0" parTransId="{C124808D-F294-488A-987E-2F5B7032AAC8}" sibTransId="{EE1C298D-63CC-4BFC-B039-977CE2A8B782}"/>
    <dgm:cxn modelId="{B44BA92F-514C-C84E-A9E7-A303D0CBC20E}" type="presOf" srcId="{40FFDD62-D9F2-4AF8-ABF5-BBF7681082A2}" destId="{0C400CBB-8AEF-7F48-8E3A-793ED7324DFA}" srcOrd="0" destOrd="0" presId="urn:microsoft.com/office/officeart/2005/8/layout/vList2"/>
    <dgm:cxn modelId="{67460558-233C-0044-81F3-21CF22B475F2}" type="presOf" srcId="{A5021EED-1CEA-4EEF-B06E-3632EEBC304D}" destId="{2C9E9BEB-B830-2247-9EAC-D2402D32DEE9}" srcOrd="0" destOrd="0" presId="urn:microsoft.com/office/officeart/2005/8/layout/vList2"/>
    <dgm:cxn modelId="{315C295B-5381-42A1-8536-B193F297DDC5}" srcId="{A5021EED-1CEA-4EEF-B06E-3632EEBC304D}" destId="{4EE95492-9160-4D83-A2F6-2BE7929EAD62}" srcOrd="0" destOrd="0" parTransId="{84C18C82-BE99-4DC9-ACE8-2F62536C201F}" sibTransId="{765EFEFC-A5AC-4E24-8EDE-0002FA287CB6}"/>
    <dgm:cxn modelId="{17B8637C-DD82-0C4D-A676-33EA0F353B0F}" type="presOf" srcId="{3C7AE842-6AAA-4DDF-9345-48F4F0CF9ACD}" destId="{2322DA75-2CBD-2748-BA9A-5FBFC6D932A9}" srcOrd="0" destOrd="0" presId="urn:microsoft.com/office/officeart/2005/8/layout/vList2"/>
    <dgm:cxn modelId="{78B32A85-6E29-4746-8CF5-CB89B117B894}" srcId="{A5021EED-1CEA-4EEF-B06E-3632EEBC304D}" destId="{FF84AC09-411B-4DCD-8788-D3130ECB7BC5}" srcOrd="2" destOrd="0" parTransId="{319B5F8A-CAF8-4A6B-808F-668F74B13D76}" sibTransId="{C80F96C3-B58F-4BDC-AD49-AE97C7F06486}"/>
    <dgm:cxn modelId="{48ED749D-BEFD-2E49-92CF-410B9B17F1D9}" type="presOf" srcId="{4EE95492-9160-4D83-A2F6-2BE7929EAD62}" destId="{25E18E50-583D-184F-8BD7-34AA6888C915}" srcOrd="0" destOrd="0" presId="urn:microsoft.com/office/officeart/2005/8/layout/vList2"/>
    <dgm:cxn modelId="{9DEE74CE-9C97-4C4F-9180-24418AC403F8}" srcId="{A5021EED-1CEA-4EEF-B06E-3632EEBC304D}" destId="{40FFDD62-D9F2-4AF8-ABF5-BBF7681082A2}" srcOrd="3" destOrd="0" parTransId="{7EA65191-1D7D-4268-A29F-AA550B86B662}" sibTransId="{F2D4B144-E4E1-46A4-B048-F6D23056582B}"/>
    <dgm:cxn modelId="{F0137BEF-2AC3-1542-9639-088813182EA2}" type="presOf" srcId="{FF84AC09-411B-4DCD-8788-D3130ECB7BC5}" destId="{9BBAB39E-B4C7-C749-B8E0-37F67F606120}" srcOrd="0" destOrd="0" presId="urn:microsoft.com/office/officeart/2005/8/layout/vList2"/>
    <dgm:cxn modelId="{1D80E613-1A49-684A-AC74-DB7BAD6E5536}" type="presParOf" srcId="{2C9E9BEB-B830-2247-9EAC-D2402D32DEE9}" destId="{25E18E50-583D-184F-8BD7-34AA6888C915}" srcOrd="0" destOrd="0" presId="urn:microsoft.com/office/officeart/2005/8/layout/vList2"/>
    <dgm:cxn modelId="{CB13664F-DCA9-924D-B4C6-82515DCB95F3}" type="presParOf" srcId="{2C9E9BEB-B830-2247-9EAC-D2402D32DEE9}" destId="{6B6F7D6F-EB9D-4D4F-B303-625B5B472667}" srcOrd="1" destOrd="0" presId="urn:microsoft.com/office/officeart/2005/8/layout/vList2"/>
    <dgm:cxn modelId="{801EBF59-1C11-F34F-8469-BF86C993266C}" type="presParOf" srcId="{2C9E9BEB-B830-2247-9EAC-D2402D32DEE9}" destId="{2322DA75-2CBD-2748-BA9A-5FBFC6D932A9}" srcOrd="2" destOrd="0" presId="urn:microsoft.com/office/officeart/2005/8/layout/vList2"/>
    <dgm:cxn modelId="{320C0839-57B5-4D42-AA48-5D3389D54C5A}" type="presParOf" srcId="{2C9E9BEB-B830-2247-9EAC-D2402D32DEE9}" destId="{21D32A51-E7DA-6D45-B701-8A017478830A}" srcOrd="3" destOrd="0" presId="urn:microsoft.com/office/officeart/2005/8/layout/vList2"/>
    <dgm:cxn modelId="{759EA97B-EEEE-5F41-BF82-861F549F149C}" type="presParOf" srcId="{2C9E9BEB-B830-2247-9EAC-D2402D32DEE9}" destId="{9BBAB39E-B4C7-C749-B8E0-37F67F606120}" srcOrd="4" destOrd="0" presId="urn:microsoft.com/office/officeart/2005/8/layout/vList2"/>
    <dgm:cxn modelId="{27721E1C-A43F-8C44-9456-3390F2DE0297}" type="presParOf" srcId="{2C9E9BEB-B830-2247-9EAC-D2402D32DEE9}" destId="{8BD5A17F-AB3F-A44F-9C3B-7933A64E09B8}" srcOrd="5" destOrd="0" presId="urn:microsoft.com/office/officeart/2005/8/layout/vList2"/>
    <dgm:cxn modelId="{15352E71-A815-A745-B324-6CB2DD90B3D4}" type="presParOf" srcId="{2C9E9BEB-B830-2247-9EAC-D2402D32DEE9}" destId="{0C400CBB-8AEF-7F48-8E3A-793ED7324DF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F23258-5D7B-4F4E-9040-DEA8834D073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0235428-A72A-4291-B872-D7E9B243C808}">
      <dgm:prSet/>
      <dgm:spPr/>
      <dgm:t>
        <a:bodyPr/>
        <a:lstStyle/>
        <a:p>
          <a:r>
            <a:rPr lang="it-IT" b="1" i="0" baseline="0" dirty="0">
              <a:latin typeface="Arial" panose="020B0604020202020204" pitchFamily="34" charset="0"/>
              <a:cs typeface="Arial" panose="020B0604020202020204" pitchFamily="34" charset="0"/>
            </a:rPr>
            <a:t>Key </a:t>
          </a:r>
          <a:r>
            <a:rPr lang="it-IT" b="1" i="0" baseline="0" dirty="0" err="1">
              <a:latin typeface="Arial" panose="020B0604020202020204" pitchFamily="34" charset="0"/>
              <a:cs typeface="Arial" panose="020B0604020202020204" pitchFamily="34" charset="0"/>
            </a:rPr>
            <a:t>Findings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2F55D5-9154-4022-A6DB-14AFDCB78E61}" type="parTrans" cxnId="{7B0D9355-8159-4FE6-AC25-D7608972C7A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BCCDEC-AA40-42BA-AF58-66194B83208A}" type="sibTrans" cxnId="{7B0D9355-8159-4FE6-AC25-D7608972C7A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AAFA0F-DA2A-4388-B582-A373B2E4716D}">
      <dgm:prSet/>
      <dgm:spPr/>
      <dgm:t>
        <a:bodyPr/>
        <a:lstStyle/>
        <a:p>
          <a:r>
            <a:rPr lang="it-IT" b="0" i="0" baseline="0">
              <a:latin typeface="Arial" panose="020B0604020202020204" pitchFamily="34" charset="0"/>
              <a:cs typeface="Arial" panose="020B0604020202020204" pitchFamily="34" charset="0"/>
            </a:rPr>
            <a:t>Diabetes prevalence increased with </a:t>
          </a:r>
          <a:r>
            <a:rPr lang="it-IT" b="1" i="0" baseline="0">
              <a:latin typeface="Arial" panose="020B0604020202020204" pitchFamily="34" charset="0"/>
              <a:cs typeface="Arial" panose="020B0604020202020204" pitchFamily="34" charset="0"/>
            </a:rPr>
            <a:t>age</a:t>
          </a:r>
          <a:r>
            <a:rPr lang="it-IT" b="0" i="0" baseline="0">
              <a:latin typeface="Arial" panose="020B0604020202020204" pitchFamily="34" charset="0"/>
              <a:cs typeface="Arial" panose="020B0604020202020204" pitchFamily="34" charset="0"/>
            </a:rPr>
            <a:t> and </a:t>
          </a:r>
          <a:r>
            <a:rPr lang="it-IT" b="1" i="0" baseline="0">
              <a:latin typeface="Arial" panose="020B0604020202020204" pitchFamily="34" charset="0"/>
              <a:cs typeface="Arial" panose="020B0604020202020204" pitchFamily="34" charset="0"/>
            </a:rPr>
            <a:t>BMI</a:t>
          </a:r>
          <a:r>
            <a:rPr lang="it-IT" b="0" i="0" baseline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48BBAE-39D4-45CE-BDF4-27657F44686B}" type="parTrans" cxnId="{895E2E90-B3BF-45FB-BC71-74EB5C11D88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B7EDF1-1D39-4214-AD5F-2C030FFB138A}" type="sibTrans" cxnId="{895E2E90-B3BF-45FB-BC71-74EB5C11D88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8A10AD-A437-4D2A-BA76-FF90CFE8A6F4}">
      <dgm:prSet/>
      <dgm:spPr/>
      <dgm:t>
        <a:bodyPr/>
        <a:lstStyle/>
        <a:p>
          <a:r>
            <a:rPr lang="it-IT" b="0" i="0" baseline="0">
              <a:latin typeface="Arial" panose="020B0604020202020204" pitchFamily="34" charset="0"/>
              <a:cs typeface="Arial" panose="020B0604020202020204" pitchFamily="34" charset="0"/>
            </a:rPr>
            <a:t>Individuals with diabetes had significantly </a:t>
          </a:r>
          <a:r>
            <a:rPr lang="it-IT" b="1" i="0" baseline="0">
              <a:latin typeface="Arial" panose="020B0604020202020204" pitchFamily="34" charset="0"/>
              <a:cs typeface="Arial" panose="020B0604020202020204" pitchFamily="34" charset="0"/>
            </a:rPr>
            <a:t>higher glucose levels</a:t>
          </a:r>
          <a:r>
            <a:rPr lang="it-IT" b="0" i="0" baseline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97F7D7-A4EB-432C-93C7-7F6A21CB1F34}" type="parTrans" cxnId="{598284E0-AA3B-49AE-AB52-EBF6C8647A8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AA3E83-4837-4AE7-A6E5-BD1FD8845EFD}" type="sibTrans" cxnId="{598284E0-AA3B-49AE-AB52-EBF6C8647A8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CD820A-77CB-4706-B36E-1807E5C515F5}">
      <dgm:prSet/>
      <dgm:spPr/>
      <dgm:t>
        <a:bodyPr/>
        <a:lstStyle/>
        <a:p>
          <a:r>
            <a:rPr lang="it-IT" b="0" i="0" baseline="0">
              <a:latin typeface="Arial" panose="020B0604020202020204" pitchFamily="34" charset="0"/>
              <a:cs typeface="Arial" panose="020B0604020202020204" pitchFamily="34" charset="0"/>
            </a:rPr>
            <a:t>Women with diabetes reported </a:t>
          </a:r>
          <a:r>
            <a:rPr lang="it-IT" b="1" i="0" baseline="0">
              <a:latin typeface="Arial" panose="020B0604020202020204" pitchFamily="34" charset="0"/>
              <a:cs typeface="Arial" panose="020B0604020202020204" pitchFamily="34" charset="0"/>
            </a:rPr>
            <a:t>more pregnancies</a:t>
          </a:r>
          <a:r>
            <a:rPr lang="it-IT" b="0" i="0" baseline="0">
              <a:latin typeface="Arial" panose="020B0604020202020204" pitchFamily="34" charset="0"/>
              <a:cs typeface="Arial" panose="020B0604020202020204" pitchFamily="34" charset="0"/>
            </a:rPr>
            <a:t> on average.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8FC4B0-7E29-4741-BDF6-FD4147C031F0}" type="parTrans" cxnId="{284FA8B8-FE1F-47BC-8535-872CD0BE035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0D1EE80-778C-402D-90E9-53FAE8816307}" type="sibTrans" cxnId="{284FA8B8-FE1F-47BC-8535-872CD0BE035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6981F6-7A1E-4029-9C1B-5C7F2F33C2E3}">
      <dgm:prSet/>
      <dgm:spPr/>
      <dgm:t>
        <a:bodyPr/>
        <a:lstStyle/>
        <a:p>
          <a:r>
            <a:rPr lang="it-IT" b="1" i="0" baseline="0" dirty="0" err="1">
              <a:latin typeface="Arial" panose="020B0604020202020204" pitchFamily="34" charset="0"/>
              <a:cs typeface="Arial" panose="020B0604020202020204" pitchFamily="34" charset="0"/>
            </a:rPr>
            <a:t>Glucose</a:t>
          </a:r>
          <a:r>
            <a:rPr lang="it-IT" b="1" i="0" baseline="0" dirty="0">
              <a:latin typeface="Arial" panose="020B0604020202020204" pitchFamily="34" charset="0"/>
              <a:cs typeface="Arial" panose="020B0604020202020204" pitchFamily="34" charset="0"/>
            </a:rPr>
            <a:t>, BMI and Age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were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significant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predictors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of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diabetes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2C6E5D-44CF-4363-A79A-9CEFBA87A0F9}" type="parTrans" cxnId="{954C6F12-A79F-4635-9275-24ACDF40A99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EFC410-7221-4609-B226-D6754E44E3B1}" type="sibTrans" cxnId="{954C6F12-A79F-4635-9275-24ACDF40A99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B705C4-FE92-4E37-8C98-331F1976D459}">
      <dgm:prSet/>
      <dgm:spPr/>
      <dgm:t>
        <a:bodyPr/>
        <a:lstStyle/>
        <a:p>
          <a:r>
            <a:rPr lang="it-IT" b="0" i="0" baseline="0">
              <a:latin typeface="Arial" panose="020B0604020202020204" pitchFamily="34" charset="0"/>
              <a:cs typeface="Arial" panose="020B0604020202020204" pitchFamily="34" charset="0"/>
            </a:rPr>
            <a:t>The </a:t>
          </a:r>
          <a:r>
            <a:rPr lang="it-IT" b="1" i="0" baseline="0">
              <a:latin typeface="Arial" panose="020B0604020202020204" pitchFamily="34" charset="0"/>
              <a:cs typeface="Arial" panose="020B0604020202020204" pitchFamily="34" charset="0"/>
            </a:rPr>
            <a:t>BMI × Age interaction</a:t>
          </a:r>
          <a:r>
            <a:rPr lang="it-IT" b="0" i="0" baseline="0">
              <a:latin typeface="Arial" panose="020B0604020202020204" pitchFamily="34" charset="0"/>
              <a:cs typeface="Arial" panose="020B0604020202020204" pitchFamily="34" charset="0"/>
            </a:rPr>
            <a:t> was not statistically significant.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AFA562-AF4D-4FBE-AE83-92EE96B6E8FF}" type="parTrans" cxnId="{F77C6544-ECA8-466E-B1F7-BE7E2034D86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497A31-D872-49E1-8EA4-277B9B908D16}" type="sibTrans" cxnId="{F77C6544-ECA8-466E-B1F7-BE7E2034D86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51927F-27CA-9F41-8541-075E6841F666}" type="pres">
      <dgm:prSet presAssocID="{A7F23258-5D7B-4F4E-9040-DEA8834D073D}" presName="vert0" presStyleCnt="0">
        <dgm:presLayoutVars>
          <dgm:dir/>
          <dgm:animOne val="branch"/>
          <dgm:animLvl val="lvl"/>
        </dgm:presLayoutVars>
      </dgm:prSet>
      <dgm:spPr/>
    </dgm:pt>
    <dgm:pt modelId="{F1BA55E5-B9C1-EA49-A037-7912F3540997}" type="pres">
      <dgm:prSet presAssocID="{D0235428-A72A-4291-B872-D7E9B243C808}" presName="thickLine" presStyleLbl="alignNode1" presStyleIdx="0" presStyleCnt="6"/>
      <dgm:spPr/>
    </dgm:pt>
    <dgm:pt modelId="{D94E9196-368A-FB40-B5A4-57D969E6217D}" type="pres">
      <dgm:prSet presAssocID="{D0235428-A72A-4291-B872-D7E9B243C808}" presName="horz1" presStyleCnt="0"/>
      <dgm:spPr/>
    </dgm:pt>
    <dgm:pt modelId="{34E7509A-22BA-E94D-8415-6D4DCDFD0654}" type="pres">
      <dgm:prSet presAssocID="{D0235428-A72A-4291-B872-D7E9B243C808}" presName="tx1" presStyleLbl="revTx" presStyleIdx="0" presStyleCnt="6"/>
      <dgm:spPr/>
    </dgm:pt>
    <dgm:pt modelId="{B0AF512F-571E-994E-9F1B-2745F7A06E2C}" type="pres">
      <dgm:prSet presAssocID="{D0235428-A72A-4291-B872-D7E9B243C808}" presName="vert1" presStyleCnt="0"/>
      <dgm:spPr/>
    </dgm:pt>
    <dgm:pt modelId="{A6BACA6F-A30A-8E4A-81A2-E9ECD24D2FF1}" type="pres">
      <dgm:prSet presAssocID="{56AAFA0F-DA2A-4388-B582-A373B2E4716D}" presName="thickLine" presStyleLbl="alignNode1" presStyleIdx="1" presStyleCnt="6"/>
      <dgm:spPr/>
    </dgm:pt>
    <dgm:pt modelId="{959B12BA-D79E-B943-B185-FE3A21FD3F61}" type="pres">
      <dgm:prSet presAssocID="{56AAFA0F-DA2A-4388-B582-A373B2E4716D}" presName="horz1" presStyleCnt="0"/>
      <dgm:spPr/>
    </dgm:pt>
    <dgm:pt modelId="{EE8ED833-68AB-8F41-AEC6-D12A40A05920}" type="pres">
      <dgm:prSet presAssocID="{56AAFA0F-DA2A-4388-B582-A373B2E4716D}" presName="tx1" presStyleLbl="revTx" presStyleIdx="1" presStyleCnt="6"/>
      <dgm:spPr/>
    </dgm:pt>
    <dgm:pt modelId="{69C7FD45-F76B-6744-A86D-853A0A6FDFDC}" type="pres">
      <dgm:prSet presAssocID="{56AAFA0F-DA2A-4388-B582-A373B2E4716D}" presName="vert1" presStyleCnt="0"/>
      <dgm:spPr/>
    </dgm:pt>
    <dgm:pt modelId="{281777EA-DD32-4549-B995-7E173473D576}" type="pres">
      <dgm:prSet presAssocID="{608A10AD-A437-4D2A-BA76-FF90CFE8A6F4}" presName="thickLine" presStyleLbl="alignNode1" presStyleIdx="2" presStyleCnt="6"/>
      <dgm:spPr/>
    </dgm:pt>
    <dgm:pt modelId="{F116D24E-3B9A-9F43-92FB-0BEA575F0E14}" type="pres">
      <dgm:prSet presAssocID="{608A10AD-A437-4D2A-BA76-FF90CFE8A6F4}" presName="horz1" presStyleCnt="0"/>
      <dgm:spPr/>
    </dgm:pt>
    <dgm:pt modelId="{E3F7141A-8A41-9248-B45D-1BC97718211A}" type="pres">
      <dgm:prSet presAssocID="{608A10AD-A437-4D2A-BA76-FF90CFE8A6F4}" presName="tx1" presStyleLbl="revTx" presStyleIdx="2" presStyleCnt="6"/>
      <dgm:spPr/>
    </dgm:pt>
    <dgm:pt modelId="{92C2D06C-645E-3540-AC09-D43B38092B69}" type="pres">
      <dgm:prSet presAssocID="{608A10AD-A437-4D2A-BA76-FF90CFE8A6F4}" presName="vert1" presStyleCnt="0"/>
      <dgm:spPr/>
    </dgm:pt>
    <dgm:pt modelId="{27834EF2-D4EE-6143-9CFD-B91DA92BEF08}" type="pres">
      <dgm:prSet presAssocID="{F2CD820A-77CB-4706-B36E-1807E5C515F5}" presName="thickLine" presStyleLbl="alignNode1" presStyleIdx="3" presStyleCnt="6"/>
      <dgm:spPr/>
    </dgm:pt>
    <dgm:pt modelId="{5BC45EEB-49E2-384C-ADBC-720E9D96FC7C}" type="pres">
      <dgm:prSet presAssocID="{F2CD820A-77CB-4706-B36E-1807E5C515F5}" presName="horz1" presStyleCnt="0"/>
      <dgm:spPr/>
    </dgm:pt>
    <dgm:pt modelId="{8623CA71-EA6A-6045-8D36-53950D319EF8}" type="pres">
      <dgm:prSet presAssocID="{F2CD820A-77CB-4706-B36E-1807E5C515F5}" presName="tx1" presStyleLbl="revTx" presStyleIdx="3" presStyleCnt="6"/>
      <dgm:spPr/>
    </dgm:pt>
    <dgm:pt modelId="{FC0604BD-35F7-584D-9760-6A72925DDC62}" type="pres">
      <dgm:prSet presAssocID="{F2CD820A-77CB-4706-B36E-1807E5C515F5}" presName="vert1" presStyleCnt="0"/>
      <dgm:spPr/>
    </dgm:pt>
    <dgm:pt modelId="{FBF81FEB-7A79-3E46-B971-DCC65B7526F7}" type="pres">
      <dgm:prSet presAssocID="{CC6981F6-7A1E-4029-9C1B-5C7F2F33C2E3}" presName="thickLine" presStyleLbl="alignNode1" presStyleIdx="4" presStyleCnt="6"/>
      <dgm:spPr/>
    </dgm:pt>
    <dgm:pt modelId="{D3F66429-4F7E-9B4C-A5AF-85FA3547E264}" type="pres">
      <dgm:prSet presAssocID="{CC6981F6-7A1E-4029-9C1B-5C7F2F33C2E3}" presName="horz1" presStyleCnt="0"/>
      <dgm:spPr/>
    </dgm:pt>
    <dgm:pt modelId="{A190E593-8C08-684C-9D3A-CEC263D69F74}" type="pres">
      <dgm:prSet presAssocID="{CC6981F6-7A1E-4029-9C1B-5C7F2F33C2E3}" presName="tx1" presStyleLbl="revTx" presStyleIdx="4" presStyleCnt="6"/>
      <dgm:spPr/>
    </dgm:pt>
    <dgm:pt modelId="{2428ABA6-72BE-C047-9E5A-6CC665D2A133}" type="pres">
      <dgm:prSet presAssocID="{CC6981F6-7A1E-4029-9C1B-5C7F2F33C2E3}" presName="vert1" presStyleCnt="0"/>
      <dgm:spPr/>
    </dgm:pt>
    <dgm:pt modelId="{8D26FF05-31A6-2342-86C2-B0CEB78BBE0F}" type="pres">
      <dgm:prSet presAssocID="{4CB705C4-FE92-4E37-8C98-331F1976D459}" presName="thickLine" presStyleLbl="alignNode1" presStyleIdx="5" presStyleCnt="6"/>
      <dgm:spPr/>
    </dgm:pt>
    <dgm:pt modelId="{362B9898-C959-C14E-BC4E-420CBD3AFCA9}" type="pres">
      <dgm:prSet presAssocID="{4CB705C4-FE92-4E37-8C98-331F1976D459}" presName="horz1" presStyleCnt="0"/>
      <dgm:spPr/>
    </dgm:pt>
    <dgm:pt modelId="{48BED5E0-5807-5246-8E00-3852A82CA762}" type="pres">
      <dgm:prSet presAssocID="{4CB705C4-FE92-4E37-8C98-331F1976D459}" presName="tx1" presStyleLbl="revTx" presStyleIdx="5" presStyleCnt="6"/>
      <dgm:spPr/>
    </dgm:pt>
    <dgm:pt modelId="{C6835FAC-56AE-0040-A288-72F18B7B120F}" type="pres">
      <dgm:prSet presAssocID="{4CB705C4-FE92-4E37-8C98-331F1976D459}" presName="vert1" presStyleCnt="0"/>
      <dgm:spPr/>
    </dgm:pt>
  </dgm:ptLst>
  <dgm:cxnLst>
    <dgm:cxn modelId="{954C6F12-A79F-4635-9275-24ACDF40A991}" srcId="{A7F23258-5D7B-4F4E-9040-DEA8834D073D}" destId="{CC6981F6-7A1E-4029-9C1B-5C7F2F33C2E3}" srcOrd="4" destOrd="0" parTransId="{182C6E5D-44CF-4363-A79A-9CEFBA87A0F9}" sibTransId="{FEEFC410-7221-4609-B226-D6754E44E3B1}"/>
    <dgm:cxn modelId="{188E6D25-5177-8D45-9A29-33D4E2BD2C7E}" type="presOf" srcId="{4CB705C4-FE92-4E37-8C98-331F1976D459}" destId="{48BED5E0-5807-5246-8E00-3852A82CA762}" srcOrd="0" destOrd="0" presId="urn:microsoft.com/office/officeart/2008/layout/LinedList"/>
    <dgm:cxn modelId="{C8924C36-96CE-1048-842E-D98163AC7825}" type="presOf" srcId="{A7F23258-5D7B-4F4E-9040-DEA8834D073D}" destId="{B951927F-27CA-9F41-8541-075E6841F666}" srcOrd="0" destOrd="0" presId="urn:microsoft.com/office/officeart/2008/layout/LinedList"/>
    <dgm:cxn modelId="{EBE7273E-0251-8645-A624-DD36BB5CB1DE}" type="presOf" srcId="{D0235428-A72A-4291-B872-D7E9B243C808}" destId="{34E7509A-22BA-E94D-8415-6D4DCDFD0654}" srcOrd="0" destOrd="0" presId="urn:microsoft.com/office/officeart/2008/layout/LinedList"/>
    <dgm:cxn modelId="{F77C6544-ECA8-466E-B1F7-BE7E2034D86C}" srcId="{A7F23258-5D7B-4F4E-9040-DEA8834D073D}" destId="{4CB705C4-FE92-4E37-8C98-331F1976D459}" srcOrd="5" destOrd="0" parTransId="{30AFA562-AF4D-4FBE-AE83-92EE96B6E8FF}" sibTransId="{53497A31-D872-49E1-8EA4-277B9B908D16}"/>
    <dgm:cxn modelId="{ED3BE851-5E0B-0F45-80C9-830A8FD0F82D}" type="presOf" srcId="{CC6981F6-7A1E-4029-9C1B-5C7F2F33C2E3}" destId="{A190E593-8C08-684C-9D3A-CEC263D69F74}" srcOrd="0" destOrd="0" presId="urn:microsoft.com/office/officeart/2008/layout/LinedList"/>
    <dgm:cxn modelId="{7B0D9355-8159-4FE6-AC25-D7608972C7AF}" srcId="{A7F23258-5D7B-4F4E-9040-DEA8834D073D}" destId="{D0235428-A72A-4291-B872-D7E9B243C808}" srcOrd="0" destOrd="0" parTransId="{F32F55D5-9154-4022-A6DB-14AFDCB78E61}" sibTransId="{13BCCDEC-AA40-42BA-AF58-66194B83208A}"/>
    <dgm:cxn modelId="{0BC3E96A-418A-D940-B7DD-12DB31C6B4FC}" type="presOf" srcId="{56AAFA0F-DA2A-4388-B582-A373B2E4716D}" destId="{EE8ED833-68AB-8F41-AEC6-D12A40A05920}" srcOrd="0" destOrd="0" presId="urn:microsoft.com/office/officeart/2008/layout/LinedList"/>
    <dgm:cxn modelId="{16A1046F-C7B7-C945-9CB7-60B6DF5DDC3C}" type="presOf" srcId="{F2CD820A-77CB-4706-B36E-1807E5C515F5}" destId="{8623CA71-EA6A-6045-8D36-53950D319EF8}" srcOrd="0" destOrd="0" presId="urn:microsoft.com/office/officeart/2008/layout/LinedList"/>
    <dgm:cxn modelId="{895E2E90-B3BF-45FB-BC71-74EB5C11D881}" srcId="{A7F23258-5D7B-4F4E-9040-DEA8834D073D}" destId="{56AAFA0F-DA2A-4388-B582-A373B2E4716D}" srcOrd="1" destOrd="0" parTransId="{4448BBAE-39D4-45CE-BDF4-27657F44686B}" sibTransId="{ECB7EDF1-1D39-4214-AD5F-2C030FFB138A}"/>
    <dgm:cxn modelId="{284FA8B8-FE1F-47BC-8535-872CD0BE0350}" srcId="{A7F23258-5D7B-4F4E-9040-DEA8834D073D}" destId="{F2CD820A-77CB-4706-B36E-1807E5C515F5}" srcOrd="3" destOrd="0" parTransId="{E68FC4B0-7E29-4741-BDF6-FD4147C031F0}" sibTransId="{20D1EE80-778C-402D-90E9-53FAE8816307}"/>
    <dgm:cxn modelId="{79581ADD-1890-CF43-A9B8-261400A9D772}" type="presOf" srcId="{608A10AD-A437-4D2A-BA76-FF90CFE8A6F4}" destId="{E3F7141A-8A41-9248-B45D-1BC97718211A}" srcOrd="0" destOrd="0" presId="urn:microsoft.com/office/officeart/2008/layout/LinedList"/>
    <dgm:cxn modelId="{598284E0-AA3B-49AE-AB52-EBF6C8647A81}" srcId="{A7F23258-5D7B-4F4E-9040-DEA8834D073D}" destId="{608A10AD-A437-4D2A-BA76-FF90CFE8A6F4}" srcOrd="2" destOrd="0" parTransId="{0397F7D7-A4EB-432C-93C7-7F6A21CB1F34}" sibTransId="{ECAA3E83-4837-4AE7-A6E5-BD1FD8845EFD}"/>
    <dgm:cxn modelId="{766CA9A7-BEE6-B643-99A1-BB6B87AE4B2B}" type="presParOf" srcId="{B951927F-27CA-9F41-8541-075E6841F666}" destId="{F1BA55E5-B9C1-EA49-A037-7912F3540997}" srcOrd="0" destOrd="0" presId="urn:microsoft.com/office/officeart/2008/layout/LinedList"/>
    <dgm:cxn modelId="{287C8E94-F3CB-F74E-9D85-3B871865DCF6}" type="presParOf" srcId="{B951927F-27CA-9F41-8541-075E6841F666}" destId="{D94E9196-368A-FB40-B5A4-57D969E6217D}" srcOrd="1" destOrd="0" presId="urn:microsoft.com/office/officeart/2008/layout/LinedList"/>
    <dgm:cxn modelId="{D9E8C064-FCD0-DA40-8373-E7B11BF8193C}" type="presParOf" srcId="{D94E9196-368A-FB40-B5A4-57D969E6217D}" destId="{34E7509A-22BA-E94D-8415-6D4DCDFD0654}" srcOrd="0" destOrd="0" presId="urn:microsoft.com/office/officeart/2008/layout/LinedList"/>
    <dgm:cxn modelId="{DE94745D-F837-C049-AB4B-A2CB863BDE45}" type="presParOf" srcId="{D94E9196-368A-FB40-B5A4-57D969E6217D}" destId="{B0AF512F-571E-994E-9F1B-2745F7A06E2C}" srcOrd="1" destOrd="0" presId="urn:microsoft.com/office/officeart/2008/layout/LinedList"/>
    <dgm:cxn modelId="{5CD02036-D5E5-9A41-8D5E-D9EF9F598D24}" type="presParOf" srcId="{B951927F-27CA-9F41-8541-075E6841F666}" destId="{A6BACA6F-A30A-8E4A-81A2-E9ECD24D2FF1}" srcOrd="2" destOrd="0" presId="urn:microsoft.com/office/officeart/2008/layout/LinedList"/>
    <dgm:cxn modelId="{4E333003-DB67-2A41-A3E3-7C1D6A1AAA42}" type="presParOf" srcId="{B951927F-27CA-9F41-8541-075E6841F666}" destId="{959B12BA-D79E-B943-B185-FE3A21FD3F61}" srcOrd="3" destOrd="0" presId="urn:microsoft.com/office/officeart/2008/layout/LinedList"/>
    <dgm:cxn modelId="{3FE6DC7F-1D3A-FA4C-965A-8C88A703396D}" type="presParOf" srcId="{959B12BA-D79E-B943-B185-FE3A21FD3F61}" destId="{EE8ED833-68AB-8F41-AEC6-D12A40A05920}" srcOrd="0" destOrd="0" presId="urn:microsoft.com/office/officeart/2008/layout/LinedList"/>
    <dgm:cxn modelId="{11CC1B64-C5D4-7D4B-81DB-F7088710C2C9}" type="presParOf" srcId="{959B12BA-D79E-B943-B185-FE3A21FD3F61}" destId="{69C7FD45-F76B-6744-A86D-853A0A6FDFDC}" srcOrd="1" destOrd="0" presId="urn:microsoft.com/office/officeart/2008/layout/LinedList"/>
    <dgm:cxn modelId="{941B723F-8174-A843-890D-28B367AAA550}" type="presParOf" srcId="{B951927F-27CA-9F41-8541-075E6841F666}" destId="{281777EA-DD32-4549-B995-7E173473D576}" srcOrd="4" destOrd="0" presId="urn:microsoft.com/office/officeart/2008/layout/LinedList"/>
    <dgm:cxn modelId="{DD9757F1-259C-7D4A-9F78-0CAB9A60914C}" type="presParOf" srcId="{B951927F-27CA-9F41-8541-075E6841F666}" destId="{F116D24E-3B9A-9F43-92FB-0BEA575F0E14}" srcOrd="5" destOrd="0" presId="urn:microsoft.com/office/officeart/2008/layout/LinedList"/>
    <dgm:cxn modelId="{1A199153-4C78-C347-9D2C-118C836E277E}" type="presParOf" srcId="{F116D24E-3B9A-9F43-92FB-0BEA575F0E14}" destId="{E3F7141A-8A41-9248-B45D-1BC97718211A}" srcOrd="0" destOrd="0" presId="urn:microsoft.com/office/officeart/2008/layout/LinedList"/>
    <dgm:cxn modelId="{5919511A-6A98-DD41-A3FF-775082B764F7}" type="presParOf" srcId="{F116D24E-3B9A-9F43-92FB-0BEA575F0E14}" destId="{92C2D06C-645E-3540-AC09-D43B38092B69}" srcOrd="1" destOrd="0" presId="urn:microsoft.com/office/officeart/2008/layout/LinedList"/>
    <dgm:cxn modelId="{40512F82-1038-8C4A-B89E-F4E3D0CFEF49}" type="presParOf" srcId="{B951927F-27CA-9F41-8541-075E6841F666}" destId="{27834EF2-D4EE-6143-9CFD-B91DA92BEF08}" srcOrd="6" destOrd="0" presId="urn:microsoft.com/office/officeart/2008/layout/LinedList"/>
    <dgm:cxn modelId="{96D03F1F-8868-F640-BC13-4D6A7068C8E2}" type="presParOf" srcId="{B951927F-27CA-9F41-8541-075E6841F666}" destId="{5BC45EEB-49E2-384C-ADBC-720E9D96FC7C}" srcOrd="7" destOrd="0" presId="urn:microsoft.com/office/officeart/2008/layout/LinedList"/>
    <dgm:cxn modelId="{7947F8E5-BCD0-F946-9418-F19144F66D45}" type="presParOf" srcId="{5BC45EEB-49E2-384C-ADBC-720E9D96FC7C}" destId="{8623CA71-EA6A-6045-8D36-53950D319EF8}" srcOrd="0" destOrd="0" presId="urn:microsoft.com/office/officeart/2008/layout/LinedList"/>
    <dgm:cxn modelId="{D2E07BA8-DEFE-C840-9FB8-8103396E6BAA}" type="presParOf" srcId="{5BC45EEB-49E2-384C-ADBC-720E9D96FC7C}" destId="{FC0604BD-35F7-584D-9760-6A72925DDC62}" srcOrd="1" destOrd="0" presId="urn:microsoft.com/office/officeart/2008/layout/LinedList"/>
    <dgm:cxn modelId="{D83D1FA4-13F7-C548-8A90-B44D74602FE0}" type="presParOf" srcId="{B951927F-27CA-9F41-8541-075E6841F666}" destId="{FBF81FEB-7A79-3E46-B971-DCC65B7526F7}" srcOrd="8" destOrd="0" presId="urn:microsoft.com/office/officeart/2008/layout/LinedList"/>
    <dgm:cxn modelId="{ADF512EA-CD30-1645-A1C5-3C6E03A454F2}" type="presParOf" srcId="{B951927F-27CA-9F41-8541-075E6841F666}" destId="{D3F66429-4F7E-9B4C-A5AF-85FA3547E264}" srcOrd="9" destOrd="0" presId="urn:microsoft.com/office/officeart/2008/layout/LinedList"/>
    <dgm:cxn modelId="{17482043-C76E-3C49-B178-0919A5E1CF04}" type="presParOf" srcId="{D3F66429-4F7E-9B4C-A5AF-85FA3547E264}" destId="{A190E593-8C08-684C-9D3A-CEC263D69F74}" srcOrd="0" destOrd="0" presId="urn:microsoft.com/office/officeart/2008/layout/LinedList"/>
    <dgm:cxn modelId="{2CA46D16-7D5C-5642-AFD4-596394E1802B}" type="presParOf" srcId="{D3F66429-4F7E-9B4C-A5AF-85FA3547E264}" destId="{2428ABA6-72BE-C047-9E5A-6CC665D2A133}" srcOrd="1" destOrd="0" presId="urn:microsoft.com/office/officeart/2008/layout/LinedList"/>
    <dgm:cxn modelId="{993213C2-26DF-E84F-AA1F-0678177AB6E2}" type="presParOf" srcId="{B951927F-27CA-9F41-8541-075E6841F666}" destId="{8D26FF05-31A6-2342-86C2-B0CEB78BBE0F}" srcOrd="10" destOrd="0" presId="urn:microsoft.com/office/officeart/2008/layout/LinedList"/>
    <dgm:cxn modelId="{C41D1CA9-B9DD-8A46-9DDB-B0DA60FA6014}" type="presParOf" srcId="{B951927F-27CA-9F41-8541-075E6841F666}" destId="{362B9898-C959-C14E-BC4E-420CBD3AFCA9}" srcOrd="11" destOrd="0" presId="urn:microsoft.com/office/officeart/2008/layout/LinedList"/>
    <dgm:cxn modelId="{D483F95E-3C6C-5D44-89B7-77F0E7762FF2}" type="presParOf" srcId="{362B9898-C959-C14E-BC4E-420CBD3AFCA9}" destId="{48BED5E0-5807-5246-8E00-3852A82CA762}" srcOrd="0" destOrd="0" presId="urn:microsoft.com/office/officeart/2008/layout/LinedList"/>
    <dgm:cxn modelId="{5F0A0A08-52DC-D945-B874-27E6518B5715}" type="presParOf" srcId="{362B9898-C959-C14E-BC4E-420CBD3AFCA9}" destId="{C6835FAC-56AE-0040-A288-72F18B7B120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CF8407-5C81-214F-BAE7-9581147E4070}" type="doc">
      <dgm:prSet loTypeId="urn:microsoft.com/office/officeart/2009/3/layout/OpposingIdeas" loCatId="list" qsTypeId="urn:microsoft.com/office/officeart/2005/8/quickstyle/3d4" qsCatId="3D" csTypeId="urn:microsoft.com/office/officeart/2005/8/colors/accent0_2" csCatId="mainScheme" phldr="1"/>
      <dgm:spPr/>
      <dgm:t>
        <a:bodyPr/>
        <a:lstStyle/>
        <a:p>
          <a:endParaRPr lang="it-IT"/>
        </a:p>
      </dgm:t>
    </dgm:pt>
    <dgm:pt modelId="{14E83B45-FD73-5148-96CD-C582B084D677}">
      <dgm:prSet phldrT="[Testo]"/>
      <dgm:spPr/>
      <dgm:t>
        <a:bodyPr/>
        <a:lstStyle/>
        <a:p>
          <a:r>
            <a:rPr lang="it-IT" dirty="0"/>
            <a:t>Future Work</a:t>
          </a:r>
        </a:p>
      </dgm:t>
    </dgm:pt>
    <dgm:pt modelId="{8339B974-245E-FD4B-B0C5-B279602C0488}" type="parTrans" cxnId="{8BCD51E9-7F5A-9B44-ABE4-34A674AA830B}">
      <dgm:prSet/>
      <dgm:spPr/>
      <dgm:t>
        <a:bodyPr/>
        <a:lstStyle/>
        <a:p>
          <a:endParaRPr lang="it-IT"/>
        </a:p>
      </dgm:t>
    </dgm:pt>
    <dgm:pt modelId="{133EBF6F-3A71-AC49-98FA-FF2500F0A550}" type="sibTrans" cxnId="{8BCD51E9-7F5A-9B44-ABE4-34A674AA830B}">
      <dgm:prSet/>
      <dgm:spPr/>
      <dgm:t>
        <a:bodyPr/>
        <a:lstStyle/>
        <a:p>
          <a:endParaRPr lang="it-IT"/>
        </a:p>
      </dgm:t>
    </dgm:pt>
    <dgm:pt modelId="{8E9921B8-F189-794B-8652-79BACBE2FA2B}">
      <dgm:prSet phldrT="[Testo]"/>
      <dgm:spPr/>
      <dgm:t>
        <a:bodyPr/>
        <a:lstStyle/>
        <a:p>
          <a:pPr>
            <a:buSzTx/>
            <a:buNone/>
          </a:pPr>
          <a:endParaRPr 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58378B-56F8-6143-8C28-7408B10D8DDE}" type="parTrans" cxnId="{D766F596-3BE6-0042-8BC2-BD526326E69C}">
      <dgm:prSet/>
      <dgm:spPr/>
      <dgm:t>
        <a:bodyPr/>
        <a:lstStyle/>
        <a:p>
          <a:endParaRPr lang="it-IT"/>
        </a:p>
      </dgm:t>
    </dgm:pt>
    <dgm:pt modelId="{53BA7FC5-8CDA-C341-9629-6D3380C5C3D8}" type="sibTrans" cxnId="{D766F596-3BE6-0042-8BC2-BD526326E69C}">
      <dgm:prSet/>
      <dgm:spPr/>
      <dgm:t>
        <a:bodyPr/>
        <a:lstStyle/>
        <a:p>
          <a:endParaRPr lang="it-IT"/>
        </a:p>
      </dgm:t>
    </dgm:pt>
    <dgm:pt modelId="{D9469017-4145-7549-9083-F12C0C2D3B6A}">
      <dgm:prSet phldrT="[Testo]"/>
      <dgm:spPr/>
      <dgm:t>
        <a:bodyPr/>
        <a:lstStyle/>
        <a:p>
          <a:r>
            <a:rPr lang="it-IT" dirty="0" err="1"/>
            <a:t>Limitations</a:t>
          </a:r>
          <a:endParaRPr lang="it-IT" dirty="0"/>
        </a:p>
      </dgm:t>
    </dgm:pt>
    <dgm:pt modelId="{E937C1C4-B1CA-F641-B11C-1DEF42DC717F}" type="parTrans" cxnId="{67928452-5B26-F44C-B5DA-8248C20A5E88}">
      <dgm:prSet/>
      <dgm:spPr/>
      <dgm:t>
        <a:bodyPr/>
        <a:lstStyle/>
        <a:p>
          <a:endParaRPr lang="it-IT"/>
        </a:p>
      </dgm:t>
    </dgm:pt>
    <dgm:pt modelId="{F19F77AE-6F1F-C147-B50C-297F9B80D705}" type="sibTrans" cxnId="{67928452-5B26-F44C-B5DA-8248C20A5E88}">
      <dgm:prSet/>
      <dgm:spPr/>
      <dgm:t>
        <a:bodyPr/>
        <a:lstStyle/>
        <a:p>
          <a:endParaRPr lang="it-IT"/>
        </a:p>
      </dgm:t>
    </dgm:pt>
    <dgm:pt modelId="{77B5BBC6-53B1-DB43-8AA0-D3B93E88C1E8}">
      <dgm:prSet phldrT="[Testo]"/>
      <dgm:spPr/>
      <dgm:t>
        <a:bodyPr/>
        <a:lstStyle/>
        <a:p>
          <a:endParaRPr 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22A36C-FA6C-1442-BD55-C1BD6C91B225}" type="parTrans" cxnId="{727B7CFB-B3D0-1E4B-A14E-3F20C86C3B27}">
      <dgm:prSet/>
      <dgm:spPr/>
      <dgm:t>
        <a:bodyPr/>
        <a:lstStyle/>
        <a:p>
          <a:endParaRPr lang="it-IT"/>
        </a:p>
      </dgm:t>
    </dgm:pt>
    <dgm:pt modelId="{F2D131D4-B742-244C-BC75-B246E9F25224}" type="sibTrans" cxnId="{727B7CFB-B3D0-1E4B-A14E-3F20C86C3B27}">
      <dgm:prSet/>
      <dgm:spPr/>
      <dgm:t>
        <a:bodyPr/>
        <a:lstStyle/>
        <a:p>
          <a:endParaRPr lang="it-IT"/>
        </a:p>
      </dgm:t>
    </dgm:pt>
    <dgm:pt modelId="{FC6195F8-0311-5C4C-A2C7-49476E866AB7}">
      <dgm:prSet/>
      <dgm:spPr/>
      <dgm:t>
        <a:bodyPr/>
        <a:lstStyle/>
        <a:p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✔ Data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cleaning</a:t>
          </a:r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&amp;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missing</a:t>
          </a:r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value</a:t>
          </a:r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imputation</a:t>
          </a:r>
          <a:endParaRPr lang="it-IT" alt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6A81D3-E0DA-0541-AB50-2A17AA6C5952}" type="parTrans" cxnId="{62E9ACAC-98FF-A745-9F1B-5F7F4FDA2567}">
      <dgm:prSet/>
      <dgm:spPr/>
      <dgm:t>
        <a:bodyPr/>
        <a:lstStyle/>
        <a:p>
          <a:endParaRPr lang="it-IT"/>
        </a:p>
      </dgm:t>
    </dgm:pt>
    <dgm:pt modelId="{039373C2-E00D-1149-B721-64AC2CCC95BA}" type="sibTrans" cxnId="{62E9ACAC-98FF-A745-9F1B-5F7F4FDA2567}">
      <dgm:prSet/>
      <dgm:spPr/>
      <dgm:t>
        <a:bodyPr/>
        <a:lstStyle/>
        <a:p>
          <a:endParaRPr lang="it-IT"/>
        </a:p>
      </dgm:t>
    </dgm:pt>
    <dgm:pt modelId="{C2FC9337-2207-FC44-8F00-29F5BFED8F0E}">
      <dgm:prSet/>
      <dgm:spPr/>
      <dgm:t>
        <a:bodyPr/>
        <a:lstStyle/>
        <a:p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✔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Additional</a:t>
          </a:r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clinical &amp; lifestyle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variables</a:t>
          </a:r>
          <a:endParaRPr lang="it-IT" alt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2CE8E2C-838D-C844-9BF5-D5B296BBE8EC}" type="parTrans" cxnId="{A7A4A2FA-5C1D-604A-AC95-8411293B84E3}">
      <dgm:prSet/>
      <dgm:spPr/>
      <dgm:t>
        <a:bodyPr/>
        <a:lstStyle/>
        <a:p>
          <a:endParaRPr lang="it-IT"/>
        </a:p>
      </dgm:t>
    </dgm:pt>
    <dgm:pt modelId="{00DCF374-3562-A146-89D3-B085C4A46254}" type="sibTrans" cxnId="{A7A4A2FA-5C1D-604A-AC95-8411293B84E3}">
      <dgm:prSet/>
      <dgm:spPr/>
      <dgm:t>
        <a:bodyPr/>
        <a:lstStyle/>
        <a:p>
          <a:endParaRPr lang="it-IT"/>
        </a:p>
      </dgm:t>
    </dgm:pt>
    <dgm:pt modelId="{B08F87A9-81AA-4E4E-9791-E0EDB1ACB412}">
      <dgm:prSet/>
      <dgm:spPr/>
      <dgm:t>
        <a:bodyPr/>
        <a:lstStyle/>
        <a:p>
          <a:r>
            <a:rPr lang="it-IT" altLang="it-IT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✔ Machine learning models (Random Forest, XGBoost)</a:t>
          </a:r>
          <a:endParaRPr lang="it-IT" alt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D17BD5E-FCF5-984E-B670-4B41275E35B4}" type="parTrans" cxnId="{C0B520A5-7BB3-8D4B-9865-C3E99A51ABFA}">
      <dgm:prSet/>
      <dgm:spPr/>
      <dgm:t>
        <a:bodyPr/>
        <a:lstStyle/>
        <a:p>
          <a:endParaRPr lang="it-IT"/>
        </a:p>
      </dgm:t>
    </dgm:pt>
    <dgm:pt modelId="{252B1133-8912-314D-80B6-4BBF5A1C33FD}" type="sibTrans" cxnId="{C0B520A5-7BB3-8D4B-9865-C3E99A51ABFA}">
      <dgm:prSet/>
      <dgm:spPr/>
      <dgm:t>
        <a:bodyPr/>
        <a:lstStyle/>
        <a:p>
          <a:endParaRPr lang="it-IT"/>
        </a:p>
      </dgm:t>
    </dgm:pt>
    <dgm:pt modelId="{FDEE6A5E-5B33-504B-80DF-C8E362271E35}">
      <dgm:prSet/>
      <dgm:spPr/>
      <dgm:t>
        <a:bodyPr/>
        <a:lstStyle/>
        <a:p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✔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External</a:t>
          </a:r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dataset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validation</a:t>
          </a:r>
          <a:endParaRPr lang="it-IT" altLang="it-IT" dirty="0">
            <a:solidFill>
              <a:srgbClr val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64EEE2-D44C-CD4D-B372-4405FBFE0E6B}" type="parTrans" cxnId="{C01FCBD3-4373-6D49-B517-8BB059E3128F}">
      <dgm:prSet/>
      <dgm:spPr/>
      <dgm:t>
        <a:bodyPr/>
        <a:lstStyle/>
        <a:p>
          <a:endParaRPr lang="it-IT"/>
        </a:p>
      </dgm:t>
    </dgm:pt>
    <dgm:pt modelId="{ABC40C5F-7E4D-BF4A-9006-C2FE03B68CD8}" type="sibTrans" cxnId="{C01FCBD3-4373-6D49-B517-8BB059E3128F}">
      <dgm:prSet/>
      <dgm:spPr/>
      <dgm:t>
        <a:bodyPr/>
        <a:lstStyle/>
        <a:p>
          <a:endParaRPr lang="it-IT"/>
        </a:p>
      </dgm:t>
    </dgm:pt>
    <dgm:pt modelId="{41145614-AE84-F64D-A6B7-A9053AEE3707}">
      <dgm:prSet/>
      <dgm:spPr/>
      <dgm:t>
        <a:bodyPr/>
        <a:lstStyle/>
        <a:p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❌ Zero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values</a:t>
          </a:r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treated</a:t>
          </a:r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as</a:t>
          </a:r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real</a:t>
          </a:r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altLang="it-IT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observations</a:t>
          </a:r>
          <a:endParaRPr lang="it-IT" alt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411A21B-7715-FC42-84BB-BDB2DA8537E9}" type="parTrans" cxnId="{C408A8CD-2207-5746-8714-0DB190490235}">
      <dgm:prSet/>
      <dgm:spPr/>
      <dgm:t>
        <a:bodyPr/>
        <a:lstStyle/>
        <a:p>
          <a:endParaRPr lang="it-IT"/>
        </a:p>
      </dgm:t>
    </dgm:pt>
    <dgm:pt modelId="{FE52AD3E-ED08-324C-869D-C43848C5DB3A}" type="sibTrans" cxnId="{C408A8CD-2207-5746-8714-0DB190490235}">
      <dgm:prSet/>
      <dgm:spPr/>
      <dgm:t>
        <a:bodyPr/>
        <a:lstStyle/>
        <a:p>
          <a:endParaRPr lang="it-IT"/>
        </a:p>
      </dgm:t>
    </dgm:pt>
    <dgm:pt modelId="{F0B3EDCE-484C-8047-8063-C8ECF6FAF192}">
      <dgm:prSet/>
      <dgm:spPr/>
      <dgm:t>
        <a:bodyPr/>
        <a:lstStyle/>
        <a:p>
          <a:r>
            <a:rPr lang="it-IT" altLang="it-IT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❌ Cross-sectional dataset</a:t>
          </a:r>
          <a:endParaRPr lang="it-IT" alt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6A2427-B967-4F41-A48A-CEE52F822683}" type="parTrans" cxnId="{B950798E-18F9-6E4A-9383-9D01CBF026FF}">
      <dgm:prSet/>
      <dgm:spPr/>
      <dgm:t>
        <a:bodyPr/>
        <a:lstStyle/>
        <a:p>
          <a:endParaRPr lang="it-IT"/>
        </a:p>
      </dgm:t>
    </dgm:pt>
    <dgm:pt modelId="{AF5F3A53-A20F-A745-A7B2-779BEA94C323}" type="sibTrans" cxnId="{B950798E-18F9-6E4A-9383-9D01CBF026FF}">
      <dgm:prSet/>
      <dgm:spPr/>
      <dgm:t>
        <a:bodyPr/>
        <a:lstStyle/>
        <a:p>
          <a:endParaRPr lang="it-IT"/>
        </a:p>
      </dgm:t>
    </dgm:pt>
    <dgm:pt modelId="{D6BEE495-85E6-024D-8B1D-D7EB159EBDD0}">
      <dgm:prSet/>
      <dgm:spPr/>
      <dgm:t>
        <a:bodyPr/>
        <a:lstStyle/>
        <a:p>
          <a:r>
            <a:rPr lang="it-IT" altLang="it-IT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❌ Limited predictor variables</a:t>
          </a:r>
          <a:endParaRPr lang="it-IT" alt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2EC01B-9A37-5F41-B73B-F2A310822645}" type="parTrans" cxnId="{723717C5-B3AA-4E41-8F59-8B6473A12FCD}">
      <dgm:prSet/>
      <dgm:spPr/>
      <dgm:t>
        <a:bodyPr/>
        <a:lstStyle/>
        <a:p>
          <a:endParaRPr lang="it-IT"/>
        </a:p>
      </dgm:t>
    </dgm:pt>
    <dgm:pt modelId="{835458AC-ACCB-9A45-AD82-8C936B70EEFD}" type="sibTrans" cxnId="{723717C5-B3AA-4E41-8F59-8B6473A12FCD}">
      <dgm:prSet/>
      <dgm:spPr/>
      <dgm:t>
        <a:bodyPr/>
        <a:lstStyle/>
        <a:p>
          <a:endParaRPr lang="it-IT"/>
        </a:p>
      </dgm:t>
    </dgm:pt>
    <dgm:pt modelId="{2E61761C-CF81-2B4E-A569-273DE5910AF3}">
      <dgm:prSet/>
      <dgm:spPr/>
      <dgm:t>
        <a:bodyPr/>
        <a:lstStyle/>
        <a:p>
          <a:r>
            <a:rPr lang="it-IT" altLang="it-IT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❌ Moderate model performance (R² = 23%)</a:t>
          </a:r>
          <a:endParaRPr lang="it-IT" altLang="it-IT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899F7E-6E3F-8D4A-8AB3-DFF3317C26A0}" type="parTrans" cxnId="{F3123DCC-2557-E148-9C68-47694DA0FF27}">
      <dgm:prSet/>
      <dgm:spPr/>
      <dgm:t>
        <a:bodyPr/>
        <a:lstStyle/>
        <a:p>
          <a:endParaRPr lang="it-IT"/>
        </a:p>
      </dgm:t>
    </dgm:pt>
    <dgm:pt modelId="{D9BAF432-96F3-9746-9096-403B0AD411E2}" type="sibTrans" cxnId="{F3123DCC-2557-E148-9C68-47694DA0FF27}">
      <dgm:prSet/>
      <dgm:spPr/>
      <dgm:t>
        <a:bodyPr/>
        <a:lstStyle/>
        <a:p>
          <a:endParaRPr lang="it-IT"/>
        </a:p>
      </dgm:t>
    </dgm:pt>
    <dgm:pt modelId="{DA9A35DE-3389-C14F-B603-8525DCAA2392}" type="pres">
      <dgm:prSet presAssocID="{21CF8407-5C81-214F-BAE7-9581147E4070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21223493-2A19-304E-AE1B-8DFB8317D28D}" type="pres">
      <dgm:prSet presAssocID="{21CF8407-5C81-214F-BAE7-9581147E4070}" presName="Background" presStyleLbl="node1" presStyleIdx="0" presStyleCnt="1" custLinFactNeighborX="-7036" custLinFactNeighborY="-12336"/>
      <dgm:spPr/>
    </dgm:pt>
    <dgm:pt modelId="{54FC53C8-5C62-BA4A-BE65-3333575CD404}" type="pres">
      <dgm:prSet presAssocID="{21CF8407-5C81-214F-BAE7-9581147E4070}" presName="Divider" presStyleLbl="callout" presStyleIdx="0" presStyleCnt="1"/>
      <dgm:spPr/>
    </dgm:pt>
    <dgm:pt modelId="{3D75778B-4437-144F-A41B-E1F8DFF83AD4}" type="pres">
      <dgm:prSet presAssocID="{21CF8407-5C81-214F-BAE7-9581147E4070}" presName="ChildText1" presStyleLbl="revTx" presStyleIdx="0" presStyleCnt="0" custLinFactNeighborX="-147" custLinFactNeighborY="-12529">
        <dgm:presLayoutVars>
          <dgm:chMax val="0"/>
          <dgm:chPref val="0"/>
          <dgm:bulletEnabled val="1"/>
        </dgm:presLayoutVars>
      </dgm:prSet>
      <dgm:spPr/>
    </dgm:pt>
    <dgm:pt modelId="{2C1FDDBB-DDDF-2F40-ACC3-39EA782029B0}" type="pres">
      <dgm:prSet presAssocID="{21CF8407-5C81-214F-BAE7-9581147E4070}" presName="ChildText2" presStyleLbl="revTx" presStyleIdx="0" presStyleCnt="0" custLinFactNeighborX="241" custLinFactNeighborY="-16311">
        <dgm:presLayoutVars>
          <dgm:chMax val="0"/>
          <dgm:chPref val="0"/>
          <dgm:bulletEnabled val="1"/>
        </dgm:presLayoutVars>
      </dgm:prSet>
      <dgm:spPr/>
    </dgm:pt>
    <dgm:pt modelId="{497ADDC0-5185-3A47-97F5-9952A58E111D}" type="pres">
      <dgm:prSet presAssocID="{21CF8407-5C81-214F-BAE7-9581147E4070}" presName="ParentText1" presStyleLbl="revTx" presStyleIdx="0" presStyleCnt="0">
        <dgm:presLayoutVars>
          <dgm:chMax val="1"/>
          <dgm:chPref val="1"/>
        </dgm:presLayoutVars>
      </dgm:prSet>
      <dgm:spPr/>
    </dgm:pt>
    <dgm:pt modelId="{2D60F5DF-1C56-414F-A35F-51482EAF91E6}" type="pres">
      <dgm:prSet presAssocID="{21CF8407-5C81-214F-BAE7-9581147E4070}" presName="ParentShape1" presStyleLbl="alignImgPlace1" presStyleIdx="0" presStyleCnt="2">
        <dgm:presLayoutVars/>
      </dgm:prSet>
      <dgm:spPr/>
    </dgm:pt>
    <dgm:pt modelId="{6950C6DC-08DC-4A4B-85A9-7A13B271BF51}" type="pres">
      <dgm:prSet presAssocID="{21CF8407-5C81-214F-BAE7-9581147E4070}" presName="ParentText2" presStyleLbl="revTx" presStyleIdx="0" presStyleCnt="0">
        <dgm:presLayoutVars>
          <dgm:chMax val="1"/>
          <dgm:chPref val="1"/>
        </dgm:presLayoutVars>
      </dgm:prSet>
      <dgm:spPr/>
    </dgm:pt>
    <dgm:pt modelId="{A5D0452E-3488-4043-A684-D8F296091C0A}" type="pres">
      <dgm:prSet presAssocID="{21CF8407-5C81-214F-BAE7-9581147E4070}" presName="ParentShape2" presStyleLbl="alignImgPlace1" presStyleIdx="1" presStyleCnt="2" custLinFactNeighborX="-69372" custLinFactNeighborY="-12394">
        <dgm:presLayoutVars/>
      </dgm:prSet>
      <dgm:spPr/>
    </dgm:pt>
  </dgm:ptLst>
  <dgm:cxnLst>
    <dgm:cxn modelId="{D97BB300-4405-BC44-A2B7-CDE73C97D89C}" type="presOf" srcId="{FDEE6A5E-5B33-504B-80DF-C8E362271E35}" destId="{3D75778B-4437-144F-A41B-E1F8DFF83AD4}" srcOrd="0" destOrd="4" presId="urn:microsoft.com/office/officeart/2009/3/layout/OpposingIdeas"/>
    <dgm:cxn modelId="{0765B532-19AB-F54B-AECC-04CAD2182541}" type="presOf" srcId="{F0B3EDCE-484C-8047-8063-C8ECF6FAF192}" destId="{2C1FDDBB-DDDF-2F40-ACC3-39EA782029B0}" srcOrd="0" destOrd="2" presId="urn:microsoft.com/office/officeart/2009/3/layout/OpposingIdeas"/>
    <dgm:cxn modelId="{0B281238-2D8D-6A40-AC44-F75548FDE04B}" type="presOf" srcId="{77B5BBC6-53B1-DB43-8AA0-D3B93E88C1E8}" destId="{2C1FDDBB-DDDF-2F40-ACC3-39EA782029B0}" srcOrd="0" destOrd="0" presId="urn:microsoft.com/office/officeart/2009/3/layout/OpposingIdeas"/>
    <dgm:cxn modelId="{67928452-5B26-F44C-B5DA-8248C20A5E88}" srcId="{21CF8407-5C81-214F-BAE7-9581147E4070}" destId="{D9469017-4145-7549-9083-F12C0C2D3B6A}" srcOrd="1" destOrd="0" parTransId="{E937C1C4-B1CA-F641-B11C-1DEF42DC717F}" sibTransId="{F19F77AE-6F1F-C147-B50C-297F9B80D705}"/>
    <dgm:cxn modelId="{06CCFB8C-0995-B241-9755-B86754DA2AFA}" type="presOf" srcId="{D9469017-4145-7549-9083-F12C0C2D3B6A}" destId="{6950C6DC-08DC-4A4B-85A9-7A13B271BF51}" srcOrd="0" destOrd="0" presId="urn:microsoft.com/office/officeart/2009/3/layout/OpposingIdeas"/>
    <dgm:cxn modelId="{D7FE388E-4903-784F-B334-96C1A5E919B3}" type="presOf" srcId="{2E61761C-CF81-2B4E-A569-273DE5910AF3}" destId="{2C1FDDBB-DDDF-2F40-ACC3-39EA782029B0}" srcOrd="0" destOrd="4" presId="urn:microsoft.com/office/officeart/2009/3/layout/OpposingIdeas"/>
    <dgm:cxn modelId="{B950798E-18F9-6E4A-9383-9D01CBF026FF}" srcId="{D9469017-4145-7549-9083-F12C0C2D3B6A}" destId="{F0B3EDCE-484C-8047-8063-C8ECF6FAF192}" srcOrd="2" destOrd="0" parTransId="{596A2427-B967-4F41-A48A-CEE52F822683}" sibTransId="{AF5F3A53-A20F-A745-A7B2-779BEA94C323}"/>
    <dgm:cxn modelId="{4D0C9C90-1C94-F645-B3E5-4F0A2B484F99}" type="presOf" srcId="{C2FC9337-2207-FC44-8F00-29F5BFED8F0E}" destId="{3D75778B-4437-144F-A41B-E1F8DFF83AD4}" srcOrd="0" destOrd="2" presId="urn:microsoft.com/office/officeart/2009/3/layout/OpposingIdeas"/>
    <dgm:cxn modelId="{D766F596-3BE6-0042-8BC2-BD526326E69C}" srcId="{14E83B45-FD73-5148-96CD-C582B084D677}" destId="{8E9921B8-F189-794B-8652-79BACBE2FA2B}" srcOrd="0" destOrd="0" parTransId="{C658378B-56F8-6143-8C28-7408B10D8DDE}" sibTransId="{53BA7FC5-8CDA-C341-9629-6D3380C5C3D8}"/>
    <dgm:cxn modelId="{040579A3-C48B-9C4C-926A-D9BD82F85372}" type="presOf" srcId="{B08F87A9-81AA-4E4E-9791-E0EDB1ACB412}" destId="{3D75778B-4437-144F-A41B-E1F8DFF83AD4}" srcOrd="0" destOrd="3" presId="urn:microsoft.com/office/officeart/2009/3/layout/OpposingIdeas"/>
    <dgm:cxn modelId="{C0B520A5-7BB3-8D4B-9865-C3E99A51ABFA}" srcId="{14E83B45-FD73-5148-96CD-C582B084D677}" destId="{B08F87A9-81AA-4E4E-9791-E0EDB1ACB412}" srcOrd="3" destOrd="0" parTransId="{6D17BD5E-FCF5-984E-B670-4B41275E35B4}" sibTransId="{252B1133-8912-314D-80B6-4BBF5A1C33FD}"/>
    <dgm:cxn modelId="{62E9ACAC-98FF-A745-9F1B-5F7F4FDA2567}" srcId="{14E83B45-FD73-5148-96CD-C582B084D677}" destId="{FC6195F8-0311-5C4C-A2C7-49476E866AB7}" srcOrd="1" destOrd="0" parTransId="{D86A81D3-E0DA-0541-AB50-2A17AA6C5952}" sibTransId="{039373C2-E00D-1149-B721-64AC2CCC95BA}"/>
    <dgm:cxn modelId="{5AA211B5-B109-5041-9FD3-22E60601566B}" type="presOf" srcId="{21CF8407-5C81-214F-BAE7-9581147E4070}" destId="{DA9A35DE-3389-C14F-B603-8525DCAA2392}" srcOrd="0" destOrd="0" presId="urn:microsoft.com/office/officeart/2009/3/layout/OpposingIdeas"/>
    <dgm:cxn modelId="{723717C5-B3AA-4E41-8F59-8B6473A12FCD}" srcId="{D9469017-4145-7549-9083-F12C0C2D3B6A}" destId="{D6BEE495-85E6-024D-8B1D-D7EB159EBDD0}" srcOrd="3" destOrd="0" parTransId="{812EC01B-9A37-5F41-B73B-F2A310822645}" sibTransId="{835458AC-ACCB-9A45-AD82-8C936B70EEFD}"/>
    <dgm:cxn modelId="{9D82A1C5-D4A8-014B-8881-3659EA37CAC2}" type="presOf" srcId="{D6BEE495-85E6-024D-8B1D-D7EB159EBDD0}" destId="{2C1FDDBB-DDDF-2F40-ACC3-39EA782029B0}" srcOrd="0" destOrd="3" presId="urn:microsoft.com/office/officeart/2009/3/layout/OpposingIdeas"/>
    <dgm:cxn modelId="{F3123DCC-2557-E148-9C68-47694DA0FF27}" srcId="{D9469017-4145-7549-9083-F12C0C2D3B6A}" destId="{2E61761C-CF81-2B4E-A569-273DE5910AF3}" srcOrd="4" destOrd="0" parTransId="{4C899F7E-6E3F-8D4A-8AB3-DFF3317C26A0}" sibTransId="{D9BAF432-96F3-9746-9096-403B0AD411E2}"/>
    <dgm:cxn modelId="{C408A8CD-2207-5746-8714-0DB190490235}" srcId="{D9469017-4145-7549-9083-F12C0C2D3B6A}" destId="{41145614-AE84-F64D-A6B7-A9053AEE3707}" srcOrd="1" destOrd="0" parTransId="{9411A21B-7715-FC42-84BB-BDB2DA8537E9}" sibTransId="{FE52AD3E-ED08-324C-869D-C43848C5DB3A}"/>
    <dgm:cxn modelId="{67A23FD0-F4BF-5C4B-8D7A-F329A3292D71}" type="presOf" srcId="{D9469017-4145-7549-9083-F12C0C2D3B6A}" destId="{A5D0452E-3488-4043-A684-D8F296091C0A}" srcOrd="1" destOrd="0" presId="urn:microsoft.com/office/officeart/2009/3/layout/OpposingIdeas"/>
    <dgm:cxn modelId="{C01FCBD3-4373-6D49-B517-8BB059E3128F}" srcId="{14E83B45-FD73-5148-96CD-C582B084D677}" destId="{FDEE6A5E-5B33-504B-80DF-C8E362271E35}" srcOrd="4" destOrd="0" parTransId="{FC64EEE2-D44C-CD4D-B372-4405FBFE0E6B}" sibTransId="{ABC40C5F-7E4D-BF4A-9006-C2FE03B68CD8}"/>
    <dgm:cxn modelId="{150D0CD7-5DB6-4540-81CA-919C027B0B39}" type="presOf" srcId="{8E9921B8-F189-794B-8652-79BACBE2FA2B}" destId="{3D75778B-4437-144F-A41B-E1F8DFF83AD4}" srcOrd="0" destOrd="0" presId="urn:microsoft.com/office/officeart/2009/3/layout/OpposingIdeas"/>
    <dgm:cxn modelId="{A87DA7DA-E58D-A342-80D5-FFB2D23AC219}" type="presOf" srcId="{41145614-AE84-F64D-A6B7-A9053AEE3707}" destId="{2C1FDDBB-DDDF-2F40-ACC3-39EA782029B0}" srcOrd="0" destOrd="1" presId="urn:microsoft.com/office/officeart/2009/3/layout/OpposingIdeas"/>
    <dgm:cxn modelId="{1B841BDE-188C-404E-81B2-1406CBE5EADD}" type="presOf" srcId="{14E83B45-FD73-5148-96CD-C582B084D677}" destId="{2D60F5DF-1C56-414F-A35F-51482EAF91E6}" srcOrd="1" destOrd="0" presId="urn:microsoft.com/office/officeart/2009/3/layout/OpposingIdeas"/>
    <dgm:cxn modelId="{3190C6E1-85AB-2E42-894E-06A050CD9C4D}" type="presOf" srcId="{14E83B45-FD73-5148-96CD-C582B084D677}" destId="{497ADDC0-5185-3A47-97F5-9952A58E111D}" srcOrd="0" destOrd="0" presId="urn:microsoft.com/office/officeart/2009/3/layout/OpposingIdeas"/>
    <dgm:cxn modelId="{372360E2-8108-4C42-84B8-D894DD94B78E}" type="presOf" srcId="{FC6195F8-0311-5C4C-A2C7-49476E866AB7}" destId="{3D75778B-4437-144F-A41B-E1F8DFF83AD4}" srcOrd="0" destOrd="1" presId="urn:microsoft.com/office/officeart/2009/3/layout/OpposingIdeas"/>
    <dgm:cxn modelId="{8BCD51E9-7F5A-9B44-ABE4-34A674AA830B}" srcId="{21CF8407-5C81-214F-BAE7-9581147E4070}" destId="{14E83B45-FD73-5148-96CD-C582B084D677}" srcOrd="0" destOrd="0" parTransId="{8339B974-245E-FD4B-B0C5-B279602C0488}" sibTransId="{133EBF6F-3A71-AC49-98FA-FF2500F0A550}"/>
    <dgm:cxn modelId="{A7A4A2FA-5C1D-604A-AC95-8411293B84E3}" srcId="{14E83B45-FD73-5148-96CD-C582B084D677}" destId="{C2FC9337-2207-FC44-8F00-29F5BFED8F0E}" srcOrd="2" destOrd="0" parTransId="{E2CE8E2C-838D-C844-9BF5-D5B296BBE8EC}" sibTransId="{00DCF374-3562-A146-89D3-B085C4A46254}"/>
    <dgm:cxn modelId="{727B7CFB-B3D0-1E4B-A14E-3F20C86C3B27}" srcId="{D9469017-4145-7549-9083-F12C0C2D3B6A}" destId="{77B5BBC6-53B1-DB43-8AA0-D3B93E88C1E8}" srcOrd="0" destOrd="0" parTransId="{7222A36C-FA6C-1442-BD55-C1BD6C91B225}" sibTransId="{F2D131D4-B742-244C-BC75-B246E9F25224}"/>
    <dgm:cxn modelId="{DB11D9BD-C9A8-154E-8A1A-7D7F3CB0D165}" type="presParOf" srcId="{DA9A35DE-3389-C14F-B603-8525DCAA2392}" destId="{21223493-2A19-304E-AE1B-8DFB8317D28D}" srcOrd="0" destOrd="0" presId="urn:microsoft.com/office/officeart/2009/3/layout/OpposingIdeas"/>
    <dgm:cxn modelId="{56444712-886A-5F4E-BE01-69A6D9767A1A}" type="presParOf" srcId="{DA9A35DE-3389-C14F-B603-8525DCAA2392}" destId="{54FC53C8-5C62-BA4A-BE65-3333575CD404}" srcOrd="1" destOrd="0" presId="urn:microsoft.com/office/officeart/2009/3/layout/OpposingIdeas"/>
    <dgm:cxn modelId="{337AF79F-4291-3343-B40E-A397BD9E493E}" type="presParOf" srcId="{DA9A35DE-3389-C14F-B603-8525DCAA2392}" destId="{3D75778B-4437-144F-A41B-E1F8DFF83AD4}" srcOrd="2" destOrd="0" presId="urn:microsoft.com/office/officeart/2009/3/layout/OpposingIdeas"/>
    <dgm:cxn modelId="{BCCFF09F-5C4A-A245-97B0-E4964D870267}" type="presParOf" srcId="{DA9A35DE-3389-C14F-B603-8525DCAA2392}" destId="{2C1FDDBB-DDDF-2F40-ACC3-39EA782029B0}" srcOrd="3" destOrd="0" presId="urn:microsoft.com/office/officeart/2009/3/layout/OpposingIdeas"/>
    <dgm:cxn modelId="{D3776CD9-69A6-4644-A777-F0ABDF0728C0}" type="presParOf" srcId="{DA9A35DE-3389-C14F-B603-8525DCAA2392}" destId="{497ADDC0-5185-3A47-97F5-9952A58E111D}" srcOrd="4" destOrd="0" presId="urn:microsoft.com/office/officeart/2009/3/layout/OpposingIdeas"/>
    <dgm:cxn modelId="{42CE1797-41EE-6049-9923-7FC1FE6EF803}" type="presParOf" srcId="{DA9A35DE-3389-C14F-B603-8525DCAA2392}" destId="{2D60F5DF-1C56-414F-A35F-51482EAF91E6}" srcOrd="5" destOrd="0" presId="urn:microsoft.com/office/officeart/2009/3/layout/OpposingIdeas"/>
    <dgm:cxn modelId="{2A212AE1-5B75-9D4B-8FCA-680435E72935}" type="presParOf" srcId="{DA9A35DE-3389-C14F-B603-8525DCAA2392}" destId="{6950C6DC-08DC-4A4B-85A9-7A13B271BF51}" srcOrd="6" destOrd="0" presId="urn:microsoft.com/office/officeart/2009/3/layout/OpposingIdeas"/>
    <dgm:cxn modelId="{F44B3B7A-88B2-0045-AABE-75A9D0C1875E}" type="presParOf" srcId="{DA9A35DE-3389-C14F-B603-8525DCAA2392}" destId="{A5D0452E-3488-4043-A684-D8F296091C0A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C989885-5A20-46E1-BA79-DDF746FBCECF}" type="doc">
      <dgm:prSet loTypeId="urn:microsoft.com/office/officeart/2005/8/layout/vList2" loCatId="list" qsTypeId="urn:microsoft.com/office/officeart/2005/8/quickstyle/3d3" qsCatId="3D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0BEDD6E4-CE99-4344-998F-22A64A64B0B9}">
      <dgm:prSet/>
      <dgm:spPr/>
      <dgm:t>
        <a:bodyPr/>
        <a:lstStyle/>
        <a:p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b="1" i="0" baseline="0" dirty="0">
              <a:latin typeface="Arial" panose="020B0604020202020204" pitchFamily="34" charset="0"/>
              <a:cs typeface="Arial" panose="020B0604020202020204" pitchFamily="34" charset="0"/>
            </a:rPr>
            <a:t>768 </a:t>
          </a:r>
          <a:r>
            <a:rPr lang="it-IT" b="1" i="0" baseline="0" dirty="0" err="1">
              <a:latin typeface="Arial" panose="020B0604020202020204" pitchFamily="34" charset="0"/>
              <a:cs typeface="Arial" panose="020B0604020202020204" pitchFamily="34" charset="0"/>
            </a:rPr>
            <a:t>participants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were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analysed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2BB16DC-5A63-46D8-BA8F-CA4378519ED5}" type="parTrans" cxnId="{80DAC10C-E2C1-4739-B6A7-E88364CBBEDD}">
      <dgm:prSet/>
      <dgm:spPr/>
      <dgm:t>
        <a:bodyPr/>
        <a:lstStyle/>
        <a:p>
          <a:endParaRPr lang="en-US"/>
        </a:p>
      </dgm:t>
    </dgm:pt>
    <dgm:pt modelId="{3B364905-5CDD-4555-988F-37E54A644351}" type="sibTrans" cxnId="{80DAC10C-E2C1-4739-B6A7-E88364CBBEDD}">
      <dgm:prSet/>
      <dgm:spPr/>
      <dgm:t>
        <a:bodyPr/>
        <a:lstStyle/>
        <a:p>
          <a:endParaRPr lang="en-US"/>
        </a:p>
      </dgm:t>
    </dgm:pt>
    <dgm:pt modelId="{B4CA3017-3974-42CD-99A3-1A717E361643}">
      <dgm:prSet/>
      <dgm:spPr/>
      <dgm:t>
        <a:bodyPr/>
        <a:lstStyle/>
        <a:p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b="1" i="0" baseline="0" dirty="0">
              <a:latin typeface="Arial" panose="020B0604020202020204" pitchFamily="34" charset="0"/>
              <a:cs typeface="Arial" panose="020B0604020202020204" pitchFamily="34" charset="0"/>
            </a:rPr>
            <a:t>34.9%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were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diagnosed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with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diabetes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D86FC2-D482-4355-8F30-FB54123F3057}" type="parTrans" cxnId="{DB5B528C-CDF1-4C2C-B749-D36EE0697501}">
      <dgm:prSet/>
      <dgm:spPr/>
      <dgm:t>
        <a:bodyPr/>
        <a:lstStyle/>
        <a:p>
          <a:endParaRPr lang="en-US"/>
        </a:p>
      </dgm:t>
    </dgm:pt>
    <dgm:pt modelId="{C5E1E5FD-687A-48A2-BC21-5FB1A2F6C1F6}" type="sibTrans" cxnId="{DB5B528C-CDF1-4C2C-B749-D36EE0697501}">
      <dgm:prSet/>
      <dgm:spPr/>
      <dgm:t>
        <a:bodyPr/>
        <a:lstStyle/>
        <a:p>
          <a:endParaRPr lang="en-US"/>
        </a:p>
      </dgm:t>
    </dgm:pt>
    <dgm:pt modelId="{64749FB2-B25F-4403-82E5-9B5EC798EABF}">
      <dgm:prSet/>
      <dgm:spPr/>
      <dgm:t>
        <a:bodyPr/>
        <a:lstStyle/>
        <a:p>
          <a:r>
            <a:rPr lang="it-IT" b="1" i="0" baseline="0" dirty="0">
              <a:latin typeface="Arial" panose="020B0604020202020204" pitchFamily="34" charset="0"/>
              <a:cs typeface="Arial" panose="020B0604020202020204" pitchFamily="34" charset="0"/>
            </a:rPr>
            <a:t>Age, BMI and </a:t>
          </a:r>
          <a:r>
            <a:rPr lang="it-IT" b="1" i="0" baseline="0" dirty="0" err="1">
              <a:latin typeface="Arial" panose="020B0604020202020204" pitchFamily="34" charset="0"/>
              <a:cs typeface="Arial" panose="020B0604020202020204" pitchFamily="34" charset="0"/>
            </a:rPr>
            <a:t>Glucose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were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the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strongest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factors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associated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with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diabetes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E0381A-1576-46DF-81F7-84F7C7B517A9}" type="parTrans" cxnId="{0943FD7C-8B8B-4866-9E9B-38143F6038FD}">
      <dgm:prSet/>
      <dgm:spPr/>
      <dgm:t>
        <a:bodyPr/>
        <a:lstStyle/>
        <a:p>
          <a:endParaRPr lang="en-US"/>
        </a:p>
      </dgm:t>
    </dgm:pt>
    <dgm:pt modelId="{2663F1BF-B31F-4786-9C38-8C83432185E2}" type="sibTrans" cxnId="{0943FD7C-8B8B-4866-9E9B-38143F6038FD}">
      <dgm:prSet/>
      <dgm:spPr/>
      <dgm:t>
        <a:bodyPr/>
        <a:lstStyle/>
        <a:p>
          <a:endParaRPr lang="en-US"/>
        </a:p>
      </dgm:t>
    </dgm:pt>
    <dgm:pt modelId="{223AC1F7-4898-4D06-9326-CF664E3972B9}">
      <dgm:prSet/>
      <dgm:spPr/>
      <dgm:t>
        <a:bodyPr/>
        <a:lstStyle/>
        <a:p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Significant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differences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were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found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in </a:t>
          </a:r>
          <a:r>
            <a:rPr lang="it-IT" b="1" i="0" baseline="0" dirty="0" err="1">
              <a:latin typeface="Arial" panose="020B0604020202020204" pitchFamily="34" charset="0"/>
              <a:cs typeface="Arial" panose="020B0604020202020204" pitchFamily="34" charset="0"/>
            </a:rPr>
            <a:t>glucose</a:t>
          </a:r>
          <a:r>
            <a:rPr lang="it-IT" b="1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1" i="0" baseline="0" dirty="0" err="1">
              <a:latin typeface="Arial" panose="020B0604020202020204" pitchFamily="34" charset="0"/>
              <a:cs typeface="Arial" panose="020B0604020202020204" pitchFamily="34" charset="0"/>
            </a:rPr>
            <a:t>levels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 and </a:t>
          </a:r>
          <a:r>
            <a:rPr lang="it-IT" b="1" i="0" baseline="0" dirty="0" err="1">
              <a:latin typeface="Arial" panose="020B0604020202020204" pitchFamily="34" charset="0"/>
              <a:cs typeface="Arial" panose="020B0604020202020204" pitchFamily="34" charset="0"/>
            </a:rPr>
            <a:t>number</a:t>
          </a:r>
          <a:r>
            <a:rPr lang="it-IT" b="1" i="0" baseline="0" dirty="0">
              <a:latin typeface="Arial" panose="020B0604020202020204" pitchFamily="34" charset="0"/>
              <a:cs typeface="Arial" panose="020B0604020202020204" pitchFamily="34" charset="0"/>
            </a:rPr>
            <a:t> of </a:t>
          </a:r>
          <a:r>
            <a:rPr lang="it-IT" b="1" i="0" baseline="0" dirty="0" err="1">
              <a:latin typeface="Arial" panose="020B0604020202020204" pitchFamily="34" charset="0"/>
              <a:cs typeface="Arial" panose="020B0604020202020204" pitchFamily="34" charset="0"/>
            </a:rPr>
            <a:t>pregnancies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between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diabetic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and non-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diabetic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individuals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AB38B9E-06D1-4A33-84CE-5DEE180FE709}" type="parTrans" cxnId="{F9F3E71D-38CD-4C2F-B57B-D8F30D065141}">
      <dgm:prSet/>
      <dgm:spPr/>
      <dgm:t>
        <a:bodyPr/>
        <a:lstStyle/>
        <a:p>
          <a:endParaRPr lang="en-US"/>
        </a:p>
      </dgm:t>
    </dgm:pt>
    <dgm:pt modelId="{990D4A68-89F1-405F-B3A8-21D13CA653A1}" type="sibTrans" cxnId="{F9F3E71D-38CD-4C2F-B57B-D8F30D065141}">
      <dgm:prSet/>
      <dgm:spPr/>
      <dgm:t>
        <a:bodyPr/>
        <a:lstStyle/>
        <a:p>
          <a:endParaRPr lang="en-US"/>
        </a:p>
      </dgm:t>
    </dgm:pt>
    <dgm:pt modelId="{D12F11EC-CF35-4F3E-8147-685492F14FD7}">
      <dgm:prSet/>
      <dgm:spPr/>
      <dgm:t>
        <a:bodyPr/>
        <a:lstStyle/>
        <a:p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Logistic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regression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0" i="0" baseline="0" dirty="0" err="1">
              <a:latin typeface="Arial" panose="020B0604020202020204" pitchFamily="34" charset="0"/>
              <a:cs typeface="Arial" panose="020B0604020202020204" pitchFamily="34" charset="0"/>
            </a:rPr>
            <a:t>achieved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b="1" i="0" baseline="0" dirty="0">
              <a:latin typeface="Arial" panose="020B0604020202020204" pitchFamily="34" charset="0"/>
              <a:cs typeface="Arial" panose="020B0604020202020204" pitchFamily="34" charset="0"/>
            </a:rPr>
            <a:t>76.8% </a:t>
          </a:r>
          <a:r>
            <a:rPr lang="it-IT" b="1" i="0" baseline="0" dirty="0" err="1">
              <a:latin typeface="Arial" panose="020B0604020202020204" pitchFamily="34" charset="0"/>
              <a:cs typeface="Arial" panose="020B0604020202020204" pitchFamily="34" charset="0"/>
            </a:rPr>
            <a:t>classification</a:t>
          </a:r>
          <a:r>
            <a:rPr lang="it-IT" b="1" i="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b="1" i="0" baseline="0" dirty="0" err="1">
              <a:latin typeface="Arial" panose="020B0604020202020204" pitchFamily="34" charset="0"/>
              <a:cs typeface="Arial" panose="020B0604020202020204" pitchFamily="34" charset="0"/>
            </a:rPr>
            <a:t>accuracy</a:t>
          </a:r>
          <a:r>
            <a:rPr lang="it-IT" b="0" i="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C6D095-9B48-45C9-8037-F6C6DC28BC9A}" type="parTrans" cxnId="{AFC1A570-9377-4C93-A892-92C2DDC3F21F}">
      <dgm:prSet/>
      <dgm:spPr/>
      <dgm:t>
        <a:bodyPr/>
        <a:lstStyle/>
        <a:p>
          <a:endParaRPr lang="en-US"/>
        </a:p>
      </dgm:t>
    </dgm:pt>
    <dgm:pt modelId="{40BC5E39-0A77-4F13-B12E-CD8040453D11}" type="sibTrans" cxnId="{AFC1A570-9377-4C93-A892-92C2DDC3F21F}">
      <dgm:prSet/>
      <dgm:spPr/>
      <dgm:t>
        <a:bodyPr/>
        <a:lstStyle/>
        <a:p>
          <a:endParaRPr lang="en-US"/>
        </a:p>
      </dgm:t>
    </dgm:pt>
    <dgm:pt modelId="{FCE473F2-9985-4DD3-AF98-B3584B86ADC9}">
      <dgm:prSet/>
      <dgm:spPr>
        <a:noFill/>
      </dgm:spPr>
      <dgm:t>
        <a:bodyPr/>
        <a:lstStyle/>
        <a:p>
          <a:r>
            <a:rPr lang="it-IT" b="1" i="0" baseline="0" dirty="0">
              <a:latin typeface="Arial" panose="020B0604020202020204" pitchFamily="34" charset="0"/>
              <a:cs typeface="Arial" panose="020B0604020202020204" pitchFamily="34" charset="0"/>
            </a:rPr>
            <a:t>Key </a:t>
          </a:r>
          <a:r>
            <a:rPr lang="it-IT" b="1" i="0" baseline="0" dirty="0" err="1">
              <a:latin typeface="Arial" panose="020B0604020202020204" pitchFamily="34" charset="0"/>
              <a:cs typeface="Arial" panose="020B0604020202020204" pitchFamily="34" charset="0"/>
            </a:rPr>
            <a:t>Findings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49BA2C9-5006-4CDC-AC88-1A71FF24787A}" type="sibTrans" cxnId="{86CD783C-7AED-4C36-A724-8E9CE314C924}">
      <dgm:prSet/>
      <dgm:spPr/>
      <dgm:t>
        <a:bodyPr/>
        <a:lstStyle/>
        <a:p>
          <a:endParaRPr lang="en-US"/>
        </a:p>
      </dgm:t>
    </dgm:pt>
    <dgm:pt modelId="{E5D27B92-568B-4C0A-A1DF-8C34E2151A0B}" type="parTrans" cxnId="{86CD783C-7AED-4C36-A724-8E9CE314C924}">
      <dgm:prSet/>
      <dgm:spPr/>
      <dgm:t>
        <a:bodyPr/>
        <a:lstStyle/>
        <a:p>
          <a:endParaRPr lang="en-US"/>
        </a:p>
      </dgm:t>
    </dgm:pt>
    <dgm:pt modelId="{128FABF4-DBBD-B944-BFEC-079153CD4510}" type="pres">
      <dgm:prSet presAssocID="{7C989885-5A20-46E1-BA79-DDF746FBCECF}" presName="linear" presStyleCnt="0">
        <dgm:presLayoutVars>
          <dgm:animLvl val="lvl"/>
          <dgm:resizeHandles val="exact"/>
        </dgm:presLayoutVars>
      </dgm:prSet>
      <dgm:spPr/>
    </dgm:pt>
    <dgm:pt modelId="{042EE050-01E1-7244-BAAE-288CA8977C7C}" type="pres">
      <dgm:prSet presAssocID="{FCE473F2-9985-4DD3-AF98-B3584B86ADC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4BEADA5-1419-7645-9200-09A010BCCA0A}" type="pres">
      <dgm:prSet presAssocID="{F49BA2C9-5006-4CDC-AC88-1A71FF24787A}" presName="spacer" presStyleCnt="0"/>
      <dgm:spPr/>
    </dgm:pt>
    <dgm:pt modelId="{9896CE08-C7C7-354E-91A4-F89D6C6395F0}" type="pres">
      <dgm:prSet presAssocID="{0BEDD6E4-CE99-4344-998F-22A64A64B0B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4479E4C-C205-C34F-81F1-A68AF48DD5BA}" type="pres">
      <dgm:prSet presAssocID="{3B364905-5CDD-4555-988F-37E54A644351}" presName="spacer" presStyleCnt="0"/>
      <dgm:spPr/>
    </dgm:pt>
    <dgm:pt modelId="{FA82D0B2-DB4C-A74E-A207-1BDF18288589}" type="pres">
      <dgm:prSet presAssocID="{B4CA3017-3974-42CD-99A3-1A717E36164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2A6A88B-0018-0046-A2A8-423F87845B3E}" type="pres">
      <dgm:prSet presAssocID="{C5E1E5FD-687A-48A2-BC21-5FB1A2F6C1F6}" presName="spacer" presStyleCnt="0"/>
      <dgm:spPr/>
    </dgm:pt>
    <dgm:pt modelId="{7FC8DD25-7B95-8940-95B1-0030734011B0}" type="pres">
      <dgm:prSet presAssocID="{64749FB2-B25F-4403-82E5-9B5EC798EAB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75A39F6-05B4-624A-BE4E-EB856A4E2F9E}" type="pres">
      <dgm:prSet presAssocID="{2663F1BF-B31F-4786-9C38-8C83432185E2}" presName="spacer" presStyleCnt="0"/>
      <dgm:spPr/>
    </dgm:pt>
    <dgm:pt modelId="{65D66A8F-E930-3448-A252-1E5DC30FCE50}" type="pres">
      <dgm:prSet presAssocID="{223AC1F7-4898-4D06-9326-CF664E3972B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E9F2584-564C-0348-949E-BDC767AA2222}" type="pres">
      <dgm:prSet presAssocID="{990D4A68-89F1-405F-B3A8-21D13CA653A1}" presName="spacer" presStyleCnt="0"/>
      <dgm:spPr/>
    </dgm:pt>
    <dgm:pt modelId="{56C764E2-FDC8-354E-B62D-894E635E67F6}" type="pres">
      <dgm:prSet presAssocID="{D12F11EC-CF35-4F3E-8147-685492F14FD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0DAC10C-E2C1-4739-B6A7-E88364CBBEDD}" srcId="{7C989885-5A20-46E1-BA79-DDF746FBCECF}" destId="{0BEDD6E4-CE99-4344-998F-22A64A64B0B9}" srcOrd="1" destOrd="0" parTransId="{A2BB16DC-5A63-46D8-BA8F-CA4378519ED5}" sibTransId="{3B364905-5CDD-4555-988F-37E54A644351}"/>
    <dgm:cxn modelId="{F9F3E71D-38CD-4C2F-B57B-D8F30D065141}" srcId="{7C989885-5A20-46E1-BA79-DDF746FBCECF}" destId="{223AC1F7-4898-4D06-9326-CF664E3972B9}" srcOrd="4" destOrd="0" parTransId="{BAB38B9E-06D1-4A33-84CE-5DEE180FE709}" sibTransId="{990D4A68-89F1-405F-B3A8-21D13CA653A1}"/>
    <dgm:cxn modelId="{6510D53B-819F-C545-A844-457ADF503BC7}" type="presOf" srcId="{223AC1F7-4898-4D06-9326-CF664E3972B9}" destId="{65D66A8F-E930-3448-A252-1E5DC30FCE50}" srcOrd="0" destOrd="0" presId="urn:microsoft.com/office/officeart/2005/8/layout/vList2"/>
    <dgm:cxn modelId="{86CD783C-7AED-4C36-A724-8E9CE314C924}" srcId="{7C989885-5A20-46E1-BA79-DDF746FBCECF}" destId="{FCE473F2-9985-4DD3-AF98-B3584B86ADC9}" srcOrd="0" destOrd="0" parTransId="{E5D27B92-568B-4C0A-A1DF-8C34E2151A0B}" sibTransId="{F49BA2C9-5006-4CDC-AC88-1A71FF24787A}"/>
    <dgm:cxn modelId="{66356946-A6E3-FA45-A552-CFA48A1B95A6}" type="presOf" srcId="{0BEDD6E4-CE99-4344-998F-22A64A64B0B9}" destId="{9896CE08-C7C7-354E-91A4-F89D6C6395F0}" srcOrd="0" destOrd="0" presId="urn:microsoft.com/office/officeart/2005/8/layout/vList2"/>
    <dgm:cxn modelId="{AFC1A570-9377-4C93-A892-92C2DDC3F21F}" srcId="{7C989885-5A20-46E1-BA79-DDF746FBCECF}" destId="{D12F11EC-CF35-4F3E-8147-685492F14FD7}" srcOrd="5" destOrd="0" parTransId="{03C6D095-9B48-45C9-8037-F6C6DC28BC9A}" sibTransId="{40BC5E39-0A77-4F13-B12E-CD8040453D11}"/>
    <dgm:cxn modelId="{0943FD7C-8B8B-4866-9E9B-38143F6038FD}" srcId="{7C989885-5A20-46E1-BA79-DDF746FBCECF}" destId="{64749FB2-B25F-4403-82E5-9B5EC798EABF}" srcOrd="3" destOrd="0" parTransId="{3BE0381A-1576-46DF-81F7-84F7C7B517A9}" sibTransId="{2663F1BF-B31F-4786-9C38-8C83432185E2}"/>
    <dgm:cxn modelId="{05F0C77F-6996-DD41-8D83-9D06EED59442}" type="presOf" srcId="{FCE473F2-9985-4DD3-AF98-B3584B86ADC9}" destId="{042EE050-01E1-7244-BAAE-288CA8977C7C}" srcOrd="0" destOrd="0" presId="urn:microsoft.com/office/officeart/2005/8/layout/vList2"/>
    <dgm:cxn modelId="{DB5B528C-CDF1-4C2C-B749-D36EE0697501}" srcId="{7C989885-5A20-46E1-BA79-DDF746FBCECF}" destId="{B4CA3017-3974-42CD-99A3-1A717E361643}" srcOrd="2" destOrd="0" parTransId="{68D86FC2-D482-4355-8F30-FB54123F3057}" sibTransId="{C5E1E5FD-687A-48A2-BC21-5FB1A2F6C1F6}"/>
    <dgm:cxn modelId="{C5D84693-4533-AF49-BA69-9A02F5DD5073}" type="presOf" srcId="{B4CA3017-3974-42CD-99A3-1A717E361643}" destId="{FA82D0B2-DB4C-A74E-A207-1BDF18288589}" srcOrd="0" destOrd="0" presId="urn:microsoft.com/office/officeart/2005/8/layout/vList2"/>
    <dgm:cxn modelId="{B0B66EDF-2396-B741-BE6C-F6BC4A8619DF}" type="presOf" srcId="{D12F11EC-CF35-4F3E-8147-685492F14FD7}" destId="{56C764E2-FDC8-354E-B62D-894E635E67F6}" srcOrd="0" destOrd="0" presId="urn:microsoft.com/office/officeart/2005/8/layout/vList2"/>
    <dgm:cxn modelId="{02DCB2EA-6238-8144-99F0-DB8FE3A11590}" type="presOf" srcId="{7C989885-5A20-46E1-BA79-DDF746FBCECF}" destId="{128FABF4-DBBD-B944-BFEC-079153CD4510}" srcOrd="0" destOrd="0" presId="urn:microsoft.com/office/officeart/2005/8/layout/vList2"/>
    <dgm:cxn modelId="{863FF6F2-6769-C442-B805-21A39174468E}" type="presOf" srcId="{64749FB2-B25F-4403-82E5-9B5EC798EABF}" destId="{7FC8DD25-7B95-8940-95B1-0030734011B0}" srcOrd="0" destOrd="0" presId="urn:microsoft.com/office/officeart/2005/8/layout/vList2"/>
    <dgm:cxn modelId="{DA5E4491-0451-0940-92B5-410AA4AECB51}" type="presParOf" srcId="{128FABF4-DBBD-B944-BFEC-079153CD4510}" destId="{042EE050-01E1-7244-BAAE-288CA8977C7C}" srcOrd="0" destOrd="0" presId="urn:microsoft.com/office/officeart/2005/8/layout/vList2"/>
    <dgm:cxn modelId="{CF80FBD6-81B8-6840-AFF8-4328F301C9D6}" type="presParOf" srcId="{128FABF4-DBBD-B944-BFEC-079153CD4510}" destId="{E4BEADA5-1419-7645-9200-09A010BCCA0A}" srcOrd="1" destOrd="0" presId="urn:microsoft.com/office/officeart/2005/8/layout/vList2"/>
    <dgm:cxn modelId="{941E408C-3ED1-7449-8346-1CB6E3B2CFC6}" type="presParOf" srcId="{128FABF4-DBBD-B944-BFEC-079153CD4510}" destId="{9896CE08-C7C7-354E-91A4-F89D6C6395F0}" srcOrd="2" destOrd="0" presId="urn:microsoft.com/office/officeart/2005/8/layout/vList2"/>
    <dgm:cxn modelId="{75AE81BA-67CD-8441-8EF4-6CCF17C93CBB}" type="presParOf" srcId="{128FABF4-DBBD-B944-BFEC-079153CD4510}" destId="{C4479E4C-C205-C34F-81F1-A68AF48DD5BA}" srcOrd="3" destOrd="0" presId="urn:microsoft.com/office/officeart/2005/8/layout/vList2"/>
    <dgm:cxn modelId="{BC8F48D5-C8A7-9D4B-8335-3C1EDC3CB7C5}" type="presParOf" srcId="{128FABF4-DBBD-B944-BFEC-079153CD4510}" destId="{FA82D0B2-DB4C-A74E-A207-1BDF18288589}" srcOrd="4" destOrd="0" presId="urn:microsoft.com/office/officeart/2005/8/layout/vList2"/>
    <dgm:cxn modelId="{D0D96DA5-7743-844E-BF09-63DDBCB61CE8}" type="presParOf" srcId="{128FABF4-DBBD-B944-BFEC-079153CD4510}" destId="{F2A6A88B-0018-0046-A2A8-423F87845B3E}" srcOrd="5" destOrd="0" presId="urn:microsoft.com/office/officeart/2005/8/layout/vList2"/>
    <dgm:cxn modelId="{B75FD259-5502-0D42-894E-D1383E627483}" type="presParOf" srcId="{128FABF4-DBBD-B944-BFEC-079153CD4510}" destId="{7FC8DD25-7B95-8940-95B1-0030734011B0}" srcOrd="6" destOrd="0" presId="urn:microsoft.com/office/officeart/2005/8/layout/vList2"/>
    <dgm:cxn modelId="{97D044A5-D337-3748-AFDC-81047E01ED62}" type="presParOf" srcId="{128FABF4-DBBD-B944-BFEC-079153CD4510}" destId="{775A39F6-05B4-624A-BE4E-EB856A4E2F9E}" srcOrd="7" destOrd="0" presId="urn:microsoft.com/office/officeart/2005/8/layout/vList2"/>
    <dgm:cxn modelId="{F8E59AA7-5855-0545-8BD7-C40AA1213F32}" type="presParOf" srcId="{128FABF4-DBBD-B944-BFEC-079153CD4510}" destId="{65D66A8F-E930-3448-A252-1E5DC30FCE50}" srcOrd="8" destOrd="0" presId="urn:microsoft.com/office/officeart/2005/8/layout/vList2"/>
    <dgm:cxn modelId="{F57074D0-D89A-234E-888A-4593FC16C75B}" type="presParOf" srcId="{128FABF4-DBBD-B944-BFEC-079153CD4510}" destId="{8E9F2584-564C-0348-949E-BDC767AA2222}" srcOrd="9" destOrd="0" presId="urn:microsoft.com/office/officeart/2005/8/layout/vList2"/>
    <dgm:cxn modelId="{A97F5455-6196-F74B-A47F-F780B3713E3F}" type="presParOf" srcId="{128FABF4-DBBD-B944-BFEC-079153CD4510}" destId="{56C764E2-FDC8-354E-B62D-894E635E67F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E6B77E-3EFF-0746-9910-46D00ADFBE26}">
      <dsp:nvSpPr>
        <dsp:cNvPr id="0" name=""/>
        <dsp:cNvSpPr/>
      </dsp:nvSpPr>
      <dsp:spPr>
        <a:xfrm>
          <a:off x="34298" y="29244"/>
          <a:ext cx="2172307" cy="501926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>
              <a:latin typeface="Arial" panose="020B0604020202020204" pitchFamily="34" charset="0"/>
              <a:cs typeface="Arial" panose="020B0604020202020204" pitchFamily="34" charset="0"/>
            </a:rPr>
            <a:t>Import Dataset</a:t>
          </a:r>
        </a:p>
      </dsp:txBody>
      <dsp:txXfrm>
        <a:off x="58800" y="53746"/>
        <a:ext cx="2123303" cy="452922"/>
      </dsp:txXfrm>
    </dsp:sp>
    <dsp:sp modelId="{F14A8ACD-15F7-4B4D-AAEE-3F0949857893}">
      <dsp:nvSpPr>
        <dsp:cNvPr id="0" name=""/>
        <dsp:cNvSpPr/>
      </dsp:nvSpPr>
      <dsp:spPr>
        <a:xfrm>
          <a:off x="682645" y="544802"/>
          <a:ext cx="2172307" cy="501926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132329"/>
                <a:satOff val="-7925"/>
                <a:lumOff val="1450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50000"/>
                <a:hueOff val="-132329"/>
                <a:satOff val="-7925"/>
                <a:lumOff val="1450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50000"/>
                <a:hueOff val="-132329"/>
                <a:satOff val="-7925"/>
                <a:lumOff val="1450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>
              <a:latin typeface="Arial" panose="020B0604020202020204" pitchFamily="34" charset="0"/>
              <a:cs typeface="Arial" panose="020B0604020202020204" pitchFamily="34" charset="0"/>
            </a:rPr>
            <a:t>Data </a:t>
          </a:r>
          <a:r>
            <a:rPr lang="it-IT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exploration</a:t>
          </a:r>
          <a:endParaRPr lang="it-IT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7147" y="569304"/>
        <a:ext cx="2123303" cy="452922"/>
      </dsp:txXfrm>
    </dsp:sp>
    <dsp:sp modelId="{394CD275-00F6-7D42-AB3E-E3D7B6284560}">
      <dsp:nvSpPr>
        <dsp:cNvPr id="0" name=""/>
        <dsp:cNvSpPr/>
      </dsp:nvSpPr>
      <dsp:spPr>
        <a:xfrm>
          <a:off x="1305032" y="1060305"/>
          <a:ext cx="2172307" cy="501926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264658"/>
                <a:satOff val="-15849"/>
                <a:lumOff val="290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50000"/>
                <a:hueOff val="-264658"/>
                <a:satOff val="-15849"/>
                <a:lumOff val="290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50000"/>
                <a:hueOff val="-264658"/>
                <a:satOff val="-15849"/>
                <a:lumOff val="290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err="1">
              <a:latin typeface="Arial" panose="020B0604020202020204" pitchFamily="34" charset="0"/>
              <a:cs typeface="Arial" panose="020B0604020202020204" pitchFamily="34" charset="0"/>
            </a:rPr>
            <a:t>Descriptive</a:t>
          </a:r>
          <a:r>
            <a:rPr lang="it-IT" sz="15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500" kern="1200" err="1">
              <a:latin typeface="Arial" panose="020B0604020202020204" pitchFamily="34" charset="0"/>
              <a:cs typeface="Arial" panose="020B0604020202020204" pitchFamily="34" charset="0"/>
            </a:rPr>
            <a:t>Statistics</a:t>
          </a:r>
          <a:endParaRPr lang="it-IT" sz="1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29534" y="1084807"/>
        <a:ext cx="2123303" cy="452922"/>
      </dsp:txXfrm>
    </dsp:sp>
    <dsp:sp modelId="{A1593DC9-C55A-6149-A676-0749FE4E42A8}">
      <dsp:nvSpPr>
        <dsp:cNvPr id="0" name=""/>
        <dsp:cNvSpPr/>
      </dsp:nvSpPr>
      <dsp:spPr>
        <a:xfrm>
          <a:off x="1930939" y="1581380"/>
          <a:ext cx="2172307" cy="501926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396986"/>
                <a:satOff val="-23774"/>
                <a:lumOff val="4350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50000"/>
                <a:hueOff val="-396986"/>
                <a:satOff val="-23774"/>
                <a:lumOff val="4350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50000"/>
                <a:hueOff val="-396986"/>
                <a:satOff val="-23774"/>
                <a:lumOff val="4350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err="1">
              <a:latin typeface="Arial" panose="020B0604020202020204" pitchFamily="34" charset="0"/>
              <a:cs typeface="Arial" panose="020B0604020202020204" pitchFamily="34" charset="0"/>
            </a:rPr>
            <a:t>Exploratory</a:t>
          </a:r>
          <a:r>
            <a:rPr lang="it-IT" sz="15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500" kern="1200" err="1">
              <a:latin typeface="Arial" panose="020B0604020202020204" pitchFamily="34" charset="0"/>
              <a:cs typeface="Arial" panose="020B0604020202020204" pitchFamily="34" charset="0"/>
            </a:rPr>
            <a:t>Visualisation</a:t>
          </a:r>
          <a:endParaRPr lang="it-IT" sz="1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55441" y="1605882"/>
        <a:ext cx="2123303" cy="452922"/>
      </dsp:txXfrm>
    </dsp:sp>
    <dsp:sp modelId="{637E64B8-DF2C-7846-BEC1-CFF37EE0520F}">
      <dsp:nvSpPr>
        <dsp:cNvPr id="0" name=""/>
        <dsp:cNvSpPr/>
      </dsp:nvSpPr>
      <dsp:spPr>
        <a:xfrm>
          <a:off x="2731348" y="2111439"/>
          <a:ext cx="2172307" cy="501926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396986"/>
                <a:satOff val="-23774"/>
                <a:lumOff val="4350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50000"/>
                <a:hueOff val="-396986"/>
                <a:satOff val="-23774"/>
                <a:lumOff val="4350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50000"/>
                <a:hueOff val="-396986"/>
                <a:satOff val="-23774"/>
                <a:lumOff val="4350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Hypothesis</a:t>
          </a:r>
          <a:r>
            <a:rPr lang="it-IT" sz="1500" kern="1200" dirty="0">
              <a:latin typeface="Arial" panose="020B0604020202020204" pitchFamily="34" charset="0"/>
              <a:cs typeface="Arial" panose="020B0604020202020204" pitchFamily="34" charset="0"/>
            </a:rPr>
            <a:t> Testing</a:t>
          </a:r>
        </a:p>
      </dsp:txBody>
      <dsp:txXfrm>
        <a:off x="2755850" y="2135941"/>
        <a:ext cx="2123303" cy="452922"/>
      </dsp:txXfrm>
    </dsp:sp>
    <dsp:sp modelId="{9B800DD5-8023-9D45-BA5E-0B323D0ED538}">
      <dsp:nvSpPr>
        <dsp:cNvPr id="0" name=""/>
        <dsp:cNvSpPr/>
      </dsp:nvSpPr>
      <dsp:spPr>
        <a:xfrm>
          <a:off x="3364814" y="2641528"/>
          <a:ext cx="2172307" cy="501926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264658"/>
                <a:satOff val="-15849"/>
                <a:lumOff val="290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50000"/>
                <a:hueOff val="-264658"/>
                <a:satOff val="-15849"/>
                <a:lumOff val="290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50000"/>
                <a:hueOff val="-264658"/>
                <a:satOff val="-15849"/>
                <a:lumOff val="290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Regression</a:t>
          </a:r>
          <a:r>
            <a:rPr lang="it-IT" sz="1500" kern="1200" dirty="0">
              <a:latin typeface="Arial" panose="020B0604020202020204" pitchFamily="34" charset="0"/>
              <a:cs typeface="Arial" panose="020B0604020202020204" pitchFamily="34" charset="0"/>
            </a:rPr>
            <a:t> Models</a:t>
          </a:r>
        </a:p>
      </dsp:txBody>
      <dsp:txXfrm>
        <a:off x="3389316" y="2666030"/>
        <a:ext cx="2123303" cy="452922"/>
      </dsp:txXfrm>
    </dsp:sp>
    <dsp:sp modelId="{252B60E7-7D66-FA4B-94FB-503A709D3335}">
      <dsp:nvSpPr>
        <dsp:cNvPr id="0" name=""/>
        <dsp:cNvSpPr/>
      </dsp:nvSpPr>
      <dsp:spPr>
        <a:xfrm>
          <a:off x="3859036" y="3162760"/>
          <a:ext cx="2172307" cy="501926"/>
        </a:xfrm>
        <a:prstGeom prst="roundRect">
          <a:avLst/>
        </a:prstGeom>
        <a:gradFill rotWithShape="0">
          <a:gsLst>
            <a:gs pos="0">
              <a:schemeClr val="accent2">
                <a:shade val="50000"/>
                <a:hueOff val="-132329"/>
                <a:satOff val="-7925"/>
                <a:lumOff val="1450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50000"/>
                <a:hueOff val="-132329"/>
                <a:satOff val="-7925"/>
                <a:lumOff val="1450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50000"/>
                <a:hueOff val="-132329"/>
                <a:satOff val="-7925"/>
                <a:lumOff val="1450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>
              <a:latin typeface="Arial" panose="020B0604020202020204" pitchFamily="34" charset="0"/>
              <a:cs typeface="Arial" panose="020B0604020202020204" pitchFamily="34" charset="0"/>
            </a:rPr>
            <a:t>Model Evaluation</a:t>
          </a:r>
        </a:p>
      </dsp:txBody>
      <dsp:txXfrm>
        <a:off x="3883538" y="3187262"/>
        <a:ext cx="2123303" cy="4529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E18E50-583D-184F-8BD7-34AA6888C915}">
      <dsp:nvSpPr>
        <dsp:cNvPr id="0" name=""/>
        <dsp:cNvSpPr/>
      </dsp:nvSpPr>
      <dsp:spPr>
        <a:xfrm>
          <a:off x="0" y="14622"/>
          <a:ext cx="6138862" cy="8365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i="0" kern="1200" baseline="0">
              <a:latin typeface="Arial" panose="020B0604020202020204" pitchFamily="34" charset="0"/>
              <a:cs typeface="Arial" panose="020B0604020202020204" pitchFamily="34" charset="0"/>
            </a:rPr>
            <a:t>Key Findings</a:t>
          </a:r>
          <a:endParaRPr lang="en-US" sz="2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837" y="55459"/>
        <a:ext cx="6057188" cy="754876"/>
      </dsp:txXfrm>
    </dsp:sp>
    <dsp:sp modelId="{2322DA75-2CBD-2748-BA9A-5FBFC6D932A9}">
      <dsp:nvSpPr>
        <dsp:cNvPr id="0" name=""/>
        <dsp:cNvSpPr/>
      </dsp:nvSpPr>
      <dsp:spPr>
        <a:xfrm>
          <a:off x="0" y="945940"/>
          <a:ext cx="6138862" cy="8365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it-IT" sz="22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Participants</a:t>
          </a: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with </a:t>
          </a:r>
          <a:r>
            <a:rPr lang="it-IT" sz="22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diabetes</a:t>
          </a: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22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had</a:t>
          </a: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22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substantially</a:t>
          </a: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22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higher</a:t>
          </a: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22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glucose</a:t>
          </a: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22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levels</a:t>
          </a: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837" y="986777"/>
        <a:ext cx="6057188" cy="754876"/>
      </dsp:txXfrm>
    </dsp:sp>
    <dsp:sp modelId="{9BBAB39E-B4C7-C749-B8E0-37F67F606120}">
      <dsp:nvSpPr>
        <dsp:cNvPr id="0" name=""/>
        <dsp:cNvSpPr/>
      </dsp:nvSpPr>
      <dsp:spPr>
        <a:xfrm>
          <a:off x="0" y="1814442"/>
          <a:ext cx="6138862" cy="8365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0" i="0" kern="1200" baseline="0">
              <a:latin typeface="Arial" panose="020B0604020202020204" pitchFamily="34" charset="0"/>
              <a:cs typeface="Arial" panose="020B0604020202020204" pitchFamily="34" charset="0"/>
            </a:rPr>
            <a:t>• Mean glucose increased from </a:t>
          </a:r>
          <a:r>
            <a:rPr lang="it-IT" sz="2200" b="1" i="0" kern="1200" baseline="0">
              <a:latin typeface="Arial" panose="020B0604020202020204" pitchFamily="34" charset="0"/>
              <a:cs typeface="Arial" panose="020B0604020202020204" pitchFamily="34" charset="0"/>
            </a:rPr>
            <a:t>110</a:t>
          </a:r>
          <a:r>
            <a:rPr lang="it-IT" sz="2200" b="0" i="0" kern="1200" baseline="0">
              <a:latin typeface="Arial" panose="020B0604020202020204" pitchFamily="34" charset="0"/>
              <a:cs typeface="Arial" panose="020B0604020202020204" pitchFamily="34" charset="0"/>
            </a:rPr>
            <a:t> to </a:t>
          </a:r>
          <a:r>
            <a:rPr lang="it-IT" sz="2200" b="1" i="0" kern="1200" baseline="0">
              <a:latin typeface="Arial" panose="020B0604020202020204" pitchFamily="34" charset="0"/>
              <a:cs typeface="Arial" panose="020B0604020202020204" pitchFamily="34" charset="0"/>
            </a:rPr>
            <a:t>141 mg/dL</a:t>
          </a:r>
          <a:r>
            <a:rPr lang="it-IT" sz="2200" b="0" i="0" kern="1200" baseline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2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837" y="1855279"/>
        <a:ext cx="6057188" cy="754876"/>
      </dsp:txXfrm>
    </dsp:sp>
    <dsp:sp modelId="{0C400CBB-8AEF-7F48-8E3A-793ED7324DFA}">
      <dsp:nvSpPr>
        <dsp:cNvPr id="0" name=""/>
        <dsp:cNvSpPr/>
      </dsp:nvSpPr>
      <dsp:spPr>
        <a:xfrm>
          <a:off x="0" y="2714352"/>
          <a:ext cx="6138862" cy="8365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• The </a:t>
          </a:r>
          <a:r>
            <a:rPr lang="it-IT" sz="22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difference</a:t>
          </a: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22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was</a:t>
          </a: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22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statistically</a:t>
          </a: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22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significant</a:t>
          </a: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it-IT" sz="2200" b="1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it-IT" sz="2200" b="1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&lt; 0.001</a:t>
          </a:r>
          <a:r>
            <a:rPr lang="it-IT" sz="22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).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837" y="2755189"/>
        <a:ext cx="6057188" cy="7548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A55E5-B9C1-EA49-A037-7912F3540997}">
      <dsp:nvSpPr>
        <dsp:cNvPr id="0" name=""/>
        <dsp:cNvSpPr/>
      </dsp:nvSpPr>
      <dsp:spPr>
        <a:xfrm>
          <a:off x="0" y="1502"/>
          <a:ext cx="59442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7509A-22BA-E94D-8415-6D4DCDFD0654}">
      <dsp:nvSpPr>
        <dsp:cNvPr id="0" name=""/>
        <dsp:cNvSpPr/>
      </dsp:nvSpPr>
      <dsp:spPr>
        <a:xfrm>
          <a:off x="0" y="1502"/>
          <a:ext cx="5944256" cy="51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Key </a:t>
          </a:r>
          <a:r>
            <a:rPr lang="it-IT" sz="1500" b="1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Findings</a:t>
          </a:r>
          <a:endParaRPr lang="en-US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502"/>
        <a:ext cx="5944256" cy="512460"/>
      </dsp:txXfrm>
    </dsp:sp>
    <dsp:sp modelId="{A6BACA6F-A30A-8E4A-81A2-E9ECD24D2FF1}">
      <dsp:nvSpPr>
        <dsp:cNvPr id="0" name=""/>
        <dsp:cNvSpPr/>
      </dsp:nvSpPr>
      <dsp:spPr>
        <a:xfrm>
          <a:off x="0" y="513962"/>
          <a:ext cx="59442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ED833-68AB-8F41-AEC6-D12A40A05920}">
      <dsp:nvSpPr>
        <dsp:cNvPr id="0" name=""/>
        <dsp:cNvSpPr/>
      </dsp:nvSpPr>
      <dsp:spPr>
        <a:xfrm>
          <a:off x="0" y="513962"/>
          <a:ext cx="5944256" cy="51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i="0" kern="1200" baseline="0">
              <a:latin typeface="Arial" panose="020B0604020202020204" pitchFamily="34" charset="0"/>
              <a:cs typeface="Arial" panose="020B0604020202020204" pitchFamily="34" charset="0"/>
            </a:rPr>
            <a:t>Diabetes prevalence increased with </a:t>
          </a:r>
          <a:r>
            <a:rPr lang="it-IT" sz="1500" b="1" i="0" kern="1200" baseline="0">
              <a:latin typeface="Arial" panose="020B0604020202020204" pitchFamily="34" charset="0"/>
              <a:cs typeface="Arial" panose="020B0604020202020204" pitchFamily="34" charset="0"/>
            </a:rPr>
            <a:t>age</a:t>
          </a:r>
          <a:r>
            <a:rPr lang="it-IT" sz="1500" b="0" i="0" kern="1200" baseline="0">
              <a:latin typeface="Arial" panose="020B0604020202020204" pitchFamily="34" charset="0"/>
              <a:cs typeface="Arial" panose="020B0604020202020204" pitchFamily="34" charset="0"/>
            </a:rPr>
            <a:t> and </a:t>
          </a:r>
          <a:r>
            <a:rPr lang="it-IT" sz="1500" b="1" i="0" kern="1200" baseline="0">
              <a:latin typeface="Arial" panose="020B0604020202020204" pitchFamily="34" charset="0"/>
              <a:cs typeface="Arial" panose="020B0604020202020204" pitchFamily="34" charset="0"/>
            </a:rPr>
            <a:t>BMI</a:t>
          </a:r>
          <a:r>
            <a:rPr lang="it-IT" sz="1500" b="0" i="0" kern="1200" baseline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513962"/>
        <a:ext cx="5944256" cy="512460"/>
      </dsp:txXfrm>
    </dsp:sp>
    <dsp:sp modelId="{281777EA-DD32-4549-B995-7E173473D576}">
      <dsp:nvSpPr>
        <dsp:cNvPr id="0" name=""/>
        <dsp:cNvSpPr/>
      </dsp:nvSpPr>
      <dsp:spPr>
        <a:xfrm>
          <a:off x="0" y="1026422"/>
          <a:ext cx="59442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7141A-8A41-9248-B45D-1BC97718211A}">
      <dsp:nvSpPr>
        <dsp:cNvPr id="0" name=""/>
        <dsp:cNvSpPr/>
      </dsp:nvSpPr>
      <dsp:spPr>
        <a:xfrm>
          <a:off x="0" y="1026422"/>
          <a:ext cx="5944256" cy="51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i="0" kern="1200" baseline="0">
              <a:latin typeface="Arial" panose="020B0604020202020204" pitchFamily="34" charset="0"/>
              <a:cs typeface="Arial" panose="020B0604020202020204" pitchFamily="34" charset="0"/>
            </a:rPr>
            <a:t>Individuals with diabetes had significantly </a:t>
          </a:r>
          <a:r>
            <a:rPr lang="it-IT" sz="1500" b="1" i="0" kern="1200" baseline="0">
              <a:latin typeface="Arial" panose="020B0604020202020204" pitchFamily="34" charset="0"/>
              <a:cs typeface="Arial" panose="020B0604020202020204" pitchFamily="34" charset="0"/>
            </a:rPr>
            <a:t>higher glucose levels</a:t>
          </a:r>
          <a:r>
            <a:rPr lang="it-IT" sz="1500" b="0" i="0" kern="1200" baseline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026422"/>
        <a:ext cx="5944256" cy="512460"/>
      </dsp:txXfrm>
    </dsp:sp>
    <dsp:sp modelId="{27834EF2-D4EE-6143-9CFD-B91DA92BEF08}">
      <dsp:nvSpPr>
        <dsp:cNvPr id="0" name=""/>
        <dsp:cNvSpPr/>
      </dsp:nvSpPr>
      <dsp:spPr>
        <a:xfrm>
          <a:off x="0" y="1538883"/>
          <a:ext cx="59442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3CA71-EA6A-6045-8D36-53950D319EF8}">
      <dsp:nvSpPr>
        <dsp:cNvPr id="0" name=""/>
        <dsp:cNvSpPr/>
      </dsp:nvSpPr>
      <dsp:spPr>
        <a:xfrm>
          <a:off x="0" y="1538883"/>
          <a:ext cx="5944256" cy="51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i="0" kern="1200" baseline="0">
              <a:latin typeface="Arial" panose="020B0604020202020204" pitchFamily="34" charset="0"/>
              <a:cs typeface="Arial" panose="020B0604020202020204" pitchFamily="34" charset="0"/>
            </a:rPr>
            <a:t>Women with diabetes reported </a:t>
          </a:r>
          <a:r>
            <a:rPr lang="it-IT" sz="1500" b="1" i="0" kern="1200" baseline="0">
              <a:latin typeface="Arial" panose="020B0604020202020204" pitchFamily="34" charset="0"/>
              <a:cs typeface="Arial" panose="020B0604020202020204" pitchFamily="34" charset="0"/>
            </a:rPr>
            <a:t>more pregnancies</a:t>
          </a:r>
          <a:r>
            <a:rPr lang="it-IT" sz="1500" b="0" i="0" kern="1200" baseline="0">
              <a:latin typeface="Arial" panose="020B0604020202020204" pitchFamily="34" charset="0"/>
              <a:cs typeface="Arial" panose="020B0604020202020204" pitchFamily="34" charset="0"/>
            </a:rPr>
            <a:t> on average.</a:t>
          </a:r>
          <a:endParaRPr lang="en-US" sz="1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538883"/>
        <a:ext cx="5944256" cy="512460"/>
      </dsp:txXfrm>
    </dsp:sp>
    <dsp:sp modelId="{FBF81FEB-7A79-3E46-B971-DCC65B7526F7}">
      <dsp:nvSpPr>
        <dsp:cNvPr id="0" name=""/>
        <dsp:cNvSpPr/>
      </dsp:nvSpPr>
      <dsp:spPr>
        <a:xfrm>
          <a:off x="0" y="2051343"/>
          <a:ext cx="59442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0E593-8C08-684C-9D3A-CEC263D69F74}">
      <dsp:nvSpPr>
        <dsp:cNvPr id="0" name=""/>
        <dsp:cNvSpPr/>
      </dsp:nvSpPr>
      <dsp:spPr>
        <a:xfrm>
          <a:off x="0" y="2051343"/>
          <a:ext cx="5944256" cy="51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Glucose</a:t>
          </a:r>
          <a:r>
            <a:rPr lang="it-IT" sz="1500" b="1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, BMI and Age</a:t>
          </a:r>
          <a:r>
            <a:rPr lang="it-IT" sz="15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sz="15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were</a:t>
          </a:r>
          <a:r>
            <a:rPr lang="it-IT" sz="15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5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significant</a:t>
          </a:r>
          <a:r>
            <a:rPr lang="it-IT" sz="15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5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predictors</a:t>
          </a:r>
          <a:r>
            <a:rPr lang="it-IT" sz="15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of </a:t>
          </a:r>
          <a:r>
            <a:rPr lang="it-IT" sz="15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diabetes</a:t>
          </a:r>
          <a:r>
            <a:rPr lang="it-IT" sz="15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051343"/>
        <a:ext cx="5944256" cy="512460"/>
      </dsp:txXfrm>
    </dsp:sp>
    <dsp:sp modelId="{8D26FF05-31A6-2342-86C2-B0CEB78BBE0F}">
      <dsp:nvSpPr>
        <dsp:cNvPr id="0" name=""/>
        <dsp:cNvSpPr/>
      </dsp:nvSpPr>
      <dsp:spPr>
        <a:xfrm>
          <a:off x="0" y="2563803"/>
          <a:ext cx="59442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ED5E0-5807-5246-8E00-3852A82CA762}">
      <dsp:nvSpPr>
        <dsp:cNvPr id="0" name=""/>
        <dsp:cNvSpPr/>
      </dsp:nvSpPr>
      <dsp:spPr>
        <a:xfrm>
          <a:off x="0" y="2563803"/>
          <a:ext cx="5944256" cy="51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i="0" kern="1200" baseline="0">
              <a:latin typeface="Arial" panose="020B0604020202020204" pitchFamily="34" charset="0"/>
              <a:cs typeface="Arial" panose="020B0604020202020204" pitchFamily="34" charset="0"/>
            </a:rPr>
            <a:t>The </a:t>
          </a:r>
          <a:r>
            <a:rPr lang="it-IT" sz="1500" b="1" i="0" kern="1200" baseline="0">
              <a:latin typeface="Arial" panose="020B0604020202020204" pitchFamily="34" charset="0"/>
              <a:cs typeface="Arial" panose="020B0604020202020204" pitchFamily="34" charset="0"/>
            </a:rPr>
            <a:t>BMI × Age interaction</a:t>
          </a:r>
          <a:r>
            <a:rPr lang="it-IT" sz="1500" b="0" i="0" kern="1200" baseline="0">
              <a:latin typeface="Arial" panose="020B0604020202020204" pitchFamily="34" charset="0"/>
              <a:cs typeface="Arial" panose="020B0604020202020204" pitchFamily="34" charset="0"/>
            </a:rPr>
            <a:t> was not statistically significant.</a:t>
          </a:r>
          <a:endParaRPr lang="en-US" sz="1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563803"/>
        <a:ext cx="5944256" cy="5124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23493-2A19-304E-AE1B-8DFB8317D28D}">
      <dsp:nvSpPr>
        <dsp:cNvPr id="0" name=""/>
        <dsp:cNvSpPr/>
      </dsp:nvSpPr>
      <dsp:spPr>
        <a:xfrm>
          <a:off x="587085" y="665821"/>
          <a:ext cx="6095999" cy="3278220"/>
        </a:xfrm>
        <a:prstGeom prst="round2DiagRect">
          <a:avLst>
            <a:gd name="adj1" fmla="val 0"/>
            <a:gd name="adj2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C53C8-5C62-BA4A-BE65-3333575CD404}">
      <dsp:nvSpPr>
        <dsp:cNvPr id="0" name=""/>
        <dsp:cNvSpPr/>
      </dsp:nvSpPr>
      <dsp:spPr>
        <a:xfrm>
          <a:off x="4064000" y="1417913"/>
          <a:ext cx="812" cy="258284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75778B-4437-144F-A41B-E1F8DFF83AD4}">
      <dsp:nvSpPr>
        <dsp:cNvPr id="0" name=""/>
        <dsp:cNvSpPr/>
      </dsp:nvSpPr>
      <dsp:spPr>
        <a:xfrm>
          <a:off x="1215316" y="970076"/>
          <a:ext cx="2641600" cy="278152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Tx/>
            <a:buNone/>
          </a:pPr>
          <a:endParaRPr lang="it-IT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✔ Data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cleaning</a:t>
          </a: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&amp;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missing</a:t>
          </a: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value</a:t>
          </a: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imputation</a:t>
          </a:r>
          <a:endParaRPr lang="it-IT" altLang="it-IT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✔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Additional</a:t>
          </a: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clinical &amp; lifestyle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variables</a:t>
          </a:r>
          <a:endParaRPr lang="it-IT" altLang="it-IT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altLang="it-IT" sz="1600" kern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✔ Machine learning models (Random Forest, XGBoost)</a:t>
          </a:r>
          <a:endParaRPr lang="it-IT" altLang="it-IT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✔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External</a:t>
          </a: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dataset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validation</a:t>
          </a:r>
          <a:endParaRPr lang="it-IT" altLang="it-IT" sz="1600" kern="1200" dirty="0">
            <a:solidFill>
              <a:srgbClr val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15316" y="970076"/>
        <a:ext cx="2641600" cy="2781520"/>
      </dsp:txXfrm>
    </dsp:sp>
    <dsp:sp modelId="{2C1FDDBB-DDDF-2F40-ACC3-39EA782029B0}">
      <dsp:nvSpPr>
        <dsp:cNvPr id="0" name=""/>
        <dsp:cNvSpPr/>
      </dsp:nvSpPr>
      <dsp:spPr>
        <a:xfrm>
          <a:off x="4273566" y="864879"/>
          <a:ext cx="2641600" cy="278152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❌ Zero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values</a:t>
          </a: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treated</a:t>
          </a: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as</a:t>
          </a: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real</a:t>
          </a: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altLang="it-IT" sz="1600" kern="1200" dirty="0" err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observations</a:t>
          </a:r>
          <a:endParaRPr lang="it-IT" altLang="it-IT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altLang="it-IT" sz="1600" kern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❌ Cross-sectional dataset</a:t>
          </a:r>
          <a:endParaRPr lang="it-IT" altLang="it-IT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altLang="it-IT" sz="1600" kern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❌ Limited predictor variables</a:t>
          </a:r>
          <a:endParaRPr lang="it-IT" altLang="it-IT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altLang="it-IT" sz="160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❌ Moderate model performance (R² = 23%)</a:t>
          </a:r>
          <a:endParaRPr lang="it-IT" altLang="it-IT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73566" y="864879"/>
        <a:ext cx="2641600" cy="2781520"/>
      </dsp:txXfrm>
    </dsp:sp>
    <dsp:sp modelId="{2D60F5DF-1C56-414F-A35F-51482EAF91E6}">
      <dsp:nvSpPr>
        <dsp:cNvPr id="0" name=""/>
        <dsp:cNvSpPr/>
      </dsp:nvSpPr>
      <dsp:spPr>
        <a:xfrm rot="16200000">
          <a:off x="-1280120" y="1505953"/>
          <a:ext cx="3576240" cy="1016000"/>
        </a:xfrm>
        <a:prstGeom prst="rightArrow">
          <a:avLst>
            <a:gd name="adj1" fmla="val 49830"/>
            <a:gd name="adj2" fmla="val 6066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Future Work</a:t>
          </a:r>
        </a:p>
      </dsp:txBody>
      <dsp:txXfrm>
        <a:off x="-1126567" y="1914370"/>
        <a:ext cx="3269135" cy="506272"/>
      </dsp:txXfrm>
    </dsp:sp>
    <dsp:sp modelId="{A5D0452E-3488-4043-A684-D8F296091C0A}">
      <dsp:nvSpPr>
        <dsp:cNvPr id="0" name=""/>
        <dsp:cNvSpPr/>
      </dsp:nvSpPr>
      <dsp:spPr>
        <a:xfrm rot="5400000">
          <a:off x="5127060" y="2453474"/>
          <a:ext cx="3576240" cy="1016000"/>
        </a:xfrm>
        <a:prstGeom prst="rightArrow">
          <a:avLst>
            <a:gd name="adj1" fmla="val 49830"/>
            <a:gd name="adj2" fmla="val 6066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 err="1"/>
            <a:t>Limitations</a:t>
          </a:r>
          <a:endParaRPr lang="it-IT" sz="2300" kern="1200" dirty="0"/>
        </a:p>
      </dsp:txBody>
      <dsp:txXfrm>
        <a:off x="5280613" y="2554786"/>
        <a:ext cx="3269135" cy="5062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EE050-01E1-7244-BAAE-288CA8977C7C}">
      <dsp:nvSpPr>
        <dsp:cNvPr id="0" name=""/>
        <dsp:cNvSpPr/>
      </dsp:nvSpPr>
      <dsp:spPr>
        <a:xfrm>
          <a:off x="0" y="699480"/>
          <a:ext cx="10890928" cy="327600"/>
        </a:xfrm>
        <a:prstGeom prst="round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Key </a:t>
          </a:r>
          <a:r>
            <a:rPr lang="it-IT" sz="1400" b="1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Findings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992" y="715472"/>
        <a:ext cx="10858944" cy="295616"/>
      </dsp:txXfrm>
    </dsp:sp>
    <dsp:sp modelId="{9896CE08-C7C7-354E-91A4-F89D6C6395F0}">
      <dsp:nvSpPr>
        <dsp:cNvPr id="0" name=""/>
        <dsp:cNvSpPr/>
      </dsp:nvSpPr>
      <dsp:spPr>
        <a:xfrm>
          <a:off x="0" y="1067400"/>
          <a:ext cx="10890928" cy="327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sz="1400" b="1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768 </a:t>
          </a:r>
          <a:r>
            <a:rPr lang="it-IT" sz="1400" b="1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participants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were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analysed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992" y="1083392"/>
        <a:ext cx="10858944" cy="295616"/>
      </dsp:txXfrm>
    </dsp:sp>
    <dsp:sp modelId="{FA82D0B2-DB4C-A74E-A207-1BDF18288589}">
      <dsp:nvSpPr>
        <dsp:cNvPr id="0" name=""/>
        <dsp:cNvSpPr/>
      </dsp:nvSpPr>
      <dsp:spPr>
        <a:xfrm>
          <a:off x="0" y="1435320"/>
          <a:ext cx="10890928" cy="327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sz="1400" b="1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34.9%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were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diagnosed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with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diabetes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992" y="1451312"/>
        <a:ext cx="10858944" cy="295616"/>
      </dsp:txXfrm>
    </dsp:sp>
    <dsp:sp modelId="{7FC8DD25-7B95-8940-95B1-0030734011B0}">
      <dsp:nvSpPr>
        <dsp:cNvPr id="0" name=""/>
        <dsp:cNvSpPr/>
      </dsp:nvSpPr>
      <dsp:spPr>
        <a:xfrm>
          <a:off x="0" y="1803240"/>
          <a:ext cx="10890928" cy="327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Age, BMI and </a:t>
          </a:r>
          <a:r>
            <a:rPr lang="it-IT" sz="1400" b="1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Glucose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were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the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strongest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factors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associated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with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diabetes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992" y="1819232"/>
        <a:ext cx="10858944" cy="295616"/>
      </dsp:txXfrm>
    </dsp:sp>
    <dsp:sp modelId="{65D66A8F-E930-3448-A252-1E5DC30FCE50}">
      <dsp:nvSpPr>
        <dsp:cNvPr id="0" name=""/>
        <dsp:cNvSpPr/>
      </dsp:nvSpPr>
      <dsp:spPr>
        <a:xfrm>
          <a:off x="0" y="2171160"/>
          <a:ext cx="10890928" cy="327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Significant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differences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were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found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in </a:t>
          </a:r>
          <a:r>
            <a:rPr lang="it-IT" sz="1400" b="1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glucose</a:t>
          </a:r>
          <a:r>
            <a:rPr lang="it-IT" sz="1400" b="1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1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levels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 and </a:t>
          </a:r>
          <a:r>
            <a:rPr lang="it-IT" sz="1400" b="1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number</a:t>
          </a:r>
          <a:r>
            <a:rPr lang="it-IT" sz="1400" b="1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of </a:t>
          </a:r>
          <a:r>
            <a:rPr lang="it-IT" sz="1400" b="1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pregnancies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between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diabetic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and non-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diabetic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individuals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992" y="2187152"/>
        <a:ext cx="10858944" cy="295616"/>
      </dsp:txXfrm>
    </dsp:sp>
    <dsp:sp modelId="{56C764E2-FDC8-354E-B62D-894E635E67F6}">
      <dsp:nvSpPr>
        <dsp:cNvPr id="0" name=""/>
        <dsp:cNvSpPr/>
      </dsp:nvSpPr>
      <dsp:spPr>
        <a:xfrm>
          <a:off x="0" y="2539080"/>
          <a:ext cx="10890928" cy="327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Logistic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regression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0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achieved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 </a:t>
          </a:r>
          <a:r>
            <a:rPr lang="it-IT" sz="1400" b="1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76.8% </a:t>
          </a:r>
          <a:r>
            <a:rPr lang="it-IT" sz="1400" b="1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classification</a:t>
          </a:r>
          <a:r>
            <a:rPr lang="it-IT" sz="1400" b="1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it-IT" sz="1400" b="1" i="0" kern="1200" baseline="0" dirty="0" err="1">
              <a:latin typeface="Arial" panose="020B0604020202020204" pitchFamily="34" charset="0"/>
              <a:cs typeface="Arial" panose="020B0604020202020204" pitchFamily="34" charset="0"/>
            </a:rPr>
            <a:t>accuracy</a:t>
          </a:r>
          <a:r>
            <a:rPr lang="it-IT" sz="14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992" y="2555072"/>
        <a:ext cx="10858944" cy="295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0.44927</cdr:x>
      <cdr:y>0</cdr:y>
    </cdr:from>
    <cdr:to>
      <cdr:x>0.97734</cdr:x>
      <cdr:y>0.93258</cdr:y>
    </cdr:to>
    <cdr:pic>
      <cdr:nvPicPr>
        <cdr:cNvPr id="3" name="Immagine 2" descr="Immagine che contiene schermata, linea, testo, diagramma&#10;&#10;Il contenuto generato dall'IA potrebbe non essere corretto.">
          <a:extLst xmlns:a="http://schemas.openxmlformats.org/drawingml/2006/main">
            <a:ext uri="{FF2B5EF4-FFF2-40B4-BE49-F238E27FC236}">
              <a16:creationId xmlns:a16="http://schemas.microsoft.com/office/drawing/2014/main" id="{C1825CB0-F22E-449A-0814-E6F0ECF21B99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382836" y="0"/>
          <a:ext cx="2800799" cy="3325143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20523-F094-CD41-B28A-234F11E03B39}" type="datetimeFigureOut">
              <a:rPr lang="it-IT" smtClean="0"/>
              <a:t>08/09/26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D3A83-B29C-B04F-9DA5-2B9203E00F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9388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morning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everyone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thank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time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name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Yasmin Ferrera,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Pima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Indians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8528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of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common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chronic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diseases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worldwide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major public health challenge.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help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 and support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earlier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intervention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According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American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Association (2024), risk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obesity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elevated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play an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presentation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first introduce the dataset and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characteristics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visualisations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inferential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hypothesis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testing,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modelling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discuss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limitations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study and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recommendations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future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2023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the Pima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Indians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Dataset,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well-known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benchmark dataset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healthcare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information from 768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female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eight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clinical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demographic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alongside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binary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outcome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absence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exploratory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small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logo on some slides,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corresponding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slides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demonstrating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produced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6531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workflow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beginning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data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Visualisations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ggplot2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patterns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potential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anomalies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inferential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follows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Anscombe's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recommendation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graphical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effectively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9649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characteristics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study sample. The dataset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768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whom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500 (65.1%)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268 (34.9%)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moderate class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imbalance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common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medical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datasets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predictive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6960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summarises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approximately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33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BMI of 32 kg/m². Blood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exhibited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notable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variability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reflecting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metabolic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health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highlights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zero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some clinical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characteristic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357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relatively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adults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29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half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24 and 41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age.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histogram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demonstrates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positively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skewed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fewer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boxplot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several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observations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above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approximately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65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potential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outliers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remain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plausible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8253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histograms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illustrate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BMI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dataset. BMI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concentrated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around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30–35 kg/m²,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overweight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obese range.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exhibit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variability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slight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positive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skew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reflecting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metabolic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status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zero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clinical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measurements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201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boxplots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illustrate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variability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pressure and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study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population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Blood pressure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around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72 mmHg,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several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observations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zero indicate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clinical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measurements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positively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skewed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reporting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relatively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few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 small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exhibiting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substantially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6495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prevalence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 groups and BMI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first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age groups,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percentage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considerably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age.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prevalence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rose from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approximately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21%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under 30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over 46% in the 30–39 group,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55% in the 40–49 age group.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prevalence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slightly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50+ group,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remained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substantially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younger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pattern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BMI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BMI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prevalence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around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6%,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almost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46% of obese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BMI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prevalence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 and BMI are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observations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inferential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0567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boxplot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 shows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noticeably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approximately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141 mg/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110 mg/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non-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group. A Welch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-sample t-test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confirmed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0.001),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6710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slide, 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examined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women with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boxplot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shows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women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reflected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Women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3.30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women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4.87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2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non-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 to 4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determine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independent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Welch's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t-test. The test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p-value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0.001,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groups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categorised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groups: 0, 1–2, 3–4, and 5 or more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bar chart shows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proportion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half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women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five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more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rates in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groups.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prevalence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7221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Pearson's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coefficients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examine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outcome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demonstrated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strongest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positive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0.47),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BMI (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0.29) and Age (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0.24). Blood Pressure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Thickness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exceeded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0.70,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multicollinearity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unlikely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be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concern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support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multiple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subsequent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6922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investigate group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square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 one-way ANOVA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conducted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Chi-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square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demonstrated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associations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status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 group and BMI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prevalence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groups. The ANOVA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age group.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Tukey's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post-hoc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revealed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younger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groups,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30–39 and 40–49 age groups.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838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multiple linear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Age, BMI,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Blood Pressure,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Thickness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Insulin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Pedigree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overall model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an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F-statistic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32.46 and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p-value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below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0.001. The model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approximately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23% of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an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R-squared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0.23.</a:t>
            </a:r>
          </a:p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Insulin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strongest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positive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Age and BMI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positive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BMI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tended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Interestingly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Thickness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negative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Pedigree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positive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Blood Pressure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after accounting for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model.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independent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contribution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limited.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indicate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influenced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multiple clinical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insulin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age, and BMI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predictive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9260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status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BMI, age,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contribute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likelihood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odds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ratios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BMI, age,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odds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For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BMI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odds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approximately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8.5%,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odds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3.3%.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model, 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Hosmer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Lemeshow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goodness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-of-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p-value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0.349,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0.05,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poor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model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data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overall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76.8%.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particularly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specificity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87.8%,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sensitivity for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56.3%.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indicate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BMI, age,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especially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useful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5976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investigated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BMI on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 by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models. Model 1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BMI, age,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2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interaction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BMI and age.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likelihood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ratio test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compare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models. The test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p-value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0.843,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interaction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performance.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interaction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itself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BMI on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age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main-effects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preferred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easier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remained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BMI-by-age interaction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contribute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predictive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77339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study are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Age and BMI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emerged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strongest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agree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established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obesity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elevated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major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contributors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Interestingly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interaction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BMI and age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contribute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independently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modifying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other's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dataset.</a:t>
            </a:r>
          </a:p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highlights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appropriate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visualisations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Anscombe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calculations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graphical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contribute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data. Overall, the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demonstrate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inferential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testing,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predictive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modelling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investigate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healthcare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datasets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40143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study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several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limitations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dataset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zero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BMI,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pressure,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insulin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unlikely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clinical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measurements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data are cross-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associations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models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excluded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lifestyle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influence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risk. Future work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focus on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preprocessing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more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 learning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datasets."</a:t>
            </a:r>
          </a:p>
          <a:p>
            <a:b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29799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analysed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from 768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investigate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associated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Approximately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35% of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participants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inferential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showed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pregnancies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differed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significantly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diabetic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non-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diabetic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demonstrated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age, BMI and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glucose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strongest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predictors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diabetes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risk,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achieved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overall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classification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76.8%. Overall,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demonstrates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predictive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modelling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applied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healthcare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to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support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evidence-based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decision-making.</a:t>
            </a:r>
            <a:endParaRPr lang="it-I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 and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presentation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provided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clear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overview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findings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appreciate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opportunity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work, and I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hope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informative and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insightful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day.</a:t>
            </a:r>
            <a:endParaRPr lang="it-I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D3A83-B29C-B04F-9DA5-2B9203E00F60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099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11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45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34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78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6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52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1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7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87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7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19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9" r:id="rId6"/>
    <p:sldLayoutId id="2147483824" r:id="rId7"/>
    <p:sldLayoutId id="2147483825" r:id="rId8"/>
    <p:sldLayoutId id="2147483826" r:id="rId9"/>
    <p:sldLayoutId id="2147483828" r:id="rId10"/>
    <p:sldLayoutId id="214748382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kshaydattatraykhare/diabetes-dataset/dat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2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20" name="Picture 3">
            <a:extLst>
              <a:ext uri="{FF2B5EF4-FFF2-40B4-BE49-F238E27FC236}">
                <a16:creationId xmlns:a16="http://schemas.microsoft.com/office/drawing/2014/main" id="{B0EA05ED-B0CA-7BC7-7182-EF8993EE7B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7967" r="27209" b="-1"/>
          <a:stretch>
            <a:fillRect/>
          </a:stretch>
        </p:blipFill>
        <p:spPr>
          <a:xfrm>
            <a:off x="-4705" y="10"/>
            <a:ext cx="6499994" cy="6857990"/>
          </a:xfrm>
          <a:prstGeom prst="rect">
            <a:avLst/>
          </a:prstGeom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F7017262-EEEC-4F5E-917D-A55E68A11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0375" y="-480370"/>
            <a:ext cx="4735963" cy="569671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33F3501-05AC-5642-41E1-5915E12D6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518" y="1371600"/>
            <a:ext cx="5453481" cy="311189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Exploring and Analyzing Diabetes Data Through Statistical Techniques in R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A3EDAAA-869E-4AA2-A7CE-BF2C0259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718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ottotitolo 2">
            <a:extLst>
              <a:ext uri="{FF2B5EF4-FFF2-40B4-BE49-F238E27FC236}">
                <a16:creationId xmlns:a16="http://schemas.microsoft.com/office/drawing/2014/main" id="{62C2FB6A-6ADA-B9A7-A2AD-A28CDC6DF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7808" y="1031002"/>
            <a:ext cx="4393201" cy="526692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Yasmin Almeida Ferrera</a:t>
            </a:r>
            <a:b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  <a:t> Artificial Intelligence</a:t>
            </a:r>
            <a:b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Module : Numerical Analysis</a:t>
            </a:r>
            <a:b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MODULE TUTOR : Ali Edisen</a:t>
            </a:r>
            <a:b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University of Essex</a:t>
            </a:r>
            <a:b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373174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98"/>
    </mc:Choice>
    <mc:Fallback xmlns="">
      <p:transition spd="slow" advTm="132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FA555B67-13A8-C2E2-C4C3-A5F021603B60}"/>
              </a:ext>
            </a:extLst>
          </p:cNvPr>
          <p:cNvSpPr txBox="1">
            <a:spLocks/>
          </p:cNvSpPr>
          <p:nvPr/>
        </p:nvSpPr>
        <p:spPr>
          <a:xfrm>
            <a:off x="481782" y="639502"/>
            <a:ext cx="10890929" cy="138793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0">
                <a:latin typeface="Arial" panose="020B0604020202020204" pitchFamily="34" charset="0"/>
                <a:cs typeface="Arial" panose="020B0604020202020204" pitchFamily="34" charset="0"/>
              </a:rPr>
              <a:t>Study Objectives</a:t>
            </a:r>
            <a:endParaRPr lang="it-IT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79F49297-A354-8C75-9459-529DCCED675F}"/>
              </a:ext>
            </a:extLst>
          </p:cNvPr>
          <p:cNvSpPr txBox="1">
            <a:spLocks/>
          </p:cNvSpPr>
          <p:nvPr/>
        </p:nvSpPr>
        <p:spPr>
          <a:xfrm>
            <a:off x="547509" y="2027436"/>
            <a:ext cx="11162709" cy="4116109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endParaRPr lang="it-IT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it-IT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demographic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and clinical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characteristics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dataset.</a:t>
            </a:r>
          </a:p>
          <a:p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Examine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and key risk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statistical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associations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hypothesis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testing.</a:t>
            </a:r>
          </a:p>
          <a:p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Develop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models to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predict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glucose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levels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sz="2500" b="1" dirty="0">
                <a:latin typeface="Arial" panose="020B0604020202020204" pitchFamily="34" charset="0"/>
                <a:cs typeface="Arial" panose="020B0604020202020204" pitchFamily="34" charset="0"/>
              </a:rPr>
              <a:t>Statistical Methods</a:t>
            </a:r>
          </a:p>
          <a:p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endParaRPr lang="it-IT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Visualisation</a:t>
            </a:r>
            <a:endParaRPr lang="it-IT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Hypothesis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Testing</a:t>
            </a:r>
          </a:p>
          <a:p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Analysis</a:t>
            </a:r>
          </a:p>
          <a:p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endParaRPr lang="it-IT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Logistic</a:t>
            </a:r>
            <a:r>
              <a:rPr lang="it-IT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500" dirty="0" err="1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endParaRPr lang="it-IT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it-IT" sz="1700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  <a:p>
            <a:pPr>
              <a:lnSpc>
                <a:spcPct val="110000"/>
              </a:lnSpc>
            </a:pPr>
            <a:endParaRPr lang="it-IT" sz="13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A117EC-6357-6435-D978-0F658F62F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7093" y="2388193"/>
            <a:ext cx="41679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Aim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: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To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identify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the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main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predictors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of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diabetes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and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evaluate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their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statistical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significance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5FCAC88-6081-A282-1094-5573EF4F5B03}"/>
              </a:ext>
            </a:extLst>
          </p:cNvPr>
          <p:cNvSpPr txBox="1"/>
          <p:nvPr/>
        </p:nvSpPr>
        <p:spPr>
          <a:xfrm>
            <a:off x="7053943" y="5620325"/>
            <a:ext cx="5138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sz="1400" b="0" i="1" dirty="0">
                <a:solidFill>
                  <a:srgbClr val="000000"/>
                </a:solidFill>
                <a:effectLst/>
              </a:rPr>
              <a:t>"</a:t>
            </a:r>
            <a:r>
              <a:rPr lang="it-IT" sz="1400" b="0" i="1" dirty="0" err="1">
                <a:solidFill>
                  <a:srgbClr val="000000"/>
                </a:solidFill>
                <a:effectLst/>
              </a:rPr>
              <a:t>Statistics</a:t>
            </a:r>
            <a:r>
              <a:rPr lang="it-IT" sz="1400" b="0" i="1" dirty="0">
                <a:solidFill>
                  <a:srgbClr val="000000"/>
                </a:solidFill>
                <a:effectLst/>
              </a:rPr>
              <a:t> </a:t>
            </a:r>
            <a:r>
              <a:rPr lang="it-IT" sz="1400" b="0" i="1" dirty="0" err="1">
                <a:solidFill>
                  <a:srgbClr val="000000"/>
                </a:solidFill>
                <a:effectLst/>
              </a:rPr>
              <a:t>is</a:t>
            </a:r>
            <a:r>
              <a:rPr lang="it-IT" sz="1400" b="0" i="1" dirty="0">
                <a:solidFill>
                  <a:srgbClr val="000000"/>
                </a:solidFill>
                <a:effectLst/>
              </a:rPr>
              <a:t> the art and science of learning from data."</a:t>
            </a:r>
            <a:endParaRPr lang="it-IT" sz="1400" b="0" i="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it-IT" sz="1400" b="1" i="0" dirty="0">
                <a:solidFill>
                  <a:srgbClr val="000000"/>
                </a:solidFill>
                <a:effectLst/>
              </a:rPr>
              <a:t>(RSS International, 2024)</a:t>
            </a:r>
            <a:endParaRPr lang="it-IT" sz="14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9743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808"/>
    </mc:Choice>
    <mc:Fallback xmlns="">
      <p:transition spd="slow" advTm="5680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D8CDE9C-BFB5-914E-5DB2-0ED1470A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31001"/>
            <a:ext cx="5737859" cy="1097280"/>
          </a:xfrm>
        </p:spPr>
        <p:txBody>
          <a:bodyPr>
            <a:normAutofit/>
          </a:bodyPr>
          <a:lstStyle/>
          <a:p>
            <a:r>
              <a:rPr lang="it-IT" dirty="0"/>
              <a:t>Dataset </a:t>
            </a:r>
            <a:r>
              <a:rPr lang="it-IT" dirty="0" err="1"/>
              <a:t>Description</a:t>
            </a:r>
            <a:endParaRPr lang="it-IT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888CAAEC-7FE9-87C5-B41C-AE7D4943A0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062003"/>
            <a:ext cx="5737860" cy="36669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it-IT" altLang="it-IT" b="1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Dataset: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Pima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Indians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Diabetes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Database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it-IT" altLang="it-IT" b="1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Source: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National Institute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Diabetes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and Digestive and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Kidney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Diseases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(NIDDK)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768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observations</a:t>
            </a:r>
            <a:endParaRPr kumimoji="0" lang="it-IT" altLang="it-IT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8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predictor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variables</a:t>
            </a:r>
            <a:endParaRPr kumimoji="0" lang="it-IT" altLang="it-IT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1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binary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response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variable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 (</a:t>
            </a:r>
            <a:r>
              <a:rPr kumimoji="0" lang="it-IT" altLang="it-IT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Outcome</a:t>
            </a:r>
            <a:r>
              <a:rPr kumimoji="0" lang="it-IT" altLang="it-IT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76AFC0A-939D-E318-63C8-F87718546E56}"/>
              </a:ext>
            </a:extLst>
          </p:cNvPr>
          <p:cNvSpPr txBox="1"/>
          <p:nvPr/>
        </p:nvSpPr>
        <p:spPr>
          <a:xfrm>
            <a:off x="640080" y="3289154"/>
            <a:ext cx="6100354" cy="24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it-IT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https://www.kaggle.com/datasets/akshaydattatraykhare/diabetes-dataset/data</a:t>
            </a:r>
            <a:r>
              <a:rPr lang="it-IT" sz="1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1DF6A5B3-3C44-D9C1-CFA6-E094937FD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680318"/>
              </p:ext>
            </p:extLst>
          </p:nvPr>
        </p:nvGraphicFramePr>
        <p:xfrm>
          <a:off x="7155179" y="1275541"/>
          <a:ext cx="4375830" cy="46635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0255">
                  <a:extLst>
                    <a:ext uri="{9D8B030D-6E8A-4147-A177-3AD203B41FA5}">
                      <a16:colId xmlns:a16="http://schemas.microsoft.com/office/drawing/2014/main" val="974171309"/>
                    </a:ext>
                  </a:extLst>
                </a:gridCol>
                <a:gridCol w="1785575">
                  <a:extLst>
                    <a:ext uri="{9D8B030D-6E8A-4147-A177-3AD203B41FA5}">
                      <a16:colId xmlns:a16="http://schemas.microsoft.com/office/drawing/2014/main" val="2696504857"/>
                    </a:ext>
                  </a:extLst>
                </a:gridCol>
              </a:tblGrid>
              <a:tr h="348191"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marL="76415" marR="76415" marT="38207" marB="38207"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76415" marR="76415" marT="38207" marB="38207"/>
                </a:tc>
                <a:extLst>
                  <a:ext uri="{0D108BD9-81ED-4DB2-BD59-A6C34878D82A}">
                    <a16:rowId xmlns:a16="http://schemas.microsoft.com/office/drawing/2014/main" val="2307359687"/>
                  </a:ext>
                </a:extLst>
              </a:tr>
              <a:tr h="348191"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Pregnancies</a:t>
                      </a:r>
                    </a:p>
                  </a:txBody>
                  <a:tcPr marL="76415" marR="76415" marT="38207" marB="38207"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of pregnancies</a:t>
                      </a:r>
                    </a:p>
                  </a:txBody>
                  <a:tcPr marL="76415" marR="76415" marT="38207" marB="38207"/>
                </a:tc>
                <a:extLst>
                  <a:ext uri="{0D108BD9-81ED-4DB2-BD59-A6C34878D82A}">
                    <a16:rowId xmlns:a16="http://schemas.microsoft.com/office/drawing/2014/main" val="4120383625"/>
                  </a:ext>
                </a:extLst>
              </a:tr>
              <a:tr h="584517"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Glucose</a:t>
                      </a:r>
                    </a:p>
                  </a:txBody>
                  <a:tcPr marL="76415" marR="76415" marT="38207" marB="38207"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Plasma glucose concentration</a:t>
                      </a:r>
                    </a:p>
                  </a:txBody>
                  <a:tcPr marL="76415" marR="76415" marT="38207" marB="38207"/>
                </a:tc>
                <a:extLst>
                  <a:ext uri="{0D108BD9-81ED-4DB2-BD59-A6C34878D82A}">
                    <a16:rowId xmlns:a16="http://schemas.microsoft.com/office/drawing/2014/main" val="885227586"/>
                  </a:ext>
                </a:extLst>
              </a:tr>
              <a:tr h="584517"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Blood Pressure</a:t>
                      </a:r>
                    </a:p>
                  </a:txBody>
                  <a:tcPr marL="76415" marR="76415" marT="38207" marB="38207"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Diastolic blood pressure</a:t>
                      </a:r>
                    </a:p>
                  </a:txBody>
                  <a:tcPr marL="76415" marR="76415" marT="38207" marB="38207"/>
                </a:tc>
                <a:extLst>
                  <a:ext uri="{0D108BD9-81ED-4DB2-BD59-A6C34878D82A}">
                    <a16:rowId xmlns:a16="http://schemas.microsoft.com/office/drawing/2014/main" val="3176262601"/>
                  </a:ext>
                </a:extLst>
              </a:tr>
              <a:tr h="584517"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Skin Thickness</a:t>
                      </a:r>
                    </a:p>
                  </a:txBody>
                  <a:tcPr marL="76415" marR="76415" marT="38207" marB="38207"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Triceps skinfold thickness</a:t>
                      </a:r>
                    </a:p>
                  </a:txBody>
                  <a:tcPr marL="76415" marR="76415" marT="38207" marB="38207"/>
                </a:tc>
                <a:extLst>
                  <a:ext uri="{0D108BD9-81ED-4DB2-BD59-A6C34878D82A}">
                    <a16:rowId xmlns:a16="http://schemas.microsoft.com/office/drawing/2014/main" val="3604242784"/>
                  </a:ext>
                </a:extLst>
              </a:tr>
              <a:tr h="348191"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Insulin</a:t>
                      </a:r>
                    </a:p>
                  </a:txBody>
                  <a:tcPr marL="76415" marR="76415" marT="38207" marB="38207"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Serum insulin</a:t>
                      </a:r>
                    </a:p>
                  </a:txBody>
                  <a:tcPr marL="76415" marR="76415" marT="38207" marB="38207"/>
                </a:tc>
                <a:extLst>
                  <a:ext uri="{0D108BD9-81ED-4DB2-BD59-A6C34878D82A}">
                    <a16:rowId xmlns:a16="http://schemas.microsoft.com/office/drawing/2014/main" val="3936833851"/>
                  </a:ext>
                </a:extLst>
              </a:tr>
              <a:tr h="348191"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BMI</a:t>
                      </a:r>
                    </a:p>
                  </a:txBody>
                  <a:tcPr marL="76415" marR="76415" marT="38207" marB="38207"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Body Mass Index</a:t>
                      </a:r>
                    </a:p>
                  </a:txBody>
                  <a:tcPr marL="76415" marR="76415" marT="38207" marB="38207"/>
                </a:tc>
                <a:extLst>
                  <a:ext uri="{0D108BD9-81ED-4DB2-BD59-A6C34878D82A}">
                    <a16:rowId xmlns:a16="http://schemas.microsoft.com/office/drawing/2014/main" val="71224820"/>
                  </a:ext>
                </a:extLst>
              </a:tr>
              <a:tr h="584517"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DiabetesPedigreeFunction</a:t>
                      </a:r>
                    </a:p>
                  </a:txBody>
                  <a:tcPr marL="76415" marR="76415" marT="38207" marB="38207"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Diabetes family history score</a:t>
                      </a:r>
                    </a:p>
                  </a:txBody>
                  <a:tcPr marL="76415" marR="76415" marT="38207" marB="38207"/>
                </a:tc>
                <a:extLst>
                  <a:ext uri="{0D108BD9-81ED-4DB2-BD59-A6C34878D82A}">
                    <a16:rowId xmlns:a16="http://schemas.microsoft.com/office/drawing/2014/main" val="2821991990"/>
                  </a:ext>
                </a:extLst>
              </a:tr>
              <a:tr h="348191"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</a:p>
                  </a:txBody>
                  <a:tcPr marL="76415" marR="76415" marT="38207" marB="38207"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in </a:t>
                      </a:r>
                      <a:r>
                        <a:rPr lang="it-IT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  <a:endParaRPr lang="it-IT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415" marR="76415" marT="38207" marB="38207"/>
                </a:tc>
                <a:extLst>
                  <a:ext uri="{0D108BD9-81ED-4DB2-BD59-A6C34878D82A}">
                    <a16:rowId xmlns:a16="http://schemas.microsoft.com/office/drawing/2014/main" val="1011657369"/>
                  </a:ext>
                </a:extLst>
              </a:tr>
              <a:tr h="584517">
                <a:tc>
                  <a:txBody>
                    <a:bodyPr/>
                    <a:lstStyle/>
                    <a:p>
                      <a:r>
                        <a:rPr lang="it-IT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Outcome</a:t>
                      </a:r>
                      <a:endParaRPr lang="it-IT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415" marR="76415" marT="38207" marB="38207"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= no </a:t>
                      </a:r>
                      <a:r>
                        <a:rPr lang="it-IT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diabetes</a:t>
                      </a:r>
                      <a:endParaRPr lang="it-IT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it-IT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= </a:t>
                      </a:r>
                      <a:r>
                        <a:rPr lang="it-IT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diabetes</a:t>
                      </a:r>
                      <a:endParaRPr lang="it-IT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415" marR="76415" marT="38207" marB="38207"/>
                </a:tc>
                <a:extLst>
                  <a:ext uri="{0D108BD9-81ED-4DB2-BD59-A6C34878D82A}">
                    <a16:rowId xmlns:a16="http://schemas.microsoft.com/office/drawing/2014/main" val="1693883136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76F7AD00-ECA9-7639-B2AA-29365945570E}"/>
              </a:ext>
            </a:extLst>
          </p:cNvPr>
          <p:cNvSpPr txBox="1"/>
          <p:nvPr/>
        </p:nvSpPr>
        <p:spPr>
          <a:xfrm>
            <a:off x="8448540" y="5939081"/>
            <a:ext cx="29363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dim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diabetes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  <a:p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names(</a:t>
            </a:r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diabetes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  <a:p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str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diabetes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</p:txBody>
      </p:sp>
      <p:pic>
        <p:nvPicPr>
          <p:cNvPr id="5" name="Immagine 4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040996B1-603F-9AD3-4B72-9B690C2CB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1863" y="6291379"/>
            <a:ext cx="413197" cy="38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9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45"/>
    </mc:Choice>
    <mc:Fallback xmlns="">
      <p:transition spd="slow" advTm="450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785C637-E465-3C6B-C71C-61BDEB34C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965" y="1491331"/>
            <a:ext cx="6034187" cy="1097280"/>
          </a:xfrm>
        </p:spPr>
        <p:txBody>
          <a:bodyPr>
            <a:normAutofit/>
          </a:bodyPr>
          <a:lstStyle/>
          <a:p>
            <a:r>
              <a:rPr lang="it-IT" dirty="0" err="1"/>
              <a:t>Methodology</a:t>
            </a:r>
            <a:endParaRPr lang="it-IT" dirty="0"/>
          </a:p>
        </p:txBody>
      </p:sp>
      <p:pic>
        <p:nvPicPr>
          <p:cNvPr id="5" name="Picture 4" descr="Immagine che contiene Policromia, modello, linea, verde&#10;&#10;Il contenuto generato dall'IA potrebbe non essere corretto.">
            <a:extLst>
              <a:ext uri="{FF2B5EF4-FFF2-40B4-BE49-F238E27FC236}">
                <a16:creationId xmlns:a16="http://schemas.microsoft.com/office/drawing/2014/main" id="{39C6B23C-F051-D673-3E0A-CF4A8CE7FF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06" r="12631" b="2"/>
          <a:stretch>
            <a:fillRect/>
          </a:stretch>
        </p:blipFill>
        <p:spPr>
          <a:xfrm>
            <a:off x="20" y="10"/>
            <a:ext cx="3966673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A3AFC005-6E56-EF80-7FF6-B3F52DD18C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307050"/>
              </p:ext>
            </p:extLst>
          </p:nvPr>
        </p:nvGraphicFramePr>
        <p:xfrm>
          <a:off x="5703419" y="2380567"/>
          <a:ext cx="6034187" cy="3664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A83204A8-6148-A053-FA43-A105D875C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113" y="362635"/>
            <a:ext cx="44818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"…make </a:t>
            </a:r>
            <a:r>
              <a:rPr kumimoji="0" lang="it-IT" altLang="it-IT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it-IT" altLang="it-IT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calculations</a:t>
            </a:r>
            <a:r>
              <a:rPr kumimoji="0" lang="it-IT" altLang="it-IT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it-IT" altLang="it-IT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graphs</a:t>
            </a:r>
            <a:r>
              <a:rPr kumimoji="0" lang="it-IT" altLang="it-IT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it-IT" altLang="it-IT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it-IT" altLang="it-IT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sorts of output </a:t>
            </a:r>
            <a:r>
              <a:rPr kumimoji="0" lang="it-IT" altLang="it-IT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should</a:t>
            </a:r>
            <a:r>
              <a:rPr kumimoji="0" lang="it-IT" altLang="it-IT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be </a:t>
            </a:r>
            <a:r>
              <a:rPr kumimoji="0" lang="it-IT" altLang="it-IT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studied</a:t>
            </a:r>
            <a:r>
              <a:rPr kumimoji="0" lang="it-IT" altLang="it-IT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it-IT" altLang="it-IT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it-IT" altLang="it-IT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it-IT" altLang="it-IT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contribute</a:t>
            </a:r>
            <a:r>
              <a:rPr kumimoji="0" lang="it-IT" altLang="it-IT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it-IT" altLang="it-IT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understanding</a:t>
            </a:r>
            <a:r>
              <a:rPr kumimoji="0" lang="it-IT" altLang="it-IT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."</a:t>
            </a:r>
            <a:br>
              <a:rPr kumimoji="0" lang="it-IT" altLang="it-IT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it-IT" altLang="it-IT" sz="1200" b="1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Anscombe</a:t>
            </a:r>
            <a:r>
              <a:rPr kumimoji="0" lang="it-IT" altLang="it-IT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(1973)</a:t>
            </a:r>
            <a:endParaRPr kumimoji="0" lang="it-IT" altLang="it-IT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Immagine 11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EEC73DBA-2B74-C965-6DD2-3537AA2DFC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31008" y="6335025"/>
            <a:ext cx="413197" cy="38636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5886432-67E9-D84B-99F7-428C143AE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611" y="6233755"/>
            <a:ext cx="14681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library(ggplot2) library(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dplyr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)</a:t>
            </a:r>
            <a:endParaRPr kumimoji="0" lang="it-IT" altLang="it-IT" sz="1400" b="0" i="1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43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963"/>
    </mc:Choice>
    <mc:Fallback xmlns="">
      <p:transition spd="slow" advTm="269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DF9BC1-0EB5-4664-40D4-E95EB312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Sample </a:t>
            </a:r>
            <a:r>
              <a:rPr lang="it-IT" dirty="0" err="1"/>
              <a:t>Charactheristics</a:t>
            </a:r>
            <a:endParaRPr lang="it-IT" dirty="0"/>
          </a:p>
        </p:txBody>
      </p:sp>
      <p:pic>
        <p:nvPicPr>
          <p:cNvPr id="11" name="Immagine 10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48840FB5-13E6-8202-5D96-9378CD49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3118" y="6199188"/>
            <a:ext cx="413197" cy="38636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9C78D8C-8698-BDDA-2A66-0D2F78BF077F}"/>
              </a:ext>
            </a:extLst>
          </p:cNvPr>
          <p:cNvSpPr txBox="1"/>
          <p:nvPr/>
        </p:nvSpPr>
        <p:spPr>
          <a:xfrm>
            <a:off x="7594169" y="5664380"/>
            <a:ext cx="38165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ggplot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diabetes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,</a:t>
            </a:r>
          </a:p>
          <a:p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       </a:t>
            </a:r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aes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(x = </a:t>
            </a:r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factor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Outcome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))) +</a:t>
            </a:r>
          </a:p>
          <a:p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geom_bar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fill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 = "#2E86C1") +</a:t>
            </a:r>
          </a:p>
          <a:p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  labs(</a:t>
            </a:r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title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 = "Distribution by </a:t>
            </a:r>
            <a:r>
              <a:rPr lang="it-IT" sz="1400" i="1" dirty="0" err="1">
                <a:solidFill>
                  <a:schemeClr val="accent3">
                    <a:lumMod val="75000"/>
                  </a:schemeClr>
                </a:solidFill>
              </a:rPr>
              <a:t>Diabetes</a:t>
            </a:r>
            <a:r>
              <a:rPr lang="it-IT" sz="1400" i="1" dirty="0">
                <a:solidFill>
                  <a:schemeClr val="accent3">
                    <a:lumMod val="75000"/>
                  </a:schemeClr>
                </a:solidFill>
              </a:rPr>
              <a:t> Status")</a:t>
            </a:r>
          </a:p>
        </p:txBody>
      </p:sp>
      <p:graphicFrame>
        <p:nvGraphicFramePr>
          <p:cNvPr id="9" name="Segnaposto contenuto 8">
            <a:extLst>
              <a:ext uri="{FF2B5EF4-FFF2-40B4-BE49-F238E27FC236}">
                <a16:creationId xmlns:a16="http://schemas.microsoft.com/office/drawing/2014/main" id="{630E55AF-4DB1-392A-951F-1C50FBD5B0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394197"/>
              </p:ext>
            </p:extLst>
          </p:nvPr>
        </p:nvGraphicFramePr>
        <p:xfrm>
          <a:off x="619166" y="2187349"/>
          <a:ext cx="6071003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53493F03-54DA-1E20-DDE5-DD2E6721F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141150"/>
              </p:ext>
            </p:extLst>
          </p:nvPr>
        </p:nvGraphicFramePr>
        <p:xfrm>
          <a:off x="7354269" y="3401878"/>
          <a:ext cx="3449234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24617">
                  <a:extLst>
                    <a:ext uri="{9D8B030D-6E8A-4147-A177-3AD203B41FA5}">
                      <a16:colId xmlns:a16="http://schemas.microsoft.com/office/drawing/2014/main" val="1201683948"/>
                    </a:ext>
                  </a:extLst>
                </a:gridCol>
                <a:gridCol w="1724617">
                  <a:extLst>
                    <a:ext uri="{9D8B030D-6E8A-4147-A177-3AD203B41FA5}">
                      <a16:colId xmlns:a16="http://schemas.microsoft.com/office/drawing/2014/main" val="397469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</a:t>
                      </a:r>
                      <a:endParaRPr lang="it-IT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146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Participants</a:t>
                      </a:r>
                      <a:endParaRPr lang="it-IT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074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Variables</a:t>
                      </a:r>
                      <a:endParaRPr lang="it-IT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71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</a:t>
                      </a:r>
                      <a:r>
                        <a:rPr lang="it-IT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Diabetes</a:t>
                      </a:r>
                      <a:endParaRPr lang="it-IT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 (65.1%)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151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Diabetes</a:t>
                      </a:r>
                      <a:endParaRPr lang="it-IT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268 (34.9%)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036715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A1D7987-6A15-A9E1-E9BE-E8BBBFCA5BAF}"/>
              </a:ext>
            </a:extLst>
          </p:cNvPr>
          <p:cNvSpPr txBox="1"/>
          <p:nvPr/>
        </p:nvSpPr>
        <p:spPr>
          <a:xfrm>
            <a:off x="7013306" y="960894"/>
            <a:ext cx="4538615" cy="2293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4184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00"/>
    </mc:Choice>
    <mc:Fallback xmlns="">
      <p:transition spd="slow" advTm="30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3F9546E-95CB-DDAF-8C46-B544230C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59024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Summary Statistics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47D9074F-D645-6FBB-61BC-3FE428BE1E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5817418"/>
              </p:ext>
            </p:extLst>
          </p:nvPr>
        </p:nvGraphicFramePr>
        <p:xfrm>
          <a:off x="6091004" y="2245019"/>
          <a:ext cx="5209653" cy="318391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195466">
                  <a:extLst>
                    <a:ext uri="{9D8B030D-6E8A-4147-A177-3AD203B41FA5}">
                      <a16:colId xmlns:a16="http://schemas.microsoft.com/office/drawing/2014/main" val="250660562"/>
                    </a:ext>
                  </a:extLst>
                </a:gridCol>
                <a:gridCol w="772481">
                  <a:extLst>
                    <a:ext uri="{9D8B030D-6E8A-4147-A177-3AD203B41FA5}">
                      <a16:colId xmlns:a16="http://schemas.microsoft.com/office/drawing/2014/main" val="4248327807"/>
                    </a:ext>
                  </a:extLst>
                </a:gridCol>
                <a:gridCol w="766759">
                  <a:extLst>
                    <a:ext uri="{9D8B030D-6E8A-4147-A177-3AD203B41FA5}">
                      <a16:colId xmlns:a16="http://schemas.microsoft.com/office/drawing/2014/main" val="3926473692"/>
                    </a:ext>
                  </a:extLst>
                </a:gridCol>
                <a:gridCol w="651196">
                  <a:extLst>
                    <a:ext uri="{9D8B030D-6E8A-4147-A177-3AD203B41FA5}">
                      <a16:colId xmlns:a16="http://schemas.microsoft.com/office/drawing/2014/main" val="3032847156"/>
                    </a:ext>
                  </a:extLst>
                </a:gridCol>
                <a:gridCol w="766124">
                  <a:extLst>
                    <a:ext uri="{9D8B030D-6E8A-4147-A177-3AD203B41FA5}">
                      <a16:colId xmlns:a16="http://schemas.microsoft.com/office/drawing/2014/main" val="162772763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64955335"/>
                    </a:ext>
                  </a:extLst>
                </a:gridCol>
                <a:gridCol w="600427">
                  <a:extLst>
                    <a:ext uri="{9D8B030D-6E8A-4147-A177-3AD203B41FA5}">
                      <a16:colId xmlns:a16="http://schemas.microsoft.com/office/drawing/2014/main" val="172729939"/>
                    </a:ext>
                  </a:extLst>
                </a:gridCol>
              </a:tblGrid>
              <a:tr h="460630">
                <a:tc>
                  <a:txBody>
                    <a:bodyPr/>
                    <a:lstStyle/>
                    <a:p>
                      <a:r>
                        <a:rPr lang="it-IT" sz="1400" dirty="0" err="1"/>
                        <a:t>Variable</a:t>
                      </a:r>
                      <a:endParaRPr lang="it-IT" sz="1400" dirty="0"/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Mean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Median</a:t>
                      </a:r>
                      <a:endParaRPr lang="it-IT" sz="1400" dirty="0"/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Mode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SD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Min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Max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4941057"/>
                  </a:ext>
                </a:extLst>
              </a:tr>
              <a:tr h="460630">
                <a:tc>
                  <a:txBody>
                    <a:bodyPr/>
                    <a:lstStyle/>
                    <a:p>
                      <a:r>
                        <a:rPr lang="it-IT" sz="1400"/>
                        <a:t>Glucose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120.89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117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100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31.97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199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112425"/>
                  </a:ext>
                </a:extLst>
              </a:tr>
              <a:tr h="460630">
                <a:tc>
                  <a:txBody>
                    <a:bodyPr/>
                    <a:lstStyle/>
                    <a:p>
                      <a:r>
                        <a:rPr lang="it-IT" sz="1400"/>
                        <a:t>BMI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31.99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32.0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32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7.88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0.0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67.1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1490797"/>
                  </a:ext>
                </a:extLst>
              </a:tr>
              <a:tr h="460630">
                <a:tc>
                  <a:txBody>
                    <a:bodyPr/>
                    <a:lstStyle/>
                    <a:p>
                      <a:r>
                        <a:rPr lang="it-IT" sz="1400"/>
                        <a:t>Age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33.24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29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22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11.76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21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81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8644984"/>
                  </a:ext>
                </a:extLst>
              </a:tr>
              <a:tr h="780272">
                <a:tc>
                  <a:txBody>
                    <a:bodyPr/>
                    <a:lstStyle/>
                    <a:p>
                      <a:r>
                        <a:rPr lang="it-IT" sz="1400" dirty="0"/>
                        <a:t>Blood Pressure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69.11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72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70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19.36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122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0931457"/>
                  </a:ext>
                </a:extLst>
              </a:tr>
              <a:tr h="490578">
                <a:tc>
                  <a:txBody>
                    <a:bodyPr/>
                    <a:lstStyle/>
                    <a:p>
                      <a:r>
                        <a:rPr lang="it-IT" sz="1400" dirty="0" err="1"/>
                        <a:t>Pregnancies</a:t>
                      </a:r>
                      <a:endParaRPr lang="it-IT" sz="1400" dirty="0"/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3.85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3.37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17</a:t>
                      </a:r>
                    </a:p>
                  </a:txBody>
                  <a:tcPr marL="104459" marR="104459" marT="52229" marB="522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4142451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DE80DFB1-D741-2980-7E4A-B03539A13421}"/>
              </a:ext>
            </a:extLst>
          </p:cNvPr>
          <p:cNvSpPr txBox="1"/>
          <p:nvPr/>
        </p:nvSpPr>
        <p:spPr>
          <a:xfrm>
            <a:off x="279218" y="6004652"/>
            <a:ext cx="6098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 the Royal College of </a:t>
            </a:r>
            <a:r>
              <a:rPr lang="it-IT" sz="1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Radiologists</a:t>
            </a:r>
            <a:r>
              <a:rPr lang="it-I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guide:</a:t>
            </a:r>
          </a:p>
          <a:p>
            <a:r>
              <a:rPr lang="it-IT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it-IT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it-IT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r>
              <a:rPr lang="it-I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summarise</a:t>
            </a:r>
            <a:r>
              <a:rPr lang="it-I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data </a:t>
            </a:r>
            <a:r>
              <a:rPr lang="it-IT" sz="1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lang="it-I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more </a:t>
            </a:r>
            <a:r>
              <a:rPr lang="it-IT" sz="1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advanced</a:t>
            </a:r>
            <a:r>
              <a:rPr lang="it-I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analyses</a:t>
            </a:r>
            <a:r>
              <a:rPr lang="it-IT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»</a:t>
            </a:r>
            <a:endParaRPr lang="it-IT" sz="1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81FC070-7BC3-4269-EA3D-0ACB027B0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5945" y="6293879"/>
            <a:ext cx="22453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0" i="1" u="none" strike="noStrike" cap="none" normalizeH="0" baseline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summary(diabetes)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0" i="1" u="none" strike="noStrike" cap="none" normalizeH="0" baseline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describe(diabetes)</a:t>
            </a:r>
            <a:endParaRPr kumimoji="0" lang="it-IT" altLang="it-IT" sz="1400" b="0" i="1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+mn-lt"/>
            </a:endParaRPr>
          </a:p>
        </p:txBody>
      </p:sp>
      <p:pic>
        <p:nvPicPr>
          <p:cNvPr id="8" name="Immagine 7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C56C296C-859F-4E94-FC1F-E56B1F724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3118" y="6199188"/>
            <a:ext cx="413197" cy="386366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30EBA08-1A5B-B3C3-68D4-B271E0F36D76}"/>
              </a:ext>
            </a:extLst>
          </p:cNvPr>
          <p:cNvSpPr txBox="1"/>
          <p:nvPr/>
        </p:nvSpPr>
        <p:spPr>
          <a:xfrm>
            <a:off x="6091004" y="1871395"/>
            <a:ext cx="61009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it-IT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1. </a:t>
            </a:r>
            <a:r>
              <a:rPr lang="it-IT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it-IT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r>
              <a:rPr lang="it-IT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it-IT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it-IT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clinical </a:t>
            </a:r>
            <a:r>
              <a:rPr lang="it-IT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lang="it-IT" sz="14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16040F8-C441-4792-5FCB-DAC3AEEC48B6}"/>
              </a:ext>
            </a:extLst>
          </p:cNvPr>
          <p:cNvSpPr txBox="1"/>
          <p:nvPr/>
        </p:nvSpPr>
        <p:spPr>
          <a:xfrm>
            <a:off x="640080" y="2633236"/>
            <a:ext cx="4336654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dirty="0"/>
              <a:t>.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72D63D0-CEE4-A611-D290-4C821C3685F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9218" y="2373044"/>
            <a:ext cx="573785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Glucose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showed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greatest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variability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BMI and Age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were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widely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distributed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guided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subsequent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analyses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923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043"/>
    </mc:Choice>
    <mc:Fallback xmlns="">
      <p:transition spd="slow" advTm="320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40A86B-E8AC-1CFF-3357-123F4567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11" y="1157643"/>
            <a:ext cx="10890929" cy="1097280"/>
          </a:xfrm>
        </p:spPr>
        <p:txBody>
          <a:bodyPr/>
          <a:lstStyle/>
          <a:p>
            <a:r>
              <a:rPr lang="it-IT" dirty="0"/>
              <a:t>Age Distribution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1B6F3631-8CCA-0DB3-EEB6-B5C064D370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6539994"/>
              </p:ext>
            </p:extLst>
          </p:nvPr>
        </p:nvGraphicFramePr>
        <p:xfrm>
          <a:off x="639763" y="2671763"/>
          <a:ext cx="7475537" cy="35274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magine 4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49151239-CDF7-3347-9AB0-E4705A457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5638" y="6138333"/>
            <a:ext cx="413197" cy="386366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83DF1EF-4F0B-B45C-08D8-41B31915C4CC}"/>
              </a:ext>
            </a:extLst>
          </p:cNvPr>
          <p:cNvSpPr txBox="1"/>
          <p:nvPr/>
        </p:nvSpPr>
        <p:spPr>
          <a:xfrm>
            <a:off x="486758" y="6078905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Autodesk </a:t>
            </a:r>
            <a:r>
              <a:rPr lang="it-IT" sz="12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article</a:t>
            </a: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>
              <a:buNone/>
            </a:pP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it-IT" sz="12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Similar</a:t>
            </a: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can </a:t>
            </a:r>
            <a:r>
              <a:rPr lang="it-IT" sz="12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hide</a:t>
            </a: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different</a:t>
            </a: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underlying</a:t>
            </a: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2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distributions</a:t>
            </a: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2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highlighting</a:t>
            </a: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12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importance</a:t>
            </a: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it-IT" sz="12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visualising</a:t>
            </a:r>
            <a:r>
              <a:rPr lang="it-IT" sz="12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data.»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D20924A-C83A-658D-9D54-A5D992FF8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7448" y="5509518"/>
            <a:ext cx="275819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ggplot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(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diabetes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, 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aes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(x = Age)) + 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geom_histogram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()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ggplot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(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diabetes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, 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aes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(y = Age)) + 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geom_boxplot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()</a:t>
            </a:r>
          </a:p>
        </p:txBody>
      </p:sp>
      <p:pic>
        <p:nvPicPr>
          <p:cNvPr id="9" name="Immagine 8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12E4EB5-6973-339C-B4CF-D303EF030E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09"/>
          <a:stretch>
            <a:fillRect/>
          </a:stretch>
        </p:blipFill>
        <p:spPr>
          <a:xfrm>
            <a:off x="486757" y="2145714"/>
            <a:ext cx="2496916" cy="3600000"/>
          </a:xfrm>
          <a:prstGeom prst="rect">
            <a:avLst/>
          </a:prstGeom>
        </p:spPr>
      </p:pic>
      <p:pic>
        <p:nvPicPr>
          <p:cNvPr id="12" name="Immagine 11" descr="Immagine che contiene testo, schermat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78071B82-79D5-03EE-DE25-6E849472451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167"/>
          <a:stretch>
            <a:fillRect/>
          </a:stretch>
        </p:blipFill>
        <p:spPr>
          <a:xfrm>
            <a:off x="3422174" y="2145716"/>
            <a:ext cx="2602702" cy="3600000"/>
          </a:xfrm>
          <a:prstGeom prst="rect">
            <a:avLst/>
          </a:prstGeom>
        </p:spPr>
      </p:pic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0F829300-50E9-13BA-5121-4D9E5A54F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439534"/>
              </p:ext>
            </p:extLst>
          </p:nvPr>
        </p:nvGraphicFramePr>
        <p:xfrm>
          <a:off x="6096000" y="3930958"/>
          <a:ext cx="177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12908920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88426485"/>
                    </a:ext>
                  </a:extLst>
                </a:gridCol>
              </a:tblGrid>
              <a:tr h="207072">
                <a:tc>
                  <a:txBody>
                    <a:bodyPr/>
                    <a:lstStyle/>
                    <a:p>
                      <a:r>
                        <a:rPr lang="it-IT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603880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r>
                        <a:rPr lang="it-IT" dirty="0" err="1"/>
                        <a:t>Median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024119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r>
                        <a:rPr lang="it-IT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314588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r>
                        <a:rPr lang="it-IT" dirty="0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669416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r>
                        <a:rPr lang="it-IT" dirty="0"/>
                        <a:t>IQR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966809"/>
                  </a:ext>
                </a:extLst>
              </a:tr>
            </a:tbl>
          </a:graphicData>
        </a:graphic>
      </p:graphicFrame>
      <p:sp>
        <p:nvSpPr>
          <p:cNvPr id="19" name="Rectangle 6">
            <a:extLst>
              <a:ext uri="{FF2B5EF4-FFF2-40B4-BE49-F238E27FC236}">
                <a16:creationId xmlns:a16="http://schemas.microsoft.com/office/drawing/2014/main" id="{BF3AFAF6-565E-3AC1-E5EC-7801B1180FF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63377" y="2145714"/>
            <a:ext cx="554230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Most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participants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were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21 and 41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Median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age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29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Age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positively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skewed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Several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older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participants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(&gt;65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were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69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648"/>
    </mc:Choice>
    <mc:Fallback xmlns="">
      <p:transition spd="slow" advTm="326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541F05-0792-449B-44F4-67A5F4971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BMI and </a:t>
            </a:r>
            <a:r>
              <a:rPr lang="it-IT" dirty="0" err="1"/>
              <a:t>Glucose</a:t>
            </a:r>
            <a:r>
              <a:rPr lang="it-IT" dirty="0"/>
              <a:t> Distribution</a:t>
            </a:r>
          </a:p>
        </p:txBody>
      </p:sp>
      <p:pic>
        <p:nvPicPr>
          <p:cNvPr id="5" name="Immagine 4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9D2A30BE-1A68-FDF8-D517-20EB98A6A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9040" y="6170787"/>
            <a:ext cx="413197" cy="386366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F2AB055C-9551-7021-C5D8-4BE8D102083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981122" y="5780782"/>
            <a:ext cx="315791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ggplot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(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diabetes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, 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aes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(x = BMI)) + 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geom_histogram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()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ggplot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(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diabetes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, 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aes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(x = 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Glucose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)) + 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geom_histogram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()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FA1A7D5-F04B-37D9-B73E-1357E098082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633791" y="2607380"/>
            <a:ext cx="419652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• BMI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concentrated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around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30–35 kg/m².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•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Glucose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shows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greater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variability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BMI.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exhibit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right-skewed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distributions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Segnaposto contenuto 14" descr="Immagine che contiene diagramma, line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000EE649-2301-D459-6F85-FCE79124D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40079" y="2468881"/>
            <a:ext cx="2903221" cy="3558275"/>
          </a:xfrm>
        </p:spPr>
      </p:pic>
      <p:pic>
        <p:nvPicPr>
          <p:cNvPr id="17" name="Immagine 16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67057957-3709-1449-6091-9FA1B5FC6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1909" y="2468881"/>
            <a:ext cx="3090294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3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556"/>
    </mc:Choice>
    <mc:Fallback xmlns="">
      <p:transition spd="slow" advTm="325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C51157-33F7-4B6A-D47A-81C3542F6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3" y="985680"/>
            <a:ext cx="10890929" cy="1097280"/>
          </a:xfrm>
        </p:spPr>
        <p:txBody>
          <a:bodyPr/>
          <a:lstStyle/>
          <a:p>
            <a:r>
              <a:rPr lang="it-IT" dirty="0"/>
              <a:t>Blood pressure and </a:t>
            </a:r>
            <a:r>
              <a:rPr lang="it-IT" dirty="0" err="1"/>
              <a:t>pregnancies</a:t>
            </a:r>
            <a:endParaRPr lang="it-IT" dirty="0"/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11381107-A612-3DDA-854E-29983C29C1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7141209"/>
              </p:ext>
            </p:extLst>
          </p:nvPr>
        </p:nvGraphicFramePr>
        <p:xfrm>
          <a:off x="715963" y="2227126"/>
          <a:ext cx="5303837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magine 3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1F7B75CC-89FF-3A5A-0C2A-FF2AC5D2E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4605" y="5813266"/>
            <a:ext cx="413197" cy="38636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D75B83E-6B06-E508-4E2F-20B17B432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1" y="5110802"/>
            <a:ext cx="344080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defTabSz="914400"/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ggplot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(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diabetes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, 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aes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(y = 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Pregnancies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)) +</a:t>
            </a:r>
          </a:p>
          <a:p>
            <a:pPr lvl="0" defTabSz="914400"/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  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geom_boxplot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(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fill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 = "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steelblue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") +</a:t>
            </a:r>
          </a:p>
          <a:p>
            <a:pPr lvl="0" defTabSz="914400"/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  labs(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title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 = "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Pregnancies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 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Boxplot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")</a:t>
            </a:r>
          </a:p>
          <a:p>
            <a:pPr lvl="0" defTabSz="914400"/>
            <a:endParaRPr lang="it-IT" altLang="it-IT" sz="1400" i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  <a:p>
            <a:pPr lvl="0" defTabSz="914400"/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ggplot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(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diabetes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, 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aes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(y = 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BloodPressure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)) +</a:t>
            </a:r>
          </a:p>
          <a:p>
            <a:pPr lvl="0" defTabSz="914400"/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  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geom_boxplot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(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fill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 = "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steelblue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") +</a:t>
            </a:r>
          </a:p>
          <a:p>
            <a:pPr lvl="0" defTabSz="914400"/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  labs(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title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 = "Blood Pressure </a:t>
            </a:r>
            <a:r>
              <a:rPr lang="it-IT" altLang="it-IT" sz="1400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Boxplot</a:t>
            </a:r>
            <a:r>
              <a:rPr lang="it-IT" altLang="it-IT" sz="1400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")</a:t>
            </a:r>
            <a:endParaRPr kumimoji="0" lang="it-IT" altLang="it-IT" sz="1400" b="0" i="1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+mn-lt"/>
            </a:endParaRPr>
          </a:p>
        </p:txBody>
      </p:sp>
      <p:pic>
        <p:nvPicPr>
          <p:cNvPr id="8" name="Immagine 7" descr="Immagine che contiene linea, diagramm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1E66EBD8-29C9-3E32-E838-CEDBBDD53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63" y="2082960"/>
            <a:ext cx="1954050" cy="360000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11D198F5-233A-19AE-0098-3BAFCDE00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1950543"/>
            <a:ext cx="577394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•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Pregnancies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shows a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positively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skewed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distribution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with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several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high-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value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outliers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(14–17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pregnancies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• Blood Pressure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contains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impossible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values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(0 mmHg),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suggesting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missing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values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were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encoded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zero.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•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These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observations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indicate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that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data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cleaning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should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be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considered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before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predictive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modelling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•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Boxplots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provide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a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simple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way to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detect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unusual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observations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that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may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influence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statistical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analyses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36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34"/>
    </mc:Choice>
    <mc:Fallback xmlns="">
      <p:transition spd="slow" advTm="301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A5461F-0A6C-33BF-17B0-6EDB02D26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416004"/>
            <a:ext cx="10890929" cy="599660"/>
          </a:xfrm>
        </p:spPr>
        <p:txBody>
          <a:bodyPr>
            <a:normAutofit fontScale="90000"/>
          </a:bodyPr>
          <a:lstStyle/>
          <a:p>
            <a:r>
              <a:rPr lang="it-IT" dirty="0" err="1"/>
              <a:t>Diabetes</a:t>
            </a:r>
            <a:r>
              <a:rPr lang="it-IT" dirty="0"/>
              <a:t> Rates </a:t>
            </a:r>
            <a:r>
              <a:rPr lang="it-IT" sz="2200" dirty="0" err="1"/>
              <a:t>Across</a:t>
            </a:r>
            <a:r>
              <a:rPr lang="it-IT" sz="2200" dirty="0"/>
              <a:t> Age and BMI </a:t>
            </a:r>
            <a:r>
              <a:rPr lang="it-IT" sz="2200" dirty="0" err="1"/>
              <a:t>Categories</a:t>
            </a:r>
            <a:endParaRPr lang="it-IT" sz="2200" dirty="0"/>
          </a:p>
        </p:txBody>
      </p:sp>
      <p:pic>
        <p:nvPicPr>
          <p:cNvPr id="5" name="Immagine 4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8D5DD03B-8BB0-3B72-E6E1-78181BDEF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4409" y="6199188"/>
            <a:ext cx="413197" cy="38636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B44E83B-8E18-E63C-DF61-479A08CA19DA}"/>
              </a:ext>
            </a:extLst>
          </p:cNvPr>
          <p:cNvSpPr txBox="1"/>
          <p:nvPr/>
        </p:nvSpPr>
        <p:spPr>
          <a:xfrm>
            <a:off x="9220200" y="2422053"/>
            <a:ext cx="5943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# Create age groups</a:t>
            </a:r>
          </a:p>
          <a:p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diabetes$AgeGroup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&lt;-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cut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diabetes$Age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breaks = c(20, 29, 39, 49, Inf),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labels = c("&lt;30", "30-39", "40-49", "50+")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endParaRPr lang="it-IT" sz="12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# Create BMI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categories</a:t>
            </a:r>
            <a:endParaRPr lang="it-IT" sz="12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diabetes$BMICategory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&lt;-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cut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diabetes$BMI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breaks = c(-Inf, 18.5, 25, 30, Inf),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labels = c("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Underweight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", "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Normal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",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           "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Overweight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", "Obese")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endParaRPr lang="it-IT" sz="12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#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Calculate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rates</a:t>
            </a:r>
          </a:p>
          <a:p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prop.table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table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diabetes$AgeGroup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              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diabetes$Outcome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), 1)</a:t>
            </a:r>
          </a:p>
          <a:p>
            <a:endParaRPr lang="it-IT" sz="12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prop.table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table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diabetes$BMICategory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              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diabetes$Outcome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), 1)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0B3509EB-4ED1-58A2-5C9E-CCBA90788A2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67732" y="5662310"/>
            <a:ext cx="85185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prevalence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generally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increased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with age and BMI, with the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prevalence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observed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among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participants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aged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40–49 and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those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classified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obese.</a:t>
            </a:r>
            <a:endParaRPr kumimoji="0" lang="it-IT" altLang="it-I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afico 3">
            <a:extLst>
              <a:ext uri="{FF2B5EF4-FFF2-40B4-BE49-F238E27FC236}">
                <a16:creationId xmlns:a16="http://schemas.microsoft.com/office/drawing/2014/main" id="{C2698182-B8E2-0501-5CBB-3CFF37E45E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1347310"/>
              </p:ext>
            </p:extLst>
          </p:nvPr>
        </p:nvGraphicFramePr>
        <p:xfrm>
          <a:off x="3461657" y="1399658"/>
          <a:ext cx="6133107" cy="3231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Segnaposto contenuto 8">
            <a:extLst>
              <a:ext uri="{FF2B5EF4-FFF2-40B4-BE49-F238E27FC236}">
                <a16:creationId xmlns:a16="http://schemas.microsoft.com/office/drawing/2014/main" id="{44AB8251-65C0-5BFB-F226-DDE4448FC9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905074"/>
              </p:ext>
            </p:extLst>
          </p:nvPr>
        </p:nvGraphicFramePr>
        <p:xfrm>
          <a:off x="267732" y="1427716"/>
          <a:ext cx="3441543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4989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293"/>
    </mc:Choice>
    <mc:Fallback xmlns="">
      <p:transition spd="slow" advTm="812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C03C02-5B35-48E8-6FE5-EAC20E1B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3" y="1183417"/>
            <a:ext cx="10890929" cy="1097280"/>
          </a:xfrm>
        </p:spPr>
        <p:txBody>
          <a:bodyPr>
            <a:normAutofit/>
          </a:bodyPr>
          <a:lstStyle/>
          <a:p>
            <a:r>
              <a:rPr lang="it-IT" dirty="0" err="1"/>
              <a:t>Glucose</a:t>
            </a:r>
            <a:r>
              <a:rPr lang="it-IT" dirty="0"/>
              <a:t> </a:t>
            </a:r>
            <a:r>
              <a:rPr lang="it-IT" dirty="0" err="1"/>
              <a:t>Levels</a:t>
            </a:r>
            <a:r>
              <a:rPr lang="it-IT" dirty="0"/>
              <a:t> by </a:t>
            </a:r>
            <a:r>
              <a:rPr lang="it-IT" dirty="0" err="1"/>
              <a:t>Diabetes</a:t>
            </a:r>
            <a:r>
              <a:rPr lang="it-IT" dirty="0"/>
              <a:t> </a:t>
            </a:r>
            <a:r>
              <a:rPr lang="it-IT" dirty="0" err="1"/>
              <a:t>Outcome</a:t>
            </a:r>
            <a:endParaRPr lang="it-IT" dirty="0"/>
          </a:p>
        </p:txBody>
      </p:sp>
      <p:pic>
        <p:nvPicPr>
          <p:cNvPr id="4" name="Immagine 3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D5ABDD3C-C886-C371-9C1F-8E7D9A3B6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7811" y="5813266"/>
            <a:ext cx="413197" cy="386366"/>
          </a:xfrm>
          <a:prstGeom prst="rect">
            <a:avLst/>
          </a:prstGeom>
        </p:spPr>
      </p:pic>
      <p:graphicFrame>
        <p:nvGraphicFramePr>
          <p:cNvPr id="10" name="Rectangle 1">
            <a:extLst>
              <a:ext uri="{FF2B5EF4-FFF2-40B4-BE49-F238E27FC236}">
                <a16:creationId xmlns:a16="http://schemas.microsoft.com/office/drawing/2014/main" id="{4DA6DC59-A26F-1575-1E91-C44CA3E26B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347929"/>
              </p:ext>
            </p:extLst>
          </p:nvPr>
        </p:nvGraphicFramePr>
        <p:xfrm>
          <a:off x="660992" y="2247741"/>
          <a:ext cx="6138862" cy="3565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Immagine 7" descr="Immagine che contiene schermata, diagramma, Rettangolo, linea&#10;&#10;Il contenuto generato dall'IA potrebbe non essere corretto.">
            <a:extLst>
              <a:ext uri="{FF2B5EF4-FFF2-40B4-BE49-F238E27FC236}">
                <a16:creationId xmlns:a16="http://schemas.microsoft.com/office/drawing/2014/main" id="{D4725E48-65CC-E54C-45D8-F93C1574C3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6201" y="2087881"/>
            <a:ext cx="3855720" cy="3398518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A1F85D66-D559-61A9-9440-5212A8278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400" y="5427816"/>
            <a:ext cx="29083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ggplot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(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diabetes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, 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aes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(x = 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factor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(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Outcome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, labels = c("No 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Diabetes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","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Diabetes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")), y = 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Glucose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, 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fill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 = 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factor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(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Outcome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))) + 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geom_boxplot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() + labs(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title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 = "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Glucose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 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Levels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 by 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Diabetes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 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Outcome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", x = "", y = "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Glucose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 (mg/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dL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)") + 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theme_minimal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() + 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theme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(</a:t>
            </a:r>
            <a:r>
              <a:rPr kumimoji="0" lang="it-IT" altLang="it-IT" sz="10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legend.position</a:t>
            </a:r>
            <a:r>
              <a:rPr kumimoji="0" lang="it-IT" altLang="it-IT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 = "none")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88DF054-210D-C2D8-C433-74AA4944AB1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13520" y="6273224"/>
            <a:ext cx="2438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t.test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(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Glucose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 ~ 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Outcome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, data = </a:t>
            </a:r>
            <a:r>
              <a:rPr kumimoji="0" lang="it-IT" altLang="it-IT" sz="1400" b="0" i="1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diabetes</a:t>
            </a:r>
            <a:r>
              <a:rPr kumimoji="0" lang="it-IT" altLang="it-IT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65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889"/>
    </mc:Choice>
    <mc:Fallback xmlns="">
      <p:transition spd="slow" advTm="298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18439E-437E-F88D-BA61-3D09BEC37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099753"/>
            <a:ext cx="10890929" cy="1097280"/>
          </a:xfrm>
        </p:spPr>
        <p:txBody>
          <a:bodyPr/>
          <a:lstStyle/>
          <a:p>
            <a:r>
              <a:rPr lang="it-IT" dirty="0" err="1"/>
              <a:t>Pregnancies</a:t>
            </a:r>
            <a:r>
              <a:rPr lang="it-IT" dirty="0"/>
              <a:t> by </a:t>
            </a:r>
            <a:r>
              <a:rPr lang="it-IT" dirty="0" err="1"/>
              <a:t>Diabetes</a:t>
            </a:r>
            <a:r>
              <a:rPr lang="it-IT" dirty="0"/>
              <a:t> </a:t>
            </a:r>
            <a:r>
              <a:rPr lang="it-IT" dirty="0" err="1"/>
              <a:t>Outcome</a:t>
            </a:r>
            <a:endParaRPr lang="it-IT" dirty="0"/>
          </a:p>
        </p:txBody>
      </p:sp>
      <p:pic>
        <p:nvPicPr>
          <p:cNvPr id="8" name="Segnaposto contenuto 7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C08A8885-7F5A-8318-F445-B07D2B53D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4139" y="2103375"/>
            <a:ext cx="2523336" cy="3008283"/>
          </a:xfrm>
        </p:spPr>
      </p:pic>
      <p:pic>
        <p:nvPicPr>
          <p:cNvPr id="4" name="Immagine 3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A9C156C1-CF4B-8325-9892-96F033511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7811" y="5813266"/>
            <a:ext cx="413197" cy="386366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D75CB11E-EA4B-8BA2-48D4-8C5CE9CEE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2308" y="3177402"/>
            <a:ext cx="273739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# </a:t>
            </a: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Pregnancy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 groups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diabetes$PregnancyGroup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 &lt;- </a:t>
            </a: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cut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diabetes$Pregnancies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  breaks = c(-1, 0, 2, 4, Inf),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  labels = c("0", "1-2", "3-4", "5+")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000" i="1" dirty="0">
              <a:solidFill>
                <a:schemeClr val="bg2">
                  <a:lumMod val="50000"/>
                </a:schemeClr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# </a:t>
            </a: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Diabetes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 rates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prop.table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table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diabetes$PregnancyGroup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        </a:t>
            </a: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diabetes$Outcome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), 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000" i="1" dirty="0">
              <a:solidFill>
                <a:schemeClr val="bg2">
                  <a:lumMod val="50000"/>
                </a:schemeClr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# Group </a:t>
            </a: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comparison</a:t>
            </a:r>
            <a:endParaRPr lang="it-IT" altLang="it-IT" sz="1000" i="1" dirty="0">
              <a:solidFill>
                <a:schemeClr val="bg2">
                  <a:lumMod val="50000"/>
                </a:schemeClr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t.test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Pregnancies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 ~ </a:t>
            </a: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Outcome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       data = </a:t>
            </a:r>
            <a:r>
              <a:rPr lang="it-IT" altLang="it-IT" sz="1000" i="1" dirty="0" err="1">
                <a:solidFill>
                  <a:schemeClr val="bg2">
                    <a:lumMod val="50000"/>
                  </a:schemeClr>
                </a:solidFill>
              </a:rPr>
              <a:t>diabetes</a:t>
            </a:r>
            <a:r>
              <a:rPr lang="it-IT" altLang="it-IT" sz="10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kumimoji="0" lang="it-IT" altLang="it-IT" sz="1000" b="0" i="1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graphicFrame>
        <p:nvGraphicFramePr>
          <p:cNvPr id="3" name="Grafico 2">
            <a:extLst>
              <a:ext uri="{FF2B5EF4-FFF2-40B4-BE49-F238E27FC236}">
                <a16:creationId xmlns:a16="http://schemas.microsoft.com/office/drawing/2014/main" id="{9669A320-AB46-650E-0763-EB0789E962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0754951"/>
              </p:ext>
            </p:extLst>
          </p:nvPr>
        </p:nvGraphicFramePr>
        <p:xfrm>
          <a:off x="3377476" y="1857829"/>
          <a:ext cx="6637382" cy="3627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1AE49DB-887B-BFA1-1F70-6966B4D2C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5375612"/>
            <a:ext cx="7975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Findings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pregnancies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4.87 vs 3.30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rate in 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5+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pregnancies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(47.8%)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52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165"/>
    </mc:Choice>
    <mc:Fallback xmlns="">
      <p:transition spd="slow" advTm="931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37433E-B845-4C30-FD94-BA51BD9D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365919"/>
            <a:ext cx="4306824" cy="14778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Correlation Matrix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4446"/>
            <a:ext cx="4946904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6EB0B2B-CEFC-D970-8E1F-8426E01D1F06}"/>
              </a:ext>
            </a:extLst>
          </p:cNvPr>
          <p:cNvSpPr txBox="1"/>
          <p:nvPr/>
        </p:nvSpPr>
        <p:spPr>
          <a:xfrm>
            <a:off x="6096000" y="1995140"/>
            <a:ext cx="5944025" cy="5820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Key Findings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Glucose shows the strongest positive association with Outcome.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BMI and Age exhibit moderate positive relationships.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No strong correlations (&gt;0.70) were observed, indicating low multicollinearity among predictors.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7" name="Grafico 6">
            <a:extLst>
              <a:ext uri="{FF2B5EF4-FFF2-40B4-BE49-F238E27FC236}">
                <a16:creationId xmlns:a16="http://schemas.microsoft.com/office/drawing/2014/main" id="{263A5DCD-03C3-B099-C8EA-B5BEE07203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7182424"/>
              </p:ext>
            </p:extLst>
          </p:nvPr>
        </p:nvGraphicFramePr>
        <p:xfrm>
          <a:off x="54496" y="1323710"/>
          <a:ext cx="6041504" cy="3390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89CF83FC-FD13-AA70-F4B7-252407790997}"/>
              </a:ext>
            </a:extLst>
          </p:cNvPr>
          <p:cNvSpPr txBox="1"/>
          <p:nvPr/>
        </p:nvSpPr>
        <p:spPr>
          <a:xfrm>
            <a:off x="8420100" y="5778500"/>
            <a:ext cx="24257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cor_matrix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 &lt;- 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cor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diabetes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endParaRPr lang="it-IT" sz="14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round(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cor_matrix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, 2)</a:t>
            </a:r>
          </a:p>
        </p:txBody>
      </p:sp>
      <p:pic>
        <p:nvPicPr>
          <p:cNvPr id="10" name="Immagine 9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6C0E8152-1C45-0A05-154C-7B774CBA1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541" y="6023842"/>
            <a:ext cx="413197" cy="38636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F02BE0C-6937-B45D-CE1F-FA85CEEC84C7}"/>
              </a:ext>
            </a:extLst>
          </p:cNvPr>
          <p:cNvSpPr txBox="1"/>
          <p:nvPr/>
        </p:nvSpPr>
        <p:spPr>
          <a:xfrm>
            <a:off x="320040" y="5316655"/>
            <a:ext cx="6100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provides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basis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the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models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presented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09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461"/>
    </mc:Choice>
    <mc:Fallback xmlns="">
      <p:transition spd="slow" advTm="444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ADC1A-4827-7AB3-3980-9EEA3D8FC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28701"/>
            <a:ext cx="10890929" cy="1097280"/>
          </a:xfrm>
        </p:spPr>
        <p:txBody>
          <a:bodyPr/>
          <a:lstStyle/>
          <a:p>
            <a:r>
              <a:rPr lang="it-IT" dirty="0" err="1"/>
              <a:t>Hypothesis</a:t>
            </a:r>
            <a:r>
              <a:rPr lang="it-IT" dirty="0"/>
              <a:t> Testing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0D31A721-F265-D365-0515-301154CA1C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3020433"/>
              </p:ext>
            </p:extLst>
          </p:nvPr>
        </p:nvGraphicFramePr>
        <p:xfrm>
          <a:off x="474663" y="2125981"/>
          <a:ext cx="5989635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97927">
                  <a:extLst>
                    <a:ext uri="{9D8B030D-6E8A-4147-A177-3AD203B41FA5}">
                      <a16:colId xmlns:a16="http://schemas.microsoft.com/office/drawing/2014/main" val="2619724048"/>
                    </a:ext>
                  </a:extLst>
                </a:gridCol>
                <a:gridCol w="1197927">
                  <a:extLst>
                    <a:ext uri="{9D8B030D-6E8A-4147-A177-3AD203B41FA5}">
                      <a16:colId xmlns:a16="http://schemas.microsoft.com/office/drawing/2014/main" val="2288883145"/>
                    </a:ext>
                  </a:extLst>
                </a:gridCol>
                <a:gridCol w="1197927">
                  <a:extLst>
                    <a:ext uri="{9D8B030D-6E8A-4147-A177-3AD203B41FA5}">
                      <a16:colId xmlns:a16="http://schemas.microsoft.com/office/drawing/2014/main" val="2044007922"/>
                    </a:ext>
                  </a:extLst>
                </a:gridCol>
                <a:gridCol w="1197927">
                  <a:extLst>
                    <a:ext uri="{9D8B030D-6E8A-4147-A177-3AD203B41FA5}">
                      <a16:colId xmlns:a16="http://schemas.microsoft.com/office/drawing/2014/main" val="2836601991"/>
                    </a:ext>
                  </a:extLst>
                </a:gridCol>
                <a:gridCol w="1197927">
                  <a:extLst>
                    <a:ext uri="{9D8B030D-6E8A-4147-A177-3AD203B41FA5}">
                      <a16:colId xmlns:a16="http://schemas.microsoft.com/office/drawing/2014/main" val="8753586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600" dirty="0"/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 err="1"/>
                        <a:t>Statistic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 err="1"/>
                        <a:t>P-value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 err="1"/>
                        <a:t>Decision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0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dirty="0" err="1"/>
                        <a:t>Diabetesx</a:t>
                      </a:r>
                      <a:r>
                        <a:rPr lang="it-IT" sz="1600" dirty="0"/>
                        <a:t> age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Chi-</a:t>
                      </a:r>
                      <a:r>
                        <a:rPr lang="it-IT" sz="1600" dirty="0" err="1"/>
                        <a:t>square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χ²</a:t>
                      </a:r>
                      <a:r>
                        <a:rPr lang="it-IT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69.92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Reject</a:t>
                      </a:r>
                      <a:r>
                        <a:rPr lang="it-IT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H₀</a:t>
                      </a:r>
                      <a:endParaRPr lang="it-IT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8395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dirty="0" err="1"/>
                        <a:t>DiabetesxBMI</a:t>
                      </a:r>
                      <a:r>
                        <a:rPr lang="it-IT" sz="1600" dirty="0"/>
                        <a:t> </a:t>
                      </a:r>
                      <a:r>
                        <a:rPr lang="it-IT" sz="1600" dirty="0" err="1"/>
                        <a:t>Categories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Chi-</a:t>
                      </a:r>
                      <a:r>
                        <a:rPr lang="it-IT" sz="1600" dirty="0" err="1"/>
                        <a:t>square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χ² = 76.43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dirty="0"/>
                        <a:t>&lt;0.001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Reject</a:t>
                      </a:r>
                      <a:r>
                        <a:rPr lang="it-IT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H₀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9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Glucose</a:t>
                      </a:r>
                      <a:r>
                        <a:rPr lang="it-IT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by Age Groups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ANOVA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it-IT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19.62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&lt;0.001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Reject</a:t>
                      </a:r>
                      <a:r>
                        <a:rPr lang="it-IT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H₀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534223"/>
                  </a:ext>
                </a:extLst>
              </a:tr>
            </a:tbl>
          </a:graphicData>
        </a:graphic>
      </p:graphicFrame>
      <p:pic>
        <p:nvPicPr>
          <p:cNvPr id="4" name="Immagine 3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BBBFC9E4-0DE9-C79B-2044-35D82DB85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7811" y="5813266"/>
            <a:ext cx="413197" cy="38636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FAF94E03-F5C2-9D23-3A50-4A894F6EA9C2}"/>
              </a:ext>
            </a:extLst>
          </p:cNvPr>
          <p:cNvSpPr txBox="1"/>
          <p:nvPr/>
        </p:nvSpPr>
        <p:spPr>
          <a:xfrm>
            <a:off x="8465589" y="4147571"/>
            <a:ext cx="372641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chisq.test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table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diabetes$AgeGroup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diabetes$Outcome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))</a:t>
            </a:r>
          </a:p>
          <a:p>
            <a:endParaRPr lang="it-IT" sz="14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chisq.test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table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diabetes$BMICategory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diabetes$Outcome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))</a:t>
            </a:r>
          </a:p>
          <a:p>
            <a:endParaRPr lang="it-IT" sz="14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anova_model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 &lt;- 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aov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Glucose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 ~ 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AgeGroup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, data = 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diabetes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endParaRPr lang="it-IT" sz="14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summary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anova_model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endParaRPr lang="it-IT" sz="14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TukeyHSD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400" i="1" dirty="0" err="1">
                <a:solidFill>
                  <a:schemeClr val="bg2">
                    <a:lumMod val="50000"/>
                  </a:schemeClr>
                </a:solidFill>
              </a:rPr>
              <a:t>anova_model</a:t>
            </a:r>
            <a:r>
              <a:rPr lang="it-IT" sz="14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13D9B7D-3824-084D-10E7-31F32E124FA6}"/>
              </a:ext>
            </a:extLst>
          </p:cNvPr>
          <p:cNvSpPr txBox="1"/>
          <p:nvPr/>
        </p:nvSpPr>
        <p:spPr>
          <a:xfrm>
            <a:off x="7069136" y="2069704"/>
            <a:ext cx="46482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Post-hoc (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Tukey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 HSD)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50+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significantly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glucose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levels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(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&lt; 0.01).</a:t>
            </a:r>
          </a:p>
          <a:p>
            <a:endParaRPr lang="it-I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30-39 and 40-49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showed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= 0.998).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94423A-07E8-6DF1-261F-D597FA150B42}"/>
              </a:ext>
            </a:extLst>
          </p:cNvPr>
          <p:cNvSpPr txBox="1"/>
          <p:nvPr/>
        </p:nvSpPr>
        <p:spPr>
          <a:xfrm>
            <a:off x="474663" y="502473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prevalence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differed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significantly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age and BMI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categories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In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addition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older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participants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(50+)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significantly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glucose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levels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younger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participants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78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663"/>
    </mc:Choice>
    <mc:Fallback xmlns="">
      <p:transition spd="slow" advTm="506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F41207-8B55-DC34-B463-A52CA880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26" y="325495"/>
            <a:ext cx="10890929" cy="1097280"/>
          </a:xfrm>
        </p:spPr>
        <p:txBody>
          <a:bodyPr/>
          <a:lstStyle/>
          <a:p>
            <a:r>
              <a:rPr lang="it-IT" dirty="0"/>
              <a:t>Multiple Linear </a:t>
            </a:r>
            <a:r>
              <a:rPr lang="it-IT" dirty="0" err="1"/>
              <a:t>Regression</a:t>
            </a:r>
            <a:r>
              <a:rPr lang="it-IT" dirty="0"/>
              <a:t> </a:t>
            </a:r>
          </a:p>
        </p:txBody>
      </p:sp>
      <p:pic>
        <p:nvPicPr>
          <p:cNvPr id="5" name="Immagine 4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9F6B4434-1D9F-A8C6-CFBC-696C014C7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5637" y="6199188"/>
            <a:ext cx="413197" cy="38636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EB56DEE-83AD-495F-01DD-763217F1AF64}"/>
              </a:ext>
            </a:extLst>
          </p:cNvPr>
          <p:cNvSpPr txBox="1"/>
          <p:nvPr/>
        </p:nvSpPr>
        <p:spPr>
          <a:xfrm>
            <a:off x="9516811" y="5288340"/>
            <a:ext cx="58488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linear_model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&lt;- lm(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Glucose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~ Age + BMI +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Pregnancies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+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 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BloodPressure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+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SkinThickness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+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 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Insulin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+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DiabetesPedigreeFunction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data =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</a:t>
            </a:r>
            <a:endParaRPr lang="it-IT" sz="12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endParaRPr lang="it-IT" sz="12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summary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linear_model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A87ABEBD-3BF6-6DBC-933F-F94C53566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933042"/>
              </p:ext>
            </p:extLst>
          </p:nvPr>
        </p:nvGraphicFramePr>
        <p:xfrm>
          <a:off x="6310396" y="1743505"/>
          <a:ext cx="4886078" cy="2225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443039">
                  <a:extLst>
                    <a:ext uri="{9D8B030D-6E8A-4147-A177-3AD203B41FA5}">
                      <a16:colId xmlns:a16="http://schemas.microsoft.com/office/drawing/2014/main" val="3355522483"/>
                    </a:ext>
                  </a:extLst>
                </a:gridCol>
                <a:gridCol w="2443039">
                  <a:extLst>
                    <a:ext uri="{9D8B030D-6E8A-4147-A177-3AD203B41FA5}">
                      <a16:colId xmlns:a16="http://schemas.microsoft.com/office/drawing/2014/main" val="1558665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400" dirty="0" err="1"/>
                        <a:t>Metric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Result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210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 err="1"/>
                        <a:t>Observations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768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872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0.230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67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Adjusted</a:t>
                      </a:r>
                      <a:r>
                        <a:rPr lang="it-IT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R²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0.223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820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F-statistic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32.46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788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</a:t>
                      </a:r>
                      <a:r>
                        <a:rPr lang="it-IT" sz="14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p-value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96757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BB786564-C0F3-4129-5CFD-4A79CE7CA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959144"/>
              </p:ext>
            </p:extLst>
          </p:nvPr>
        </p:nvGraphicFramePr>
        <p:xfrm>
          <a:off x="540326" y="1787236"/>
          <a:ext cx="3973472" cy="4674524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184189">
                  <a:extLst>
                    <a:ext uri="{9D8B030D-6E8A-4147-A177-3AD203B41FA5}">
                      <a16:colId xmlns:a16="http://schemas.microsoft.com/office/drawing/2014/main" val="2416617362"/>
                    </a:ext>
                  </a:extLst>
                </a:gridCol>
                <a:gridCol w="899271">
                  <a:extLst>
                    <a:ext uri="{9D8B030D-6E8A-4147-A177-3AD203B41FA5}">
                      <a16:colId xmlns:a16="http://schemas.microsoft.com/office/drawing/2014/main" val="983544533"/>
                    </a:ext>
                  </a:extLst>
                </a:gridCol>
                <a:gridCol w="727333">
                  <a:extLst>
                    <a:ext uri="{9D8B030D-6E8A-4147-A177-3AD203B41FA5}">
                      <a16:colId xmlns:a16="http://schemas.microsoft.com/office/drawing/2014/main" val="2404232850"/>
                    </a:ext>
                  </a:extLst>
                </a:gridCol>
                <a:gridCol w="1162679">
                  <a:extLst>
                    <a:ext uri="{9D8B030D-6E8A-4147-A177-3AD203B41FA5}">
                      <a16:colId xmlns:a16="http://schemas.microsoft.com/office/drawing/2014/main" val="4083292529"/>
                    </a:ext>
                  </a:extLst>
                </a:gridCol>
              </a:tblGrid>
              <a:tr h="568210">
                <a:tc>
                  <a:txBody>
                    <a:bodyPr/>
                    <a:lstStyle/>
                    <a:p>
                      <a:r>
                        <a:rPr lang="it-IT" sz="1400" dirty="0" err="1"/>
                        <a:t>Predictor</a:t>
                      </a:r>
                      <a:endParaRPr lang="it-IT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β </a:t>
                      </a:r>
                      <a:r>
                        <a:rPr lang="it-IT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</a:t>
                      </a:r>
                      <a:endParaRPr lang="it-IT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p-value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b="0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73183"/>
                  </a:ext>
                </a:extLst>
              </a:tr>
              <a:tr h="360009">
                <a:tc>
                  <a:txBody>
                    <a:bodyPr/>
                    <a:lstStyle/>
                    <a:p>
                      <a:r>
                        <a:rPr lang="it-IT" sz="1400" dirty="0"/>
                        <a:t>Age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+0.645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☑️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683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sz="1400" dirty="0"/>
                        <a:t>BMI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+0.750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/>
                        <a:t>&lt;0.001</a:t>
                      </a:r>
                    </a:p>
                    <a:p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☑️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343939"/>
                  </a:ext>
                </a:extLst>
              </a:tr>
              <a:tr h="413250">
                <a:tc>
                  <a:txBody>
                    <a:bodyPr/>
                    <a:lstStyle/>
                    <a:p>
                      <a:r>
                        <a:rPr lang="it-IT" sz="1400" dirty="0" err="1"/>
                        <a:t>Insulin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/>
                        <a:t>&lt;0.001</a:t>
                      </a:r>
                    </a:p>
                    <a:p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☑️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134149"/>
                  </a:ext>
                </a:extLst>
              </a:tr>
              <a:tr h="630016">
                <a:tc>
                  <a:txBody>
                    <a:bodyPr/>
                    <a:lstStyle/>
                    <a:p>
                      <a:r>
                        <a:rPr lang="it-IT" sz="14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Skin</a:t>
                      </a:r>
                      <a:r>
                        <a:rPr lang="it-IT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4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Thickness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-0.334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/>
                        <a:t>&lt;0.001</a:t>
                      </a:r>
                    </a:p>
                    <a:p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☑️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856017"/>
                  </a:ext>
                </a:extLst>
              </a:tr>
              <a:tr h="54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DPF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+6.316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☑️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595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sz="14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Pregnancies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+0.059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❌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422452"/>
                  </a:ext>
                </a:extLst>
              </a:tr>
              <a:tr h="630016">
                <a:tc>
                  <a:txBody>
                    <a:bodyPr/>
                    <a:lstStyle/>
                    <a:p>
                      <a:r>
                        <a:rPr lang="it-IT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Blood Pressure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+0.070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❌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87659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AA70FD2-7E16-1663-D29B-651F2FD0A861}"/>
              </a:ext>
            </a:extLst>
          </p:cNvPr>
          <p:cNvSpPr txBox="1"/>
          <p:nvPr/>
        </p:nvSpPr>
        <p:spPr>
          <a:xfrm>
            <a:off x="7490516" y="1422775"/>
            <a:ext cx="1721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/>
              <a:t>Model Performance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E76D30F-BD75-5667-38C0-0E9E0CF57EAE}"/>
              </a:ext>
            </a:extLst>
          </p:cNvPr>
          <p:cNvSpPr txBox="1"/>
          <p:nvPr/>
        </p:nvSpPr>
        <p:spPr>
          <a:xfrm>
            <a:off x="1558958" y="1466506"/>
            <a:ext cx="1903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lang="it-IT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Predictors</a:t>
            </a:r>
            <a:endParaRPr lang="it-IT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6F00C6D-78B8-8C99-DCE8-8977442A8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05" y="4272677"/>
            <a:ext cx="451379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R² = 23%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Age, BMI,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Insulin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DPF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were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predictors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63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505"/>
    </mc:Choice>
    <mc:Fallback xmlns="">
      <p:transition spd="slow" advTm="965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D16FAD-C89A-5C7D-AD6E-3F1210738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61466"/>
            <a:ext cx="10890929" cy="1097280"/>
          </a:xfrm>
        </p:spPr>
        <p:txBody>
          <a:bodyPr/>
          <a:lstStyle/>
          <a:p>
            <a:r>
              <a:rPr lang="it-IT" dirty="0" err="1"/>
              <a:t>Logistic</a:t>
            </a:r>
            <a:r>
              <a:rPr lang="it-IT" dirty="0"/>
              <a:t> </a:t>
            </a:r>
            <a:r>
              <a:rPr lang="it-IT" dirty="0" err="1"/>
              <a:t>Regression</a:t>
            </a:r>
            <a:endParaRPr lang="it-IT" dirty="0"/>
          </a:p>
        </p:txBody>
      </p:sp>
      <p:pic>
        <p:nvPicPr>
          <p:cNvPr id="4" name="Immagine 3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42DE28D3-E814-94DC-F55B-293A1742B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7811" y="5813266"/>
            <a:ext cx="413197" cy="38636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980D3EC-B075-5D01-24C9-54404ECF3647}"/>
              </a:ext>
            </a:extLst>
          </p:cNvPr>
          <p:cNvSpPr txBox="1"/>
          <p:nvPr/>
        </p:nvSpPr>
        <p:spPr>
          <a:xfrm>
            <a:off x="8961623" y="5221619"/>
            <a:ext cx="22313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log_model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&lt;-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glm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Outcome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~ BMI + Age +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Glucose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data =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family =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binomial</a:t>
            </a:r>
            <a:endParaRPr lang="it-IT" sz="12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endParaRPr lang="it-IT" sz="12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summary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log_model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10" name="Segnaposto contenuto 9">
            <a:extLst>
              <a:ext uri="{FF2B5EF4-FFF2-40B4-BE49-F238E27FC236}">
                <a16:creationId xmlns:a16="http://schemas.microsoft.com/office/drawing/2014/main" id="{2C718A6D-A8CE-130E-5B5F-BC02826E24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9261801"/>
              </p:ext>
            </p:extLst>
          </p:nvPr>
        </p:nvGraphicFramePr>
        <p:xfrm>
          <a:off x="656417" y="1812758"/>
          <a:ext cx="5677912" cy="241191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64348">
                  <a:extLst>
                    <a:ext uri="{9D8B030D-6E8A-4147-A177-3AD203B41FA5}">
                      <a16:colId xmlns:a16="http://schemas.microsoft.com/office/drawing/2014/main" val="363224407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936257804"/>
                    </a:ext>
                  </a:extLst>
                </a:gridCol>
                <a:gridCol w="1278082">
                  <a:extLst>
                    <a:ext uri="{9D8B030D-6E8A-4147-A177-3AD203B41FA5}">
                      <a16:colId xmlns:a16="http://schemas.microsoft.com/office/drawing/2014/main" val="373321247"/>
                    </a:ext>
                  </a:extLst>
                </a:gridCol>
                <a:gridCol w="2192482">
                  <a:extLst>
                    <a:ext uri="{9D8B030D-6E8A-4147-A177-3AD203B41FA5}">
                      <a16:colId xmlns:a16="http://schemas.microsoft.com/office/drawing/2014/main" val="406721034"/>
                    </a:ext>
                  </a:extLst>
                </a:gridCol>
              </a:tblGrid>
              <a:tr h="578218">
                <a:tc>
                  <a:txBody>
                    <a:bodyPr/>
                    <a:lstStyle/>
                    <a:p>
                      <a:r>
                        <a:rPr lang="it-IT" sz="1600" dirty="0" err="1"/>
                        <a:t>Predictor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 err="1"/>
                        <a:t>Odds</a:t>
                      </a:r>
                      <a:r>
                        <a:rPr lang="it-IT" sz="1600" dirty="0"/>
                        <a:t>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 err="1"/>
                        <a:t>P-value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 err="1"/>
                        <a:t>interpretation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158063"/>
                  </a:ext>
                </a:extLst>
              </a:tr>
              <a:tr h="624765">
                <a:tc>
                  <a:txBody>
                    <a:bodyPr/>
                    <a:lstStyle/>
                    <a:p>
                      <a:r>
                        <a:rPr lang="it-IT" sz="1400" dirty="0"/>
                        <a:t>BMI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Higher</a:t>
                      </a:r>
                      <a:r>
                        <a:rPr lang="it-IT" sz="1400" dirty="0"/>
                        <a:t> BMI </a:t>
                      </a:r>
                      <a:r>
                        <a:rPr lang="it-IT" sz="1400" dirty="0" err="1"/>
                        <a:t>increases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diabetes</a:t>
                      </a:r>
                      <a:r>
                        <a:rPr lang="it-IT" sz="1400" dirty="0"/>
                        <a:t>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546095"/>
                  </a:ext>
                </a:extLst>
              </a:tr>
              <a:tr h="602673">
                <a:tc>
                  <a:txBody>
                    <a:bodyPr/>
                    <a:lstStyle/>
                    <a:p>
                      <a:r>
                        <a:rPr lang="it-IT" sz="14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Older</a:t>
                      </a:r>
                      <a:r>
                        <a:rPr lang="it-IT" sz="1400" dirty="0"/>
                        <a:t> age </a:t>
                      </a:r>
                      <a:r>
                        <a:rPr lang="it-IT" sz="1400" dirty="0" err="1"/>
                        <a:t>increases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diabetes</a:t>
                      </a:r>
                      <a:r>
                        <a:rPr lang="it-IT" sz="1400" dirty="0"/>
                        <a:t>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758194"/>
                  </a:ext>
                </a:extLst>
              </a:tr>
              <a:tr h="606254">
                <a:tc>
                  <a:txBody>
                    <a:bodyPr/>
                    <a:lstStyle/>
                    <a:p>
                      <a:r>
                        <a:rPr lang="it-IT" sz="1400" dirty="0" err="1"/>
                        <a:t>Glucose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Higher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glucose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increases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diabetes</a:t>
                      </a:r>
                      <a:r>
                        <a:rPr lang="it-IT" sz="1400" dirty="0"/>
                        <a:t>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526100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BA0D293-7B92-E6DE-7AB4-0E08C2DD43EB}"/>
              </a:ext>
            </a:extLst>
          </p:cNvPr>
          <p:cNvSpPr txBox="1"/>
          <p:nvPr/>
        </p:nvSpPr>
        <p:spPr>
          <a:xfrm>
            <a:off x="2513446" y="1458746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/>
              <a:t>Model </a:t>
            </a:r>
            <a:r>
              <a:rPr lang="it-IT" sz="1400" b="1" dirty="0" err="1"/>
              <a:t>Results</a:t>
            </a:r>
            <a:endParaRPr lang="it-IT" sz="1400" b="1" dirty="0"/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7944E100-A5C7-D92B-45CA-BD9359D9F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346712"/>
              </p:ext>
            </p:extLst>
          </p:nvPr>
        </p:nvGraphicFramePr>
        <p:xfrm>
          <a:off x="7252318" y="1812758"/>
          <a:ext cx="3418610" cy="2148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709305">
                  <a:extLst>
                    <a:ext uri="{9D8B030D-6E8A-4147-A177-3AD203B41FA5}">
                      <a16:colId xmlns:a16="http://schemas.microsoft.com/office/drawing/2014/main" val="1377512673"/>
                    </a:ext>
                  </a:extLst>
                </a:gridCol>
                <a:gridCol w="1709305">
                  <a:extLst>
                    <a:ext uri="{9D8B030D-6E8A-4147-A177-3AD203B41FA5}">
                      <a16:colId xmlns:a16="http://schemas.microsoft.com/office/drawing/2014/main" val="1580460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600" dirty="0" err="1"/>
                        <a:t>Metric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 err="1"/>
                        <a:t>Result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593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 err="1"/>
                        <a:t>Hosmer-Lemeshow</a:t>
                      </a:r>
                      <a:r>
                        <a:rPr lang="it-IT" sz="1400" dirty="0"/>
                        <a:t>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P</a:t>
                      </a:r>
                      <a:r>
                        <a:rPr lang="it-IT" sz="1400" dirty="0"/>
                        <a:t> = 0.349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892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 err="1"/>
                        <a:t>Classification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Accuracy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76.8%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56.3%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255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 err="1"/>
                        <a:t>Specificity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87.8%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155411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B76DD5B-4D3B-E73C-63C6-28DAA1030CF5}"/>
              </a:ext>
            </a:extLst>
          </p:cNvPr>
          <p:cNvSpPr txBox="1"/>
          <p:nvPr/>
        </p:nvSpPr>
        <p:spPr>
          <a:xfrm>
            <a:off x="7956608" y="1458745"/>
            <a:ext cx="1721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/>
              <a:t>Model Performance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AF6B1319-63C6-9D4F-D54C-235CAE6AC82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8150" y="4383592"/>
            <a:ext cx="832591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All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three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predictors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(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BMI, Age and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Glucose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)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were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statistically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significant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The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Hosmer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–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Lemeshow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test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was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not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significant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(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p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= 0.349)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indicating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that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the model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fits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the data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adequately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The model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correctly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classified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76.8%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of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participants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The model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identified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87.8% of non-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diabetic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individuals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(high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specificity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)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but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only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56.3% of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diabetic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individuals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(moderate sensitivity).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A02EE25-4837-F9F1-D7A9-EFB42DB2017F}"/>
              </a:ext>
            </a:extLst>
          </p:cNvPr>
          <p:cNvSpPr txBox="1"/>
          <p:nvPr/>
        </p:nvSpPr>
        <p:spPr>
          <a:xfrm>
            <a:off x="10733809" y="3504942"/>
            <a:ext cx="14581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hoslem.test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diabetes$Outcome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         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fitted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log_model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))</a:t>
            </a:r>
          </a:p>
          <a:p>
            <a:endParaRPr lang="it-IT" sz="12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predicted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&lt;-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ifelse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predict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log_model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type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= "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response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") &gt; 0.5,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1, 0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27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870"/>
    </mc:Choice>
    <mc:Fallback xmlns="">
      <p:transition spd="slow" advTm="918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766DBDD-78C1-6902-6781-CF25E1956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76" y="635372"/>
            <a:ext cx="4876801" cy="15695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Model Comparison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Segnaposto contenuto 9">
            <a:extLst>
              <a:ext uri="{FF2B5EF4-FFF2-40B4-BE49-F238E27FC236}">
                <a16:creationId xmlns:a16="http://schemas.microsoft.com/office/drawing/2014/main" id="{66072883-D65A-7BF6-12EA-1460C7A266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7480956"/>
              </p:ext>
            </p:extLst>
          </p:nvPr>
        </p:nvGraphicFramePr>
        <p:xfrm>
          <a:off x="233363" y="1971617"/>
          <a:ext cx="4210534" cy="1259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759">
                  <a:extLst>
                    <a:ext uri="{9D8B030D-6E8A-4147-A177-3AD203B41FA5}">
                      <a16:colId xmlns:a16="http://schemas.microsoft.com/office/drawing/2014/main" val="3500392057"/>
                    </a:ext>
                  </a:extLst>
                </a:gridCol>
                <a:gridCol w="3193775">
                  <a:extLst>
                    <a:ext uri="{9D8B030D-6E8A-4147-A177-3AD203B41FA5}">
                      <a16:colId xmlns:a16="http://schemas.microsoft.com/office/drawing/2014/main" val="23386851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6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 err="1"/>
                        <a:t>Predictors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636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BMI+Age+Glucose+Pregnancies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45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BMI+Age+Glucose+Pregnancies+BMIxAge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56113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3CA52C5C-A3AB-A02C-FCDE-E9EF75618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682042"/>
              </p:ext>
            </p:extLst>
          </p:nvPr>
        </p:nvGraphicFramePr>
        <p:xfrm>
          <a:off x="4879818" y="1971617"/>
          <a:ext cx="2422130" cy="16306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904203">
                  <a:extLst>
                    <a:ext uri="{9D8B030D-6E8A-4147-A177-3AD203B41FA5}">
                      <a16:colId xmlns:a16="http://schemas.microsoft.com/office/drawing/2014/main" val="462692904"/>
                    </a:ext>
                  </a:extLst>
                </a:gridCol>
                <a:gridCol w="1517927">
                  <a:extLst>
                    <a:ext uri="{9D8B030D-6E8A-4147-A177-3AD203B41FA5}">
                      <a16:colId xmlns:a16="http://schemas.microsoft.com/office/drawing/2014/main" val="3778543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600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 err="1"/>
                        <a:t>Result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881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14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χ²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0.039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7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 err="1"/>
                        <a:t>P-value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0.843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111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 err="1"/>
                        <a:t>Decision</a:t>
                      </a:r>
                      <a:r>
                        <a:rPr lang="it-IT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Interaction </a:t>
                      </a:r>
                      <a:r>
                        <a:rPr lang="it-IT" sz="1400" dirty="0" err="1"/>
                        <a:t>not</a:t>
                      </a:r>
                      <a:r>
                        <a:rPr lang="it-IT" sz="1400" dirty="0"/>
                        <a:t> </a:t>
                      </a:r>
                      <a:r>
                        <a:rPr lang="it-IT" sz="1400" dirty="0" err="1"/>
                        <a:t>significant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332834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530880CD-6374-D8A9-C7A9-41FE6BDB4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748950"/>
              </p:ext>
            </p:extLst>
          </p:nvPr>
        </p:nvGraphicFramePr>
        <p:xfrm>
          <a:off x="7779236" y="1940839"/>
          <a:ext cx="2901464" cy="22250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06391">
                  <a:extLst>
                    <a:ext uri="{9D8B030D-6E8A-4147-A177-3AD203B41FA5}">
                      <a16:colId xmlns:a16="http://schemas.microsoft.com/office/drawing/2014/main" val="1065072689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648570382"/>
                    </a:ext>
                  </a:extLst>
                </a:gridCol>
                <a:gridCol w="996573">
                  <a:extLst>
                    <a:ext uri="{9D8B030D-6E8A-4147-A177-3AD203B41FA5}">
                      <a16:colId xmlns:a16="http://schemas.microsoft.com/office/drawing/2014/main" val="1686383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600" dirty="0" err="1"/>
                        <a:t>Predictor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 err="1"/>
                        <a:t>P-value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109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BMI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0.064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066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0.871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118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 err="1"/>
                        <a:t>Glucose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351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 err="1"/>
                        <a:t>Pregnancies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6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BMI x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0.843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922749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3387966-E8FA-8E3D-9315-57E9DAA53E46}"/>
              </a:ext>
            </a:extLst>
          </p:cNvPr>
          <p:cNvSpPr txBox="1"/>
          <p:nvPr/>
        </p:nvSpPr>
        <p:spPr>
          <a:xfrm>
            <a:off x="1267452" y="1603331"/>
            <a:ext cx="1582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err="1"/>
              <a:t>Logistic</a:t>
            </a:r>
            <a:r>
              <a:rPr lang="it-IT" sz="1600" b="1" dirty="0"/>
              <a:t> Models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1E685C5-CB95-AF78-88F8-18A020DAFCD0}"/>
              </a:ext>
            </a:extLst>
          </p:cNvPr>
          <p:cNvSpPr txBox="1"/>
          <p:nvPr/>
        </p:nvSpPr>
        <p:spPr>
          <a:xfrm>
            <a:off x="4959887" y="1602285"/>
            <a:ext cx="20347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err="1"/>
              <a:t>Likelihood</a:t>
            </a:r>
            <a:r>
              <a:rPr lang="it-IT" sz="1600" b="1" dirty="0"/>
              <a:t> Ratio Test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1D1400B-FDEE-2937-1CD7-CFFBB6148C87}"/>
              </a:ext>
            </a:extLst>
          </p:cNvPr>
          <p:cNvSpPr txBox="1"/>
          <p:nvPr/>
        </p:nvSpPr>
        <p:spPr>
          <a:xfrm>
            <a:off x="8290261" y="1602285"/>
            <a:ext cx="21451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err="1"/>
              <a:t>Odds</a:t>
            </a:r>
            <a:r>
              <a:rPr lang="it-IT" sz="1600" b="1" dirty="0"/>
              <a:t> </a:t>
            </a:r>
            <a:r>
              <a:rPr lang="it-IT" sz="1600" b="1" dirty="0" err="1"/>
              <a:t>Ratios</a:t>
            </a:r>
            <a:r>
              <a:rPr lang="it-IT" sz="1600" b="1" dirty="0"/>
              <a:t> (Model 2)</a:t>
            </a: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88907387-06D8-6587-4125-AB27A4B8083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3363" y="3600072"/>
            <a:ext cx="776577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Adding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 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BMI × Age interaction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model (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Likelihood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Ratio Test: 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0.843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interaction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term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statistically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Glucose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Pregnancies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remained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predictors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 1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preferred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because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more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parsimonious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providing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similar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3A73DCF-2E3D-FA6E-FCB5-9CDBD8E3DF66}"/>
              </a:ext>
            </a:extLst>
          </p:cNvPr>
          <p:cNvSpPr txBox="1"/>
          <p:nvPr/>
        </p:nvSpPr>
        <p:spPr>
          <a:xfrm>
            <a:off x="7880735" y="4129768"/>
            <a:ext cx="760674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model1 &lt;-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glm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Outcome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~ BMI + Age +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Glucose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+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Pregnancies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family =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binomial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data =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</a:t>
            </a:r>
            <a:endParaRPr lang="it-IT" sz="12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model2 &lt;-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glm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Outcome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~ BMI * Age +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Glucose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+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Pregnancies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family =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binomial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,</a:t>
            </a: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  data = 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diabetes</a:t>
            </a:r>
            <a:endParaRPr lang="it-IT" sz="1200" i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anova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(model1, model2, test = "</a:t>
            </a:r>
            <a:r>
              <a:rPr lang="it-IT" sz="1200" i="1" dirty="0" err="1">
                <a:solidFill>
                  <a:schemeClr val="bg2">
                    <a:lumMod val="50000"/>
                  </a:schemeClr>
                </a:solidFill>
              </a:rPr>
              <a:t>Chisq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</a:rPr>
              <a:t>")</a:t>
            </a:r>
          </a:p>
        </p:txBody>
      </p:sp>
      <p:pic>
        <p:nvPicPr>
          <p:cNvPr id="21" name="Immagine 20" descr="Immagine che contiene logo, simbol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33F95EB0-227E-D52A-F3DB-CBBFEA25B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3149" y="5777961"/>
            <a:ext cx="413197" cy="38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70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36"/>
    </mc:Choice>
    <mc:Fallback xmlns="">
      <p:transition spd="slow" advTm="646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3596F3-9AC5-6F6B-FE8A-75E132E7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72818"/>
            <a:ext cx="10890929" cy="1097280"/>
          </a:xfrm>
        </p:spPr>
        <p:txBody>
          <a:bodyPr/>
          <a:lstStyle/>
          <a:p>
            <a:r>
              <a:rPr lang="it-IT" dirty="0" err="1"/>
              <a:t>Discussion</a:t>
            </a:r>
            <a:endParaRPr lang="it-IT" dirty="0"/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D3A0AB1F-6F46-1B0E-4D09-9DB4437B46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655876"/>
              </p:ext>
            </p:extLst>
          </p:nvPr>
        </p:nvGraphicFramePr>
        <p:xfrm>
          <a:off x="308459" y="2270098"/>
          <a:ext cx="5944256" cy="3077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9F4E54C-31D1-9CFE-0FA0-DF3BE996D3C6}"/>
              </a:ext>
            </a:extLst>
          </p:cNvPr>
          <p:cNvSpPr txBox="1"/>
          <p:nvPr/>
        </p:nvSpPr>
        <p:spPr>
          <a:xfrm>
            <a:off x="6506817" y="2554281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BMI 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 a risk 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BMI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significantly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increased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risk,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supporting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evidence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obesity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a major contributor to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396FFDF-31BF-5B54-33E8-EA1A5F861337}"/>
              </a:ext>
            </a:extLst>
          </p:cNvPr>
          <p:cNvSpPr txBox="1"/>
          <p:nvPr/>
        </p:nvSpPr>
        <p:spPr>
          <a:xfrm>
            <a:off x="6506817" y="1346768"/>
            <a:ext cx="630140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 and </a:t>
            </a:r>
            <a:r>
              <a:rPr lang="it-IT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endParaRPr lang="it-IT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Older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adults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glucose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levels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prevalence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consistent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previous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epidemiological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studies</a:t>
            </a:r>
            <a:r>
              <a:rPr lang="it-IT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CE9B92C-68B0-E0C5-FC14-4221F465755F}"/>
              </a:ext>
            </a:extLst>
          </p:cNvPr>
          <p:cNvSpPr txBox="1"/>
          <p:nvPr/>
        </p:nvSpPr>
        <p:spPr>
          <a:xfrm>
            <a:off x="6506817" y="3762384"/>
            <a:ext cx="553940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Glucose</a:t>
            </a:r>
            <a:endParaRPr lang="it-IT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Glucose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strongest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predictor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models,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agrees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it-IT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established</a:t>
            </a:r>
            <a:r>
              <a:rPr lang="it-IT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clinical knowledge.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1FB1692-A0F6-4E1D-8E69-9BD3A8105259}"/>
              </a:ext>
            </a:extLst>
          </p:cNvPr>
          <p:cNvSpPr txBox="1"/>
          <p:nvPr/>
        </p:nvSpPr>
        <p:spPr>
          <a:xfrm>
            <a:off x="116959" y="5731724"/>
            <a:ext cx="64670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Comprehensive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statistical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helps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patterns and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relationships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health datasets,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improving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supporting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evidence-based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r>
              <a:rPr lang="it-IT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00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026"/>
    </mc:Choice>
    <mc:Fallback xmlns="">
      <p:transition spd="slow" advTm="6502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04A29BF-AB1B-2A37-64AF-3AC86768E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464" y="557302"/>
            <a:ext cx="6501810" cy="1097280"/>
          </a:xfrm>
        </p:spPr>
        <p:txBody>
          <a:bodyPr anchor="t">
            <a:normAutofit/>
          </a:bodyPr>
          <a:lstStyle/>
          <a:p>
            <a:r>
              <a:rPr lang="it-IT" dirty="0" err="1"/>
              <a:t>Limitations</a:t>
            </a:r>
            <a:r>
              <a:rPr lang="it-IT" dirty="0"/>
              <a:t> &amp; Future Work</a:t>
            </a:r>
          </a:p>
        </p:txBody>
      </p:sp>
      <p:pic>
        <p:nvPicPr>
          <p:cNvPr id="5" name="Picture 4" descr="Particelle chiare in sospensione">
            <a:extLst>
              <a:ext uri="{FF2B5EF4-FFF2-40B4-BE49-F238E27FC236}">
                <a16:creationId xmlns:a16="http://schemas.microsoft.com/office/drawing/2014/main" id="{371F7BD6-25E8-E3D6-F5D0-C4F6AAA5F3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75" r="39764"/>
          <a:stretch>
            <a:fillRect/>
          </a:stretch>
        </p:blipFill>
        <p:spPr>
          <a:xfrm>
            <a:off x="20" y="914399"/>
            <a:ext cx="3155617" cy="408164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441655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C60E67-563B-FAD4-904D-5953CC4A78AD}"/>
              </a:ext>
            </a:extLst>
          </p:cNvPr>
          <p:cNvSpPr txBox="1"/>
          <p:nvPr/>
        </p:nvSpPr>
        <p:spPr>
          <a:xfrm>
            <a:off x="16048" y="5758934"/>
            <a:ext cx="10217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Future studies </a:t>
            </a:r>
            <a:r>
              <a:rPr lang="it-IT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lang="it-IT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 </a:t>
            </a:r>
            <a:r>
              <a:rPr lang="it-IT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larger</a:t>
            </a:r>
            <a:r>
              <a:rPr lang="it-IT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cleaner</a:t>
            </a:r>
            <a:r>
              <a:rPr lang="it-IT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datasets and more </a:t>
            </a:r>
            <a:r>
              <a:rPr lang="it-IT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advanced</a:t>
            </a:r>
            <a:r>
              <a:rPr lang="it-IT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lang="it-IT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models.</a:t>
            </a:r>
          </a:p>
        </p:txBody>
      </p:sp>
      <p:graphicFrame>
        <p:nvGraphicFramePr>
          <p:cNvPr id="12" name="Diagramma 11">
            <a:extLst>
              <a:ext uri="{FF2B5EF4-FFF2-40B4-BE49-F238E27FC236}">
                <a16:creationId xmlns:a16="http://schemas.microsoft.com/office/drawing/2014/main" id="{B2E4BEBD-8937-904A-5018-CEF358BF25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6654601"/>
              </p:ext>
            </p:extLst>
          </p:nvPr>
        </p:nvGraphicFramePr>
        <p:xfrm>
          <a:off x="3318299" y="117337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2534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33"/>
    </mc:Choice>
    <mc:Fallback xmlns="">
      <p:transition spd="slow" advTm="3643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6C7E39-1101-6F62-D4D0-0473EB83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51879"/>
            <a:ext cx="10890929" cy="1097280"/>
          </a:xfrm>
        </p:spPr>
        <p:txBody>
          <a:bodyPr/>
          <a:lstStyle/>
          <a:p>
            <a:r>
              <a:rPr lang="it-IT" dirty="0" err="1"/>
              <a:t>Conclusion</a:t>
            </a:r>
            <a:endParaRPr lang="it-IT" dirty="0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39B8931F-C7DD-284B-6F9C-C4A1D1D1F4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2379650"/>
              </p:ext>
            </p:extLst>
          </p:nvPr>
        </p:nvGraphicFramePr>
        <p:xfrm>
          <a:off x="640079" y="1746124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B6FF07AC-1FC0-EAAB-133C-85B35AC25DA2}"/>
              </a:ext>
            </a:extLst>
          </p:cNvPr>
          <p:cNvSpPr txBox="1"/>
          <p:nvPr/>
        </p:nvSpPr>
        <p:spPr>
          <a:xfrm>
            <a:off x="640079" y="5706121"/>
            <a:ext cx="9581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Statistical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modelling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successfully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identified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key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risk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factors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demonstrated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techniques for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healthcare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863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773"/>
    </mc:Choice>
    <mc:Fallback xmlns="">
      <p:transition spd="slow" advTm="6677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BDEE55-5ED2-C4AA-8F66-3D1AB665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References</a:t>
            </a:r>
            <a:endParaRPr lang="it-IT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C6B56C-14AD-D216-8829-497E81350E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339061"/>
            <a:ext cx="1049600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American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Diabetes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Association (2024) 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Standards of care in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diabetes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—2024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 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Diabetes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Care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47(Suppl. 1), pp. S1–S350.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Hosmer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D.W.,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Lemeshow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S. and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Sturdivant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R.X. (2013) 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logistic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3rd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edn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Hoboken, NJ: Wiley.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James, G., Witten, D.,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Hastie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T. and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Tibshirani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(2021) 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introduction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statistical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learning: with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applications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2nd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edn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Cham: Springer.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Core Team (2025) 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A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language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environment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statistical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computing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Vienna: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Foundation for Statistical Computing.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Available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 https://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www.R-project.org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 (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Accessed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11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July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2026).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Revelle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(2024) 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psych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Procedures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psychological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psychometric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personality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research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package).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Available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 https://CRAN.R-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project.org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/package=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psych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Accessed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11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July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2026).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Smith, J.W.,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Everhart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J.E., Dickson, W.C.,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Knowler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W.C. and Johannes, R.S. (1988) 'Using the ADAP learning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algorithm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forecast the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onset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diabetes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mellitus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', 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Proceedings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 the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Annual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Symposium on Computer Application in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Medical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Care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pp. 261–265.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Wei, T. and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Simko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V. (2024) 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corrplot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Visualization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 a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correlation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matrix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package).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Available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 https://CRAN.R-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project.org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/package=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corrplot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Accessed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13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July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2026).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Wickham, H. (2016) 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ggplot2: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Elegant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graphics for data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analysis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2nd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edn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Cham: Springer.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Wickham, H., François,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., Henry, L., Müller, K. and Vaughan, D. (2023) 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dplyr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A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grammar</a:t>
            </a:r>
            <a:r>
              <a:rPr kumimoji="0" lang="it-IT" altLang="it-IT" sz="1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 data </a:t>
            </a:r>
            <a:r>
              <a:rPr kumimoji="0" lang="it-IT" altLang="it-IT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manipulation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package).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Available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at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 https://CRAN.R-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project.org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/package=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dplyr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Accessed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14 </a:t>
            </a:r>
            <a:r>
              <a:rPr kumimoji="0" lang="it-IT" altLang="it-IT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July</a:t>
            </a:r>
            <a:r>
              <a:rPr kumimoji="0" lang="it-IT" altLang="it-IT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2026).</a:t>
            </a:r>
            <a:endParaRPr kumimoji="0" lang="it-IT" alt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88514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17472</TotalTime>
  <Words>4802</Words>
  <Application>Microsoft Macintosh PowerPoint</Application>
  <PresentationFormat>Widescreen</PresentationFormat>
  <Paragraphs>560</Paragraphs>
  <Slides>21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7" baseType="lpstr">
      <vt:lpstr>Arial Unicode MS</vt:lpstr>
      <vt:lpstr>Aptos</vt:lpstr>
      <vt:lpstr>Arial</vt:lpstr>
      <vt:lpstr>Grandview Display</vt:lpstr>
      <vt:lpstr>Wingdings</vt:lpstr>
      <vt:lpstr>DashVTI</vt:lpstr>
      <vt:lpstr>Exploring and Analyzing Diabetes Data Through Statistical Techniques in R</vt:lpstr>
      <vt:lpstr>Presentazione standard di PowerPoint</vt:lpstr>
      <vt:lpstr>Dataset Description</vt:lpstr>
      <vt:lpstr>Methodology</vt:lpstr>
      <vt:lpstr>Sample Charactheristics</vt:lpstr>
      <vt:lpstr>Summary Statistics</vt:lpstr>
      <vt:lpstr>Age Distribution</vt:lpstr>
      <vt:lpstr>BMI and Glucose Distribution</vt:lpstr>
      <vt:lpstr>Blood pressure and pregnancies</vt:lpstr>
      <vt:lpstr>Diabetes Rates Across Age and BMI Categories</vt:lpstr>
      <vt:lpstr>Glucose Levels by Diabetes Outcome</vt:lpstr>
      <vt:lpstr>Pregnancies by Diabetes Outcome</vt:lpstr>
      <vt:lpstr>Correlation Matrix</vt:lpstr>
      <vt:lpstr>Hypothesis Testing</vt:lpstr>
      <vt:lpstr>Multiple Linear Regression </vt:lpstr>
      <vt:lpstr>Logistic Regression</vt:lpstr>
      <vt:lpstr>Model Comparison</vt:lpstr>
      <vt:lpstr>Discussion</vt:lpstr>
      <vt:lpstr>Limitations &amp; Future Work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Almeida Ferrera, Yasmin</dc:creator>
  <cp:lastModifiedBy>Almeida Ferrera, Yasmin</cp:lastModifiedBy>
  <cp:revision>34</cp:revision>
  <dcterms:created xsi:type="dcterms:W3CDTF">2026-07-03T14:04:07Z</dcterms:created>
  <dcterms:modified xsi:type="dcterms:W3CDTF">2026-09-08T16:02:52Z</dcterms:modified>
</cp:coreProperties>
</file>