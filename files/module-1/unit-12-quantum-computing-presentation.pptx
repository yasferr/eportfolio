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1" r:id="rId1"/>
  </p:sldMasterIdLst>
  <p:notesMasterIdLst>
    <p:notesMasterId r:id="rId12"/>
  </p:notesMasterIdLst>
  <p:sldIdLst>
    <p:sldId id="256" r:id="rId2"/>
    <p:sldId id="257" r:id="rId3"/>
    <p:sldId id="262" r:id="rId4"/>
    <p:sldId id="268" r:id="rId5"/>
    <p:sldId id="263" r:id="rId6"/>
    <p:sldId id="261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A1EC9BCC-696B-6445-93B7-FB0B215D2607}">
          <p14:sldIdLst>
            <p14:sldId id="256"/>
            <p14:sldId id="257"/>
            <p14:sldId id="262"/>
            <p14:sldId id="268"/>
            <p14:sldId id="263"/>
            <p14:sldId id="261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9"/>
    <p:restoredTop sz="94577"/>
  </p:normalViewPr>
  <p:slideViewPr>
    <p:cSldViewPr snapToGrid="0">
      <p:cViewPr varScale="1">
        <p:scale>
          <a:sx n="49" d="100"/>
          <a:sy n="49" d="100"/>
        </p:scale>
        <p:origin x="184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B7FD37-164A-48DE-A661-48E7F8780F5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FF5F2950-33AB-4BCE-82DF-8488F6232EC1}">
      <dgm:prSet/>
      <dgm:spPr/>
      <dgm:t>
        <a:bodyPr/>
        <a:lstStyle/>
        <a:p>
          <a:pPr>
            <a:defRPr cap="all"/>
          </a:pPr>
          <a:r>
            <a:rPr lang="en-US" dirty="0"/>
            <a:t>Quantum </a:t>
          </a:r>
          <a:br>
            <a:rPr lang="en-US" dirty="0"/>
          </a:br>
          <a:r>
            <a:rPr lang="en-US" dirty="0"/>
            <a:t>is near</a:t>
          </a:r>
        </a:p>
      </dgm:t>
    </dgm:pt>
    <dgm:pt modelId="{80DD75A8-6A44-4ADB-A858-DFF8D1131B79}" type="parTrans" cxnId="{ABDAF0A5-9914-4F0C-9DBE-45A9A7E3326C}">
      <dgm:prSet/>
      <dgm:spPr/>
      <dgm:t>
        <a:bodyPr/>
        <a:lstStyle/>
        <a:p>
          <a:endParaRPr lang="en-US"/>
        </a:p>
      </dgm:t>
    </dgm:pt>
    <dgm:pt modelId="{256A87AF-F42D-42A3-9A5D-E732BA5AB681}" type="sibTrans" cxnId="{ABDAF0A5-9914-4F0C-9DBE-45A9A7E3326C}">
      <dgm:prSet/>
      <dgm:spPr/>
      <dgm:t>
        <a:bodyPr/>
        <a:lstStyle/>
        <a:p>
          <a:endParaRPr lang="en-US"/>
        </a:p>
      </dgm:t>
    </dgm:pt>
    <dgm:pt modelId="{61843BDD-996A-4304-A98D-D292D65A6985}">
      <dgm:prSet/>
      <dgm:spPr/>
      <dgm:t>
        <a:bodyPr/>
        <a:lstStyle/>
        <a:p>
          <a:pPr>
            <a:defRPr cap="all"/>
          </a:pPr>
          <a:r>
            <a:rPr lang="en-US" dirty="0"/>
            <a:t>Risk </a:t>
          </a:r>
          <a:br>
            <a:rPr lang="en-US" dirty="0"/>
          </a:br>
          <a:r>
            <a:rPr lang="en-US" dirty="0"/>
            <a:t>is real </a:t>
          </a:r>
        </a:p>
      </dgm:t>
    </dgm:pt>
    <dgm:pt modelId="{6DF12DAF-C91B-4655-B170-CB4662367E82}" type="parTrans" cxnId="{AA02C485-B73B-4E50-855B-6C60AEDCBAA8}">
      <dgm:prSet/>
      <dgm:spPr/>
      <dgm:t>
        <a:bodyPr/>
        <a:lstStyle/>
        <a:p>
          <a:endParaRPr lang="en-US"/>
        </a:p>
      </dgm:t>
    </dgm:pt>
    <dgm:pt modelId="{DC35ADEC-DDE4-4C62-A5CC-9BC87E530890}" type="sibTrans" cxnId="{AA02C485-B73B-4E50-855B-6C60AEDCBAA8}">
      <dgm:prSet/>
      <dgm:spPr/>
      <dgm:t>
        <a:bodyPr/>
        <a:lstStyle/>
        <a:p>
          <a:endParaRPr lang="en-US"/>
        </a:p>
      </dgm:t>
    </dgm:pt>
    <dgm:pt modelId="{30AD80E1-2CBC-4ED8-ABD4-1F355240A2B3}">
      <dgm:prSet/>
      <dgm:spPr/>
      <dgm:t>
        <a:bodyPr/>
        <a:lstStyle/>
        <a:p>
          <a:pPr>
            <a:defRPr cap="all"/>
          </a:pPr>
          <a:r>
            <a:rPr lang="en-US"/>
            <a:t>Preparation is critical</a:t>
          </a:r>
        </a:p>
      </dgm:t>
    </dgm:pt>
    <dgm:pt modelId="{17639FA2-1ABD-44E0-84A6-C720A0AB4DB0}" type="parTrans" cxnId="{92A31E2C-B1AC-4197-970D-71A32BEA4C7E}">
      <dgm:prSet/>
      <dgm:spPr/>
      <dgm:t>
        <a:bodyPr/>
        <a:lstStyle/>
        <a:p>
          <a:endParaRPr lang="en-US"/>
        </a:p>
      </dgm:t>
    </dgm:pt>
    <dgm:pt modelId="{297004A3-379C-4592-A265-7F6AD65D4BE7}" type="sibTrans" cxnId="{92A31E2C-B1AC-4197-970D-71A32BEA4C7E}">
      <dgm:prSet/>
      <dgm:spPr/>
      <dgm:t>
        <a:bodyPr/>
        <a:lstStyle/>
        <a:p>
          <a:endParaRPr lang="en-US"/>
        </a:p>
      </dgm:t>
    </dgm:pt>
    <dgm:pt modelId="{576AD28D-F4B4-4DB0-B157-AF0EE531BC65}" type="pres">
      <dgm:prSet presAssocID="{1CB7FD37-164A-48DE-A661-48E7F8780F5B}" presName="root" presStyleCnt="0">
        <dgm:presLayoutVars>
          <dgm:dir/>
          <dgm:resizeHandles val="exact"/>
        </dgm:presLayoutVars>
      </dgm:prSet>
      <dgm:spPr/>
    </dgm:pt>
    <dgm:pt modelId="{E1476E2B-6E60-4744-AE39-C341276949C7}" type="pres">
      <dgm:prSet presAssocID="{FF5F2950-33AB-4BCE-82DF-8488F6232EC1}" presName="compNode" presStyleCnt="0"/>
      <dgm:spPr/>
    </dgm:pt>
    <dgm:pt modelId="{09B4840B-6490-48B1-9DBF-03B3034AE535}" type="pres">
      <dgm:prSet presAssocID="{FF5F2950-33AB-4BCE-82DF-8488F6232EC1}" presName="iconBgRect" presStyleLbl="bgShp" presStyleIdx="0" presStyleCnt="3"/>
      <dgm:spPr/>
    </dgm:pt>
    <dgm:pt modelId="{C165B373-DD80-4946-BF9C-1A447F9D1B73}" type="pres">
      <dgm:prSet presAssocID="{FF5F2950-33AB-4BCE-82DF-8488F6232EC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o"/>
        </a:ext>
      </dgm:extLst>
    </dgm:pt>
    <dgm:pt modelId="{CB1E24A0-E997-47DC-A61F-797E7DF375F1}" type="pres">
      <dgm:prSet presAssocID="{FF5F2950-33AB-4BCE-82DF-8488F6232EC1}" presName="spaceRect" presStyleCnt="0"/>
      <dgm:spPr/>
    </dgm:pt>
    <dgm:pt modelId="{822DA9CC-B33C-45EC-BE51-B0471FB0E71C}" type="pres">
      <dgm:prSet presAssocID="{FF5F2950-33AB-4BCE-82DF-8488F6232EC1}" presName="textRect" presStyleLbl="revTx" presStyleIdx="0" presStyleCnt="3">
        <dgm:presLayoutVars>
          <dgm:chMax val="1"/>
          <dgm:chPref val="1"/>
        </dgm:presLayoutVars>
      </dgm:prSet>
      <dgm:spPr/>
    </dgm:pt>
    <dgm:pt modelId="{3DCEB64D-EE11-42ED-9553-67B7767574C6}" type="pres">
      <dgm:prSet presAssocID="{256A87AF-F42D-42A3-9A5D-E732BA5AB681}" presName="sibTrans" presStyleCnt="0"/>
      <dgm:spPr/>
    </dgm:pt>
    <dgm:pt modelId="{24D9F4FB-1ED0-4831-B944-950F9991791D}" type="pres">
      <dgm:prSet presAssocID="{61843BDD-996A-4304-A98D-D292D65A6985}" presName="compNode" presStyleCnt="0"/>
      <dgm:spPr/>
    </dgm:pt>
    <dgm:pt modelId="{F411C075-32D8-49BE-BAF1-60111171D5EB}" type="pres">
      <dgm:prSet presAssocID="{61843BDD-996A-4304-A98D-D292D65A6985}" presName="iconBgRect" presStyleLbl="bgShp" presStyleIdx="1" presStyleCnt="3"/>
      <dgm:spPr/>
    </dgm:pt>
    <dgm:pt modelId="{CA9DFB36-4DCD-45B7-B4D7-194F97AB3D06}" type="pres">
      <dgm:prSet presAssocID="{61843BDD-996A-4304-A98D-D292D65A698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viso"/>
        </a:ext>
      </dgm:extLst>
    </dgm:pt>
    <dgm:pt modelId="{27D0B3EE-0660-46F0-92CC-D1E0FDCF755B}" type="pres">
      <dgm:prSet presAssocID="{61843BDD-996A-4304-A98D-D292D65A6985}" presName="spaceRect" presStyleCnt="0"/>
      <dgm:spPr/>
    </dgm:pt>
    <dgm:pt modelId="{815E4D29-9D27-47C1-A87C-8253A27580DF}" type="pres">
      <dgm:prSet presAssocID="{61843BDD-996A-4304-A98D-D292D65A6985}" presName="textRect" presStyleLbl="revTx" presStyleIdx="1" presStyleCnt="3">
        <dgm:presLayoutVars>
          <dgm:chMax val="1"/>
          <dgm:chPref val="1"/>
        </dgm:presLayoutVars>
      </dgm:prSet>
      <dgm:spPr/>
    </dgm:pt>
    <dgm:pt modelId="{FEF66133-18EC-454C-87D0-E31BA3A63502}" type="pres">
      <dgm:prSet presAssocID="{DC35ADEC-DDE4-4C62-A5CC-9BC87E530890}" presName="sibTrans" presStyleCnt="0"/>
      <dgm:spPr/>
    </dgm:pt>
    <dgm:pt modelId="{8B53BB3A-B2FD-447F-BAC2-520D166769B2}" type="pres">
      <dgm:prSet presAssocID="{30AD80E1-2CBC-4ED8-ABD4-1F355240A2B3}" presName="compNode" presStyleCnt="0"/>
      <dgm:spPr/>
    </dgm:pt>
    <dgm:pt modelId="{3D76E5DD-AEF1-4174-8A5F-70C73A54665F}" type="pres">
      <dgm:prSet presAssocID="{30AD80E1-2CBC-4ED8-ABD4-1F355240A2B3}" presName="iconBgRect" presStyleLbl="bgShp" presStyleIdx="2" presStyleCnt="3"/>
      <dgm:spPr/>
    </dgm:pt>
    <dgm:pt modelId="{F81A553B-A4B3-4479-8914-550B497FE241}" type="pres">
      <dgm:prSet presAssocID="{30AD80E1-2CBC-4ED8-ABD4-1F355240A2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EB50E862-591B-4AF6-AEA9-109473D78EFF}" type="pres">
      <dgm:prSet presAssocID="{30AD80E1-2CBC-4ED8-ABD4-1F355240A2B3}" presName="spaceRect" presStyleCnt="0"/>
      <dgm:spPr/>
    </dgm:pt>
    <dgm:pt modelId="{E69C101A-F9BC-4DE9-A1AA-3F7DD0B9079E}" type="pres">
      <dgm:prSet presAssocID="{30AD80E1-2CBC-4ED8-ABD4-1F355240A2B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C7E7100-1EE0-4864-8C8A-5EEB34CCFC46}" type="presOf" srcId="{FF5F2950-33AB-4BCE-82DF-8488F6232EC1}" destId="{822DA9CC-B33C-45EC-BE51-B0471FB0E71C}" srcOrd="0" destOrd="0" presId="urn:microsoft.com/office/officeart/2018/5/layout/IconCircleLabelList"/>
    <dgm:cxn modelId="{9E46832A-44D9-48A7-9E69-E55FBCCD455B}" type="presOf" srcId="{1CB7FD37-164A-48DE-A661-48E7F8780F5B}" destId="{576AD28D-F4B4-4DB0-B157-AF0EE531BC65}" srcOrd="0" destOrd="0" presId="urn:microsoft.com/office/officeart/2018/5/layout/IconCircleLabelList"/>
    <dgm:cxn modelId="{92A31E2C-B1AC-4197-970D-71A32BEA4C7E}" srcId="{1CB7FD37-164A-48DE-A661-48E7F8780F5B}" destId="{30AD80E1-2CBC-4ED8-ABD4-1F355240A2B3}" srcOrd="2" destOrd="0" parTransId="{17639FA2-1ABD-44E0-84A6-C720A0AB4DB0}" sibTransId="{297004A3-379C-4592-A265-7F6AD65D4BE7}"/>
    <dgm:cxn modelId="{AA02C485-B73B-4E50-855B-6C60AEDCBAA8}" srcId="{1CB7FD37-164A-48DE-A661-48E7F8780F5B}" destId="{61843BDD-996A-4304-A98D-D292D65A6985}" srcOrd="1" destOrd="0" parTransId="{6DF12DAF-C91B-4655-B170-CB4662367E82}" sibTransId="{DC35ADEC-DDE4-4C62-A5CC-9BC87E530890}"/>
    <dgm:cxn modelId="{85C75E96-C68F-4B80-81B4-10101B68BFE2}" type="presOf" srcId="{30AD80E1-2CBC-4ED8-ABD4-1F355240A2B3}" destId="{E69C101A-F9BC-4DE9-A1AA-3F7DD0B9079E}" srcOrd="0" destOrd="0" presId="urn:microsoft.com/office/officeart/2018/5/layout/IconCircleLabelList"/>
    <dgm:cxn modelId="{ABDAF0A5-9914-4F0C-9DBE-45A9A7E3326C}" srcId="{1CB7FD37-164A-48DE-A661-48E7F8780F5B}" destId="{FF5F2950-33AB-4BCE-82DF-8488F6232EC1}" srcOrd="0" destOrd="0" parTransId="{80DD75A8-6A44-4ADB-A858-DFF8D1131B79}" sibTransId="{256A87AF-F42D-42A3-9A5D-E732BA5AB681}"/>
    <dgm:cxn modelId="{3AFD55E1-A67C-4338-943A-36F15E737A17}" type="presOf" srcId="{61843BDD-996A-4304-A98D-D292D65A6985}" destId="{815E4D29-9D27-47C1-A87C-8253A27580DF}" srcOrd="0" destOrd="0" presId="urn:microsoft.com/office/officeart/2018/5/layout/IconCircleLabelList"/>
    <dgm:cxn modelId="{2F984C73-2DA1-4AC8-9060-3065808C0688}" type="presParOf" srcId="{576AD28D-F4B4-4DB0-B157-AF0EE531BC65}" destId="{E1476E2B-6E60-4744-AE39-C341276949C7}" srcOrd="0" destOrd="0" presId="urn:microsoft.com/office/officeart/2018/5/layout/IconCircleLabelList"/>
    <dgm:cxn modelId="{A0607C8D-C064-47C5-BBE1-ABB1F93BBA2D}" type="presParOf" srcId="{E1476E2B-6E60-4744-AE39-C341276949C7}" destId="{09B4840B-6490-48B1-9DBF-03B3034AE535}" srcOrd="0" destOrd="0" presId="urn:microsoft.com/office/officeart/2018/5/layout/IconCircleLabelList"/>
    <dgm:cxn modelId="{10368A36-AF7F-4215-AFA3-AA25D17F672D}" type="presParOf" srcId="{E1476E2B-6E60-4744-AE39-C341276949C7}" destId="{C165B373-DD80-4946-BF9C-1A447F9D1B73}" srcOrd="1" destOrd="0" presId="urn:microsoft.com/office/officeart/2018/5/layout/IconCircleLabelList"/>
    <dgm:cxn modelId="{410F7A09-44C7-4860-8543-D535A2FC176F}" type="presParOf" srcId="{E1476E2B-6E60-4744-AE39-C341276949C7}" destId="{CB1E24A0-E997-47DC-A61F-797E7DF375F1}" srcOrd="2" destOrd="0" presId="urn:microsoft.com/office/officeart/2018/5/layout/IconCircleLabelList"/>
    <dgm:cxn modelId="{C9A4C029-6F85-4880-8086-32439E966C28}" type="presParOf" srcId="{E1476E2B-6E60-4744-AE39-C341276949C7}" destId="{822DA9CC-B33C-45EC-BE51-B0471FB0E71C}" srcOrd="3" destOrd="0" presId="urn:microsoft.com/office/officeart/2018/5/layout/IconCircleLabelList"/>
    <dgm:cxn modelId="{7D559F34-6E80-4FBC-AF0D-F4F39853292B}" type="presParOf" srcId="{576AD28D-F4B4-4DB0-B157-AF0EE531BC65}" destId="{3DCEB64D-EE11-42ED-9553-67B7767574C6}" srcOrd="1" destOrd="0" presId="urn:microsoft.com/office/officeart/2018/5/layout/IconCircleLabelList"/>
    <dgm:cxn modelId="{7D9330FC-7390-4761-BE92-64CAD12FC146}" type="presParOf" srcId="{576AD28D-F4B4-4DB0-B157-AF0EE531BC65}" destId="{24D9F4FB-1ED0-4831-B944-950F9991791D}" srcOrd="2" destOrd="0" presId="urn:microsoft.com/office/officeart/2018/5/layout/IconCircleLabelList"/>
    <dgm:cxn modelId="{D3DD59DC-A9AA-4800-8B34-B5B41D4E460B}" type="presParOf" srcId="{24D9F4FB-1ED0-4831-B944-950F9991791D}" destId="{F411C075-32D8-49BE-BAF1-60111171D5EB}" srcOrd="0" destOrd="0" presId="urn:microsoft.com/office/officeart/2018/5/layout/IconCircleLabelList"/>
    <dgm:cxn modelId="{7B52F1B4-CA42-4FEA-BF46-C08FF2F96D9E}" type="presParOf" srcId="{24D9F4FB-1ED0-4831-B944-950F9991791D}" destId="{CA9DFB36-4DCD-45B7-B4D7-194F97AB3D06}" srcOrd="1" destOrd="0" presId="urn:microsoft.com/office/officeart/2018/5/layout/IconCircleLabelList"/>
    <dgm:cxn modelId="{A826BA36-E3D3-4FB8-A33C-6D3887068D20}" type="presParOf" srcId="{24D9F4FB-1ED0-4831-B944-950F9991791D}" destId="{27D0B3EE-0660-46F0-92CC-D1E0FDCF755B}" srcOrd="2" destOrd="0" presId="urn:microsoft.com/office/officeart/2018/5/layout/IconCircleLabelList"/>
    <dgm:cxn modelId="{8D6AAF05-4AC7-46F5-A58C-190EEF3C0E2D}" type="presParOf" srcId="{24D9F4FB-1ED0-4831-B944-950F9991791D}" destId="{815E4D29-9D27-47C1-A87C-8253A27580DF}" srcOrd="3" destOrd="0" presId="urn:microsoft.com/office/officeart/2018/5/layout/IconCircleLabelList"/>
    <dgm:cxn modelId="{D04836C9-2E08-4288-806A-B2B036D8929C}" type="presParOf" srcId="{576AD28D-F4B4-4DB0-B157-AF0EE531BC65}" destId="{FEF66133-18EC-454C-87D0-E31BA3A63502}" srcOrd="3" destOrd="0" presId="urn:microsoft.com/office/officeart/2018/5/layout/IconCircleLabelList"/>
    <dgm:cxn modelId="{BBE2CADF-35E3-4DF9-A4B2-68C7E2EBC32E}" type="presParOf" srcId="{576AD28D-F4B4-4DB0-B157-AF0EE531BC65}" destId="{8B53BB3A-B2FD-447F-BAC2-520D166769B2}" srcOrd="4" destOrd="0" presId="urn:microsoft.com/office/officeart/2018/5/layout/IconCircleLabelList"/>
    <dgm:cxn modelId="{93265BAF-AE0A-4704-A98A-64BC97EC3A88}" type="presParOf" srcId="{8B53BB3A-B2FD-447F-BAC2-520D166769B2}" destId="{3D76E5DD-AEF1-4174-8A5F-70C73A54665F}" srcOrd="0" destOrd="0" presId="urn:microsoft.com/office/officeart/2018/5/layout/IconCircleLabelList"/>
    <dgm:cxn modelId="{06A03F99-25C3-4927-973A-ED470485D932}" type="presParOf" srcId="{8B53BB3A-B2FD-447F-BAC2-520D166769B2}" destId="{F81A553B-A4B3-4479-8914-550B497FE241}" srcOrd="1" destOrd="0" presId="urn:microsoft.com/office/officeart/2018/5/layout/IconCircleLabelList"/>
    <dgm:cxn modelId="{ADF7C5EB-AF57-492E-B814-9074489BB55E}" type="presParOf" srcId="{8B53BB3A-B2FD-447F-BAC2-520D166769B2}" destId="{EB50E862-591B-4AF6-AEA9-109473D78EFF}" srcOrd="2" destOrd="0" presId="urn:microsoft.com/office/officeart/2018/5/layout/IconCircleLabelList"/>
    <dgm:cxn modelId="{3FF2C7E4-2B87-4608-AC9D-4FAA059FAE55}" type="presParOf" srcId="{8B53BB3A-B2FD-447F-BAC2-520D166769B2}" destId="{E69C101A-F9BC-4DE9-A1AA-3F7DD0B9079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4840B-6490-48B1-9DBF-03B3034AE535}">
      <dsp:nvSpPr>
        <dsp:cNvPr id="0" name=""/>
        <dsp:cNvSpPr/>
      </dsp:nvSpPr>
      <dsp:spPr>
        <a:xfrm>
          <a:off x="370854" y="22783"/>
          <a:ext cx="1132312" cy="11323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65B373-DD80-4946-BF9C-1A447F9D1B73}">
      <dsp:nvSpPr>
        <dsp:cNvPr id="0" name=""/>
        <dsp:cNvSpPr/>
      </dsp:nvSpPr>
      <dsp:spPr>
        <a:xfrm>
          <a:off x="612166" y="264095"/>
          <a:ext cx="649687" cy="649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DA9CC-B33C-45EC-BE51-B0471FB0E71C}">
      <dsp:nvSpPr>
        <dsp:cNvPr id="0" name=""/>
        <dsp:cNvSpPr/>
      </dsp:nvSpPr>
      <dsp:spPr>
        <a:xfrm>
          <a:off x="8885" y="1507783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Quantum </a:t>
          </a:r>
          <a:br>
            <a:rPr lang="en-US" sz="2300" kern="1200" dirty="0"/>
          </a:br>
          <a:r>
            <a:rPr lang="en-US" sz="2300" kern="1200" dirty="0"/>
            <a:t>is near</a:t>
          </a:r>
        </a:p>
      </dsp:txBody>
      <dsp:txXfrm>
        <a:off x="8885" y="1507783"/>
        <a:ext cx="1856250" cy="720000"/>
      </dsp:txXfrm>
    </dsp:sp>
    <dsp:sp modelId="{F411C075-32D8-49BE-BAF1-60111171D5EB}">
      <dsp:nvSpPr>
        <dsp:cNvPr id="0" name=""/>
        <dsp:cNvSpPr/>
      </dsp:nvSpPr>
      <dsp:spPr>
        <a:xfrm>
          <a:off x="2551947" y="22783"/>
          <a:ext cx="1132312" cy="11323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DFB36-4DCD-45B7-B4D7-194F97AB3D06}">
      <dsp:nvSpPr>
        <dsp:cNvPr id="0" name=""/>
        <dsp:cNvSpPr/>
      </dsp:nvSpPr>
      <dsp:spPr>
        <a:xfrm>
          <a:off x="2793260" y="264095"/>
          <a:ext cx="649687" cy="649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E4D29-9D27-47C1-A87C-8253A27580DF}">
      <dsp:nvSpPr>
        <dsp:cNvPr id="0" name=""/>
        <dsp:cNvSpPr/>
      </dsp:nvSpPr>
      <dsp:spPr>
        <a:xfrm>
          <a:off x="2189979" y="1507783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Risk </a:t>
          </a:r>
          <a:br>
            <a:rPr lang="en-US" sz="2300" kern="1200" dirty="0"/>
          </a:br>
          <a:r>
            <a:rPr lang="en-US" sz="2300" kern="1200" dirty="0"/>
            <a:t>is real </a:t>
          </a:r>
        </a:p>
      </dsp:txBody>
      <dsp:txXfrm>
        <a:off x="2189979" y="1507783"/>
        <a:ext cx="1856250" cy="720000"/>
      </dsp:txXfrm>
    </dsp:sp>
    <dsp:sp modelId="{3D76E5DD-AEF1-4174-8A5F-70C73A54665F}">
      <dsp:nvSpPr>
        <dsp:cNvPr id="0" name=""/>
        <dsp:cNvSpPr/>
      </dsp:nvSpPr>
      <dsp:spPr>
        <a:xfrm>
          <a:off x="4733041" y="22783"/>
          <a:ext cx="1132312" cy="11323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A553B-A4B3-4479-8914-550B497FE241}">
      <dsp:nvSpPr>
        <dsp:cNvPr id="0" name=""/>
        <dsp:cNvSpPr/>
      </dsp:nvSpPr>
      <dsp:spPr>
        <a:xfrm>
          <a:off x="4974354" y="264095"/>
          <a:ext cx="649687" cy="6496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C101A-F9BC-4DE9-A1AA-3F7DD0B9079E}">
      <dsp:nvSpPr>
        <dsp:cNvPr id="0" name=""/>
        <dsp:cNvSpPr/>
      </dsp:nvSpPr>
      <dsp:spPr>
        <a:xfrm>
          <a:off x="4371072" y="1507783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Preparation is critical</a:t>
          </a:r>
        </a:p>
      </dsp:txBody>
      <dsp:txXfrm>
        <a:off x="4371072" y="1507783"/>
        <a:ext cx="185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0DC6C-1777-E445-82C1-95DD51E84295}" type="datetimeFigureOut">
              <a:rPr lang="it-IT" smtClean="0"/>
              <a:t>03/08/26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E1CD9-632C-DC46-8EC7-EF9260EBD21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958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E1CD9-632C-DC46-8EC7-EF9260EBD21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265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2F38-AF13-3929-A548-8BFD72E9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8A356B2-AABE-5843-3177-F818FDDA3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A62D3BD-F116-C0C9-E0F9-8F5F34B4A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>
              <a:buNone/>
            </a:pPr>
            <a:br>
              <a:rPr lang="it-IT" dirty="0">
                <a:solidFill>
                  <a:srgbClr val="6D6D6D"/>
                </a:solidFill>
                <a:effectLst/>
                <a:latin typeface="Times"/>
              </a:rPr>
            </a:br>
            <a:endParaRPr lang="it-IT" dirty="0">
              <a:solidFill>
                <a:srgbClr val="6D6D6D"/>
              </a:solidFill>
              <a:effectLst/>
              <a:latin typeface="Times"/>
            </a:endParaRPr>
          </a:p>
          <a:p>
            <a:pPr>
              <a:spcAft>
                <a:spcPts val="900"/>
              </a:spcAft>
              <a:buNone/>
            </a:pP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Slide 3 –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Why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This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Matters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: Real-World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Potential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(3:00–5:00)</a:t>
            </a:r>
            <a:br>
              <a:rPr lang="it-IT" dirty="0">
                <a:solidFill>
                  <a:srgbClr val="000000"/>
                </a:solidFill>
                <a:effectLst/>
                <a:latin typeface="Times"/>
              </a:rPr>
            </a:b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“The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economic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implications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are massive.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Analysts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such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McKinsey estimate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quantum computing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could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generate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multitrillion-dollar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value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across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sectors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like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finance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life sciences,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mobility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materials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by 2035. Oxford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Economics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reports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potential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productivity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boosts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of up to 7% in national GDP by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mid-century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with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proper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investment and government support. </a:t>
            </a:r>
          </a:p>
          <a:p>
            <a:pPr>
              <a:spcAft>
                <a:spcPts val="900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Beyond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economics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quantum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already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influencing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cybersecurity,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drug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discovery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optimization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and AI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research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.”</a:t>
            </a:r>
          </a:p>
          <a:p>
            <a:pPr>
              <a:buNone/>
            </a:pPr>
            <a:br>
              <a:rPr lang="it-IT" dirty="0">
                <a:solidFill>
                  <a:srgbClr val="6D6D6D"/>
                </a:solidFill>
                <a:effectLst/>
                <a:latin typeface="Times"/>
              </a:rPr>
            </a:br>
            <a:endParaRPr lang="it-IT" dirty="0">
              <a:solidFill>
                <a:srgbClr val="6D6D6D"/>
              </a:solidFill>
              <a:effectLst/>
              <a:latin typeface="Times"/>
            </a:endParaRPr>
          </a:p>
          <a:p>
            <a:pPr>
              <a:spcAft>
                <a:spcPts val="900"/>
              </a:spcAft>
              <a:buNone/>
            </a:pP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Slide 4 – Quantum and Cybersecurity Risks (5:00–7:00)</a:t>
            </a:r>
            <a:br>
              <a:rPr lang="it-IT" dirty="0">
                <a:solidFill>
                  <a:srgbClr val="000000"/>
                </a:solidFill>
                <a:effectLst/>
                <a:latin typeface="Times"/>
              </a:rPr>
            </a:b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“But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there’s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critical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downside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: 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quantum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threatens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today’s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foundational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security systems.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Experts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warn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of an event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nicknamed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Q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-Day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—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when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quantum systems can break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widely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used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cryptographic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standards like RSA and ECC. </a:t>
            </a:r>
          </a:p>
          <a:p>
            <a:pPr>
              <a:spcAft>
                <a:spcPts val="900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Security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organizations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including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Europol-led groups and UK cyber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authorities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are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already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urging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financial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institutions and governments to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prepare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for quantum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threats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now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because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malicious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actors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might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capture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and store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encrypted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data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today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to break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later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with quantum processors. </a:t>
            </a:r>
          </a:p>
          <a:p>
            <a:pPr>
              <a:spcAft>
                <a:spcPts val="900"/>
              </a:spcAft>
              <a:buNone/>
            </a:pP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aligns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with a core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principle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from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our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unit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: 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“Cybersecurity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a human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problem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first, and a technical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problem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second.”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Technology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may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break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codes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but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human decision-making in design, policy, and risk management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determines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whether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systems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fail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or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survive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.”</a:t>
            </a:r>
          </a:p>
          <a:p>
            <a:pPr>
              <a:buNone/>
            </a:pPr>
            <a:br>
              <a:rPr lang="it-IT" dirty="0">
                <a:solidFill>
                  <a:srgbClr val="6D6D6D"/>
                </a:solidFill>
                <a:effectLst/>
                <a:latin typeface="Times"/>
              </a:rPr>
            </a:br>
            <a:endParaRPr lang="it-IT" dirty="0">
              <a:solidFill>
                <a:srgbClr val="6D6D6D"/>
              </a:solidFill>
              <a:effectLst/>
              <a:latin typeface="Times"/>
            </a:endParaRPr>
          </a:p>
          <a:p>
            <a:pPr>
              <a:spcAft>
                <a:spcPts val="900"/>
              </a:spcAft>
              <a:buNone/>
            </a:pP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Slide 5 – Human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Factors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and Professional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Responsibility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(7:00–9:00)</a:t>
            </a:r>
            <a:br>
              <a:rPr lang="it-IT" dirty="0">
                <a:solidFill>
                  <a:srgbClr val="000000"/>
                </a:solidFill>
                <a:effectLst/>
                <a:latin typeface="Times"/>
              </a:rPr>
            </a:b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“Unit 7 of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our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textbook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emphasizes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security systems must be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designed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around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real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human cognitive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limitations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idealized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rational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actors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Users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don’t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behave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consistently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or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perfectly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;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they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shortcut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ignore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warnings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or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defer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to tools and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experts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That’s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dangerous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in cybersecurity,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because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tools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cannot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replace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strategic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thinking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Our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profession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must anticipate 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human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failure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assume human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perfection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</a:t>
            </a:r>
          </a:p>
          <a:p>
            <a:pPr>
              <a:spcAft>
                <a:spcPts val="900"/>
              </a:spcAft>
              <a:buNone/>
            </a:pP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means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designing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systems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reduce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complexity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and support human decision-making —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such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Rational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Centering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mechanisms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help users stay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logical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when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they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feel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overwhelmed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.”</a:t>
            </a:r>
          </a:p>
          <a:p>
            <a:pPr>
              <a:buNone/>
            </a:pPr>
            <a:br>
              <a:rPr lang="it-IT" dirty="0">
                <a:solidFill>
                  <a:srgbClr val="6D6D6D"/>
                </a:solidFill>
                <a:effectLst/>
                <a:latin typeface="Times"/>
              </a:rPr>
            </a:br>
            <a:endParaRPr lang="it-IT" dirty="0">
              <a:solidFill>
                <a:srgbClr val="6D6D6D"/>
              </a:solidFill>
              <a:effectLst/>
              <a:latin typeface="Times"/>
            </a:endParaRPr>
          </a:p>
          <a:p>
            <a:pPr>
              <a:spcAft>
                <a:spcPts val="900"/>
              </a:spcAft>
              <a:buNone/>
            </a:pP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Slide 6 – Ethics, Policy, and Governance (9:00–11:00)</a:t>
            </a:r>
            <a:br>
              <a:rPr lang="it-IT" dirty="0">
                <a:solidFill>
                  <a:srgbClr val="000000"/>
                </a:solidFill>
                <a:effectLst/>
                <a:latin typeface="Times"/>
              </a:rPr>
            </a:b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“Quantum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also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raises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legal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ethical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and governance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concerns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Policies must be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succinct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measurable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statements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of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protection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properties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vague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managerial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language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reflects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Ross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Anderson’s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definition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 policy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should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clearly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articulate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protections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are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provided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just sound good on paper.</a:t>
            </a:r>
          </a:p>
          <a:p>
            <a:pPr>
              <a:spcAft>
                <a:spcPts val="900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On the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ethical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front,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transparency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isn’t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just 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buzzword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—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it’s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cornerstone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of trust.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we’ve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learned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with AI,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transparency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explainability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aren’t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mere technical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prerequisites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;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they’re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essential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for accountability,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fairness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and public trust.”</a:t>
            </a:r>
          </a:p>
          <a:p>
            <a:pPr>
              <a:buNone/>
            </a:pPr>
            <a:br>
              <a:rPr lang="it-IT" dirty="0">
                <a:solidFill>
                  <a:srgbClr val="6D6D6D"/>
                </a:solidFill>
                <a:effectLst/>
                <a:latin typeface="Times"/>
              </a:rPr>
            </a:br>
            <a:endParaRPr lang="it-IT" dirty="0">
              <a:solidFill>
                <a:srgbClr val="6D6D6D"/>
              </a:solidFill>
              <a:effectLst/>
              <a:latin typeface="Times"/>
            </a:endParaRPr>
          </a:p>
          <a:p>
            <a:pPr>
              <a:spcAft>
                <a:spcPts val="1118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Apple Color Emoji" pitchFamily="2" charset="0"/>
              </a:rPr>
              <a:t>🔹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Slide 7 – Enterprise Readiness (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Final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Version)</a:t>
            </a:r>
            <a:endParaRPr lang="it-IT" dirty="0">
              <a:solidFill>
                <a:srgbClr val="000000"/>
              </a:solidFill>
              <a:effectLst/>
              <a:latin typeface="Times"/>
            </a:endParaRPr>
          </a:p>
          <a:p>
            <a:pPr>
              <a:spcAft>
                <a:spcPts val="900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“Quantum computing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no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longer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confined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to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research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labs —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leading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companies are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already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preparing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for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business impact.</a:t>
            </a:r>
          </a:p>
          <a:p>
            <a:pPr>
              <a:spcAft>
                <a:spcPts val="900"/>
              </a:spcAft>
              <a:buNone/>
            </a:pP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NVIDIA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for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example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investing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in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accelerated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quantum computing by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integrating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quantum processors with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classical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GPUs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Their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strategy shows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near-term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value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will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come from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hybrid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systems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where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quantum handles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specific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optimization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simulation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tasks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while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classical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computing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ensures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stability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scalability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</a:t>
            </a:r>
          </a:p>
          <a:p>
            <a:pPr>
              <a:spcAft>
                <a:spcPts val="900"/>
              </a:spcAft>
              <a:buNone/>
            </a:pP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Waymo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represents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similar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forward-looking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approach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Although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known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for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autonomous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driving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Waymo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relies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heavily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on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probabilistic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modeling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massive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simulation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environments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optimization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problems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—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exactly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the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types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of challenges quantum computing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expected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to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enhance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in the future.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Waymo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demonstrates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how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enterprises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are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already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designing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architectures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compatible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with post-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classical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computation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</a:t>
            </a:r>
          </a:p>
          <a:p>
            <a:pPr>
              <a:spcAft>
                <a:spcPts val="900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At the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same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time,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organizations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are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guided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by 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NIST — the National Institute of Standards and Technology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which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leading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global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efforts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in post-quantum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cryptography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NIST’s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work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confirms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quantum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readiness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optional;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becoming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formal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cybersecurity and compliance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requirement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</a:t>
            </a:r>
          </a:p>
          <a:p>
            <a:pPr>
              <a:spcAft>
                <a:spcPts val="900"/>
              </a:spcAft>
              <a:buNone/>
            </a:pP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Together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these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examples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show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enterprise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readiness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about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replacing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today’s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systems,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but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about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building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infrastructures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can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safely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strategically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integrate quantum capabilities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they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mature.”</a:t>
            </a:r>
          </a:p>
          <a:p>
            <a:pPr>
              <a:buNone/>
            </a:pPr>
            <a:br>
              <a:rPr lang="it-IT" dirty="0">
                <a:solidFill>
                  <a:srgbClr val="6D6D6D"/>
                </a:solidFill>
                <a:effectLst/>
                <a:latin typeface="Times"/>
              </a:rPr>
            </a:br>
            <a:endParaRPr lang="it-IT" dirty="0">
              <a:solidFill>
                <a:srgbClr val="6D6D6D"/>
              </a:solidFill>
              <a:effectLst/>
              <a:latin typeface="Times"/>
            </a:endParaRPr>
          </a:p>
          <a:p>
            <a:pPr>
              <a:spcAft>
                <a:spcPts val="1118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Apple Color Emoji" pitchFamily="2" charset="0"/>
              </a:rPr>
              <a:t>🔹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Slide 8 – Innovation Balance (With CEO Quote – Health Tech)</a:t>
            </a:r>
            <a:endParaRPr lang="it-IT" dirty="0">
              <a:solidFill>
                <a:srgbClr val="000000"/>
              </a:solidFill>
              <a:effectLst/>
              <a:latin typeface="Times"/>
            </a:endParaRPr>
          </a:p>
          <a:p>
            <a:pPr>
              <a:spcAft>
                <a:spcPts val="900"/>
              </a:spcAft>
              <a:buNone/>
            </a:pP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(13:00–14:30)</a:t>
            </a:r>
            <a:endParaRPr lang="it-IT" dirty="0">
              <a:solidFill>
                <a:srgbClr val="000000"/>
              </a:solidFill>
              <a:effectLst/>
              <a:latin typeface="Times"/>
            </a:endParaRPr>
          </a:p>
          <a:p>
            <a:pPr>
              <a:spcAft>
                <a:spcPts val="900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“A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useful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perspective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comes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from a CEO of a health-tech software company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managing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more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10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million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patient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data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records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When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asked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:</a:t>
            </a:r>
          </a:p>
          <a:p>
            <a:pPr>
              <a:spcAft>
                <a:spcPts val="900"/>
              </a:spcAft>
              <a:buNone/>
            </a:pP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“From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your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perspective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as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a CEO,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where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do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you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see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the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most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realistic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opportunities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for quantum computing to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add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value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to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healthcare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software over the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next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ten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i="1" dirty="0" err="1">
                <a:solidFill>
                  <a:srgbClr val="000000"/>
                </a:solidFill>
                <a:effectLst/>
                <a:latin typeface="Times"/>
              </a:rPr>
              <a:t>years</a:t>
            </a:r>
            <a:r>
              <a:rPr lang="it-IT" i="1" dirty="0">
                <a:solidFill>
                  <a:srgbClr val="000000"/>
                </a:solidFill>
                <a:effectLst/>
                <a:latin typeface="Times"/>
              </a:rPr>
              <a:t>?”</a:t>
            </a:r>
            <a:endParaRPr lang="it-IT" dirty="0">
              <a:solidFill>
                <a:srgbClr val="000000"/>
              </a:solidFill>
              <a:effectLst/>
              <a:latin typeface="Times"/>
            </a:endParaRPr>
          </a:p>
          <a:p>
            <a:pPr>
              <a:spcAft>
                <a:spcPts val="900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He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answered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by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referencing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Moore’s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Law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explaining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that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quantum computing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will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suddenly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replace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classical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systems,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but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will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follow 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gradual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curve of adoption —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where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value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increases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progressively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hardware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stability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error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correction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accessibility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improve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</a:t>
            </a:r>
          </a:p>
          <a:p>
            <a:pPr>
              <a:spcAft>
                <a:spcPts val="900"/>
              </a:spcAft>
              <a:buNone/>
            </a:pP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His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message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reinforces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an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important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principle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: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innovation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evolutionary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instantaneous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Quantum computing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will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first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enhance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specific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domains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such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molecular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simulation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optimization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and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predictive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modeling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before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becoming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mainstream in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healthcare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software.</a:t>
            </a:r>
          </a:p>
          <a:p>
            <a:pPr>
              <a:spcAft>
                <a:spcPts val="900"/>
              </a:spcAft>
              <a:buNone/>
            </a:pP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This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perspective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supports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responsible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innovation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—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investing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early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but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with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realistic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expectations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ethical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oversight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and security-first strategies.”</a:t>
            </a:r>
          </a:p>
          <a:p>
            <a:pPr>
              <a:buNone/>
            </a:pPr>
            <a:br>
              <a:rPr lang="it-IT" dirty="0">
                <a:solidFill>
                  <a:srgbClr val="6D6D6D"/>
                </a:solidFill>
                <a:effectLst/>
                <a:latin typeface="Times"/>
              </a:rPr>
            </a:br>
            <a:endParaRPr lang="it-IT" dirty="0">
              <a:solidFill>
                <a:srgbClr val="6D6D6D"/>
              </a:solidFill>
              <a:effectLst/>
              <a:latin typeface="Times"/>
            </a:endParaRPr>
          </a:p>
          <a:p>
            <a:pPr>
              <a:spcAft>
                <a:spcPts val="900"/>
              </a:spcAft>
              <a:buNone/>
            </a:pP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Slide 9 –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Conclusion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(14:30–15:00)</a:t>
            </a:r>
            <a:br>
              <a:rPr lang="it-IT" dirty="0">
                <a:solidFill>
                  <a:srgbClr val="000000"/>
                </a:solidFill>
                <a:effectLst/>
                <a:latin typeface="Times"/>
              </a:rPr>
            </a:b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“In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conclusion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quantum computing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offers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transformative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advantages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— from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unprecedented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processing power to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novel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market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opportunities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—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but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also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demands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responsible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preparation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, 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ethical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governance, and human-</a:t>
            </a:r>
            <a:r>
              <a:rPr lang="it-IT" b="1" dirty="0" err="1">
                <a:solidFill>
                  <a:srgbClr val="000000"/>
                </a:solidFill>
                <a:effectLst/>
                <a:latin typeface="Times"/>
              </a:rPr>
              <a:t>centered</a:t>
            </a:r>
            <a:r>
              <a:rPr lang="it-IT" b="1" dirty="0">
                <a:solidFill>
                  <a:srgbClr val="000000"/>
                </a:solidFill>
                <a:effectLst/>
                <a:latin typeface="Times"/>
              </a:rPr>
              <a:t> design thinking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 Enterprise leaders,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technologists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, and policymakers must collaborate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now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to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harness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quantum’s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promise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while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mitigating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its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risks. The quantum era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not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tomorrow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—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it’s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unfolding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 </a:t>
            </a:r>
            <a:r>
              <a:rPr lang="it-IT" dirty="0" err="1">
                <a:solidFill>
                  <a:srgbClr val="000000"/>
                </a:solidFill>
                <a:effectLst/>
                <a:latin typeface="Times"/>
              </a:rPr>
              <a:t>now</a:t>
            </a:r>
            <a:r>
              <a:rPr lang="it-IT" dirty="0">
                <a:solidFill>
                  <a:srgbClr val="000000"/>
                </a:solidFill>
                <a:effectLst/>
                <a:latin typeface="Times"/>
              </a:rPr>
              <a:t>.”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6C4AA7-2F24-E0F6-2CBA-0A976D16E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E1CD9-632C-DC46-8EC7-EF9260EBD21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3163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E1CD9-632C-DC46-8EC7-EF9260EBD21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7985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40C2-7647-01D2-63C4-22F213DA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955B5C7-EFE9-6CCE-C29A-B7C88DF38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151A2C6-09D5-EF6E-31F2-82239B3DF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B297702-6D8F-03D8-553F-069B29EBC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E1CD9-632C-DC46-8EC7-EF9260EBD21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626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E1CD9-632C-DC46-8EC7-EF9260EBD21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5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E1CD9-632C-DC46-8EC7-EF9260EBD21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8401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E1CD9-632C-DC46-8EC7-EF9260EBD21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7647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E1CD9-632C-DC46-8EC7-EF9260EBD21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130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E1CD9-632C-DC46-8EC7-EF9260EBD21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1791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5641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770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5215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8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6314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923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8064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599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2289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0185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010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6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90" r:id="rId6"/>
    <p:sldLayoutId id="2147483885" r:id="rId7"/>
    <p:sldLayoutId id="2147483886" r:id="rId8"/>
    <p:sldLayoutId id="2147483887" r:id="rId9"/>
    <p:sldLayoutId id="2147483889" r:id="rId10"/>
    <p:sldLayoutId id="2147483888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6" name="Rectangle 175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C7EE36A-874C-1081-FA3A-B9BBD99FC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1015819"/>
            <a:ext cx="6126479" cy="347167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4000" dirty="0"/>
              <a:t>Quantum Innovation </a:t>
            </a:r>
            <a:br>
              <a:rPr lang="it-IT" sz="4000" dirty="0"/>
            </a:br>
            <a:r>
              <a:rPr lang="it-IT" sz="4000" dirty="0"/>
              <a:t>and the Next Big </a:t>
            </a:r>
            <a:r>
              <a:rPr lang="it-IT" sz="4000" dirty="0" err="1"/>
              <a:t>Wave</a:t>
            </a:r>
            <a:r>
              <a:rPr lang="it-IT" sz="4000" dirty="0"/>
              <a:t>: </a:t>
            </a:r>
            <a:r>
              <a:rPr lang="it-IT" sz="4000" dirty="0" err="1"/>
              <a:t>Preparing</a:t>
            </a:r>
            <a:r>
              <a:rPr lang="it-IT" sz="4000" dirty="0"/>
              <a:t> Enterprises for </a:t>
            </a:r>
            <a:br>
              <a:rPr lang="it-IT" sz="4000" dirty="0"/>
            </a:br>
            <a:r>
              <a:rPr lang="it-IT" sz="4000" dirty="0"/>
              <a:t>a </a:t>
            </a:r>
            <a:r>
              <a:rPr lang="it-IT" sz="4000" dirty="0" err="1"/>
              <a:t>Transformative</a:t>
            </a:r>
            <a:r>
              <a:rPr lang="it-IT" sz="4000" dirty="0"/>
              <a:t> Future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6E2A063-054D-01CE-820E-88D3D8CD0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5318523"/>
            <a:ext cx="6123141" cy="981693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i="0" dirty="0" err="1"/>
              <a:t>Evaluating</a:t>
            </a:r>
            <a:r>
              <a:rPr lang="it-IT" sz="1400" i="0" dirty="0"/>
              <a:t> the Future of Computing – Ethical and Security Challenges</a:t>
            </a:r>
          </a:p>
          <a:p>
            <a:pPr>
              <a:lnSpc>
                <a:spcPct val="100000"/>
              </a:lnSpc>
            </a:pPr>
            <a:r>
              <a:rPr lang="it-IT" sz="1400" i="0" dirty="0" err="1"/>
              <a:t>MSc</a:t>
            </a:r>
            <a:r>
              <a:rPr lang="it-IT" sz="1400" i="0" dirty="0"/>
              <a:t> </a:t>
            </a:r>
            <a:r>
              <a:rPr lang="it-IT" sz="1400" i="0" dirty="0" err="1"/>
              <a:t>Artificial</a:t>
            </a:r>
            <a:r>
              <a:rPr lang="it-IT" sz="1400" i="0" dirty="0"/>
              <a:t> Intelligence</a:t>
            </a:r>
          </a:p>
          <a:p>
            <a:pPr>
              <a:lnSpc>
                <a:spcPct val="100000"/>
              </a:lnSpc>
            </a:pPr>
            <a:r>
              <a:rPr lang="it-IT" sz="1400" i="0" dirty="0">
                <a:latin typeface="Arial"/>
                <a:ea typeface="+mn-lt"/>
                <a:cs typeface="+mn-lt"/>
              </a:rPr>
              <a:t>17/01/2026</a:t>
            </a:r>
            <a:endParaRPr lang="it-IT" sz="1400" dirty="0">
              <a:latin typeface="Arial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270D10B-6EA2-89DB-412E-A83B81393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3" descr="Progettazione 3D cromosoma viola">
            <a:extLst>
              <a:ext uri="{FF2B5EF4-FFF2-40B4-BE49-F238E27FC236}">
                <a16:creationId xmlns:a16="http://schemas.microsoft.com/office/drawing/2014/main" id="{FE98141A-2367-D733-254C-FE186738A0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90" r="3" b="4294"/>
          <a:stretch>
            <a:fillRect/>
          </a:stretch>
        </p:blipFill>
        <p:spPr>
          <a:xfrm>
            <a:off x="7162219" y="2031635"/>
            <a:ext cx="4528232" cy="4148709"/>
          </a:xfrm>
          <a:prstGeom prst="rect">
            <a:avLst/>
          </a:prstGeom>
        </p:spPr>
      </p:pic>
      <p:sp>
        <p:nvSpPr>
          <p:cNvPr id="180" name="Rectangle 179">
            <a:extLst>
              <a:ext uri="{FF2B5EF4-FFF2-40B4-BE49-F238E27FC236}">
                <a16:creationId xmlns:a16="http://schemas.microsoft.com/office/drawing/2014/main" id="{C0301BA4-10E6-44CC-9EEC-727EDF3BC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1513" y="6300216"/>
            <a:ext cx="452183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256EE0-068C-FB62-5586-765640202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131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193"/>
    </mc:Choice>
    <mc:Fallback xmlns="">
      <p:transition spd="slow" advTm="511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65299-B2EF-77EC-4E76-E764D7B2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Freeform: Shape 18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97" name="Rectangle 19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18A52E8-C531-5145-9DE9-9C3E8C4CA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quantum computing ?</a:t>
            </a:r>
          </a:p>
        </p:txBody>
      </p:sp>
      <p:sp>
        <p:nvSpPr>
          <p:cNvPr id="198" name="Freeform: Shape 193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2" name="Video 151" descr="Formule matematiche e scientifiche">
            <a:extLst>
              <a:ext uri="{FF2B5EF4-FFF2-40B4-BE49-F238E27FC236}">
                <a16:creationId xmlns:a16="http://schemas.microsoft.com/office/drawing/2014/main" id="{70D88B47-E586-5C64-F3A8-2AFB0C7ADC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259" r="-1" b="-1"/>
          <a:stretch>
            <a:fillRect/>
          </a:stretch>
        </p:blipFill>
        <p:spPr>
          <a:xfrm>
            <a:off x="517868" y="2753925"/>
            <a:ext cx="5639091" cy="3163774"/>
          </a:xfrm>
          <a:prstGeom prst="rect">
            <a:avLst/>
          </a:prstGeom>
        </p:spPr>
      </p:pic>
      <p:sp>
        <p:nvSpPr>
          <p:cNvPr id="3" name="Sottotitolo 2">
            <a:extLst>
              <a:ext uri="{FF2B5EF4-FFF2-40B4-BE49-F238E27FC236}">
                <a16:creationId xmlns:a16="http://schemas.microsoft.com/office/drawing/2014/main" id="{1C145105-C41C-0E87-A47F-A0024F2C1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4827" y="1635777"/>
            <a:ext cx="5523269" cy="4783311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i="0" dirty="0"/>
              <a:t>   Qubits: </a:t>
            </a:r>
            <a:r>
              <a:rPr lang="it-IT" i="0" dirty="0"/>
              <a:t>can </a:t>
            </a:r>
            <a:r>
              <a:rPr lang="it-IT" i="0" dirty="0" err="1"/>
              <a:t>represent</a:t>
            </a:r>
            <a:r>
              <a:rPr lang="it-IT" i="0" dirty="0"/>
              <a:t> 0 and 1 </a:t>
            </a:r>
            <a:r>
              <a:rPr lang="it-IT" i="0" dirty="0" err="1"/>
              <a:t>simultaneously</a:t>
            </a:r>
            <a:endParaRPr lang="en-US" i="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i="0" dirty="0"/>
              <a:t>Superposition: </a:t>
            </a:r>
            <a:r>
              <a:rPr lang="it-IT" i="0" dirty="0" err="1"/>
              <a:t>where</a:t>
            </a:r>
            <a:r>
              <a:rPr lang="it-IT" i="0" dirty="0"/>
              <a:t> quantum systems can </a:t>
            </a:r>
            <a:r>
              <a:rPr lang="it-IT" i="0" dirty="0" err="1"/>
              <a:t>exist</a:t>
            </a:r>
            <a:r>
              <a:rPr lang="it-IT" i="0" dirty="0"/>
              <a:t> in multiple </a:t>
            </a:r>
            <a:r>
              <a:rPr lang="it-IT" i="0" dirty="0" err="1"/>
              <a:t>states</a:t>
            </a:r>
            <a:r>
              <a:rPr lang="it-IT" i="0" dirty="0"/>
              <a:t> </a:t>
            </a:r>
            <a:r>
              <a:rPr lang="it-IT" i="0" dirty="0" err="1"/>
              <a:t>at</a:t>
            </a:r>
            <a:r>
              <a:rPr lang="it-IT" i="0" dirty="0"/>
              <a:t> once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i="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i="0" dirty="0"/>
              <a:t>Entanglement: </a:t>
            </a:r>
            <a:r>
              <a:rPr lang="it-IT" i="0" dirty="0" err="1"/>
              <a:t>correlated</a:t>
            </a:r>
            <a:r>
              <a:rPr lang="it-IT" i="0" dirty="0"/>
              <a:t> quantum </a:t>
            </a:r>
            <a:r>
              <a:rPr lang="it-IT" i="0" dirty="0" err="1"/>
              <a:t>states</a:t>
            </a:r>
            <a:endParaRPr lang="en-US" i="0" dirty="0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it-IT" i="0" dirty="0" err="1"/>
              <a:t>Enables</a:t>
            </a:r>
            <a:r>
              <a:rPr lang="it-IT" i="0" dirty="0"/>
              <a:t> new </a:t>
            </a:r>
            <a:r>
              <a:rPr lang="it-IT" i="0" dirty="0" err="1"/>
              <a:t>computational</a:t>
            </a:r>
            <a:r>
              <a:rPr lang="it-IT" i="0" dirty="0"/>
              <a:t> models </a:t>
            </a:r>
            <a:r>
              <a:rPr lang="it-IT" i="0" dirty="0" err="1"/>
              <a:t>that</a:t>
            </a:r>
            <a:r>
              <a:rPr lang="it-IT" i="0" dirty="0"/>
              <a:t> </a:t>
            </a:r>
            <a:r>
              <a:rPr lang="it-IT" i="0" dirty="0" err="1"/>
              <a:t>surpass</a:t>
            </a:r>
            <a:r>
              <a:rPr lang="it-IT" i="0" dirty="0"/>
              <a:t> </a:t>
            </a:r>
            <a:r>
              <a:rPr lang="it-IT" i="0" dirty="0" err="1"/>
              <a:t>classical</a:t>
            </a:r>
            <a:r>
              <a:rPr lang="it-IT" i="0" dirty="0"/>
              <a:t> </a:t>
            </a:r>
            <a:r>
              <a:rPr lang="it-IT" i="0" dirty="0" err="1"/>
              <a:t>limits</a:t>
            </a:r>
            <a:r>
              <a:rPr lang="it-IT" i="0" dirty="0"/>
              <a:t> for </a:t>
            </a:r>
            <a:r>
              <a:rPr lang="it-IT" i="0" dirty="0" err="1"/>
              <a:t>certain</a:t>
            </a:r>
            <a:r>
              <a:rPr lang="it-IT" i="0" dirty="0"/>
              <a:t> </a:t>
            </a:r>
            <a:r>
              <a:rPr lang="it-IT" i="0" dirty="0" err="1"/>
              <a:t>problems</a:t>
            </a:r>
            <a:r>
              <a:rPr lang="it-IT" i="0" dirty="0"/>
              <a:t>.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04238B-EAA0-2797-25E4-24AAE4EA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0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226"/>
    </mc:Choice>
    <mc:Fallback xmlns="">
      <p:transition spd="slow" advTm="772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1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1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2"/>
                  </p:tgtEl>
                </p:cond>
              </p:nextCondLst>
            </p:seq>
            <p:video>
              <p:cMediaNode mute="1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52"/>
                </p:tgtEl>
              </p:cMediaNode>
            </p:vide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75" objId="152"/>
        <p14:playEvt time="10477" objId="152"/>
        <p14:playEvt time="20777" objId="152"/>
        <p14:playEvt time="30809" objId="152"/>
        <p14:playEvt time="41345" objId="152"/>
        <p14:playEvt time="51593" objId="152"/>
        <p14:playEvt time="61625" objId="152"/>
        <p14:playEvt time="71658" objId="152"/>
        <p14:stopEvt time="77226" objId="152"/>
      </p14:showEvt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7D494E6-87D1-E05E-8851-53BAC8653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it-IT" dirty="0"/>
              <a:t>Quantum vs AI</a:t>
            </a:r>
            <a:br>
              <a:rPr lang="it-IT" dirty="0"/>
            </a:br>
            <a:endParaRPr lang="it-IT" dirty="0"/>
          </a:p>
        </p:txBody>
      </p:sp>
      <p:pic>
        <p:nvPicPr>
          <p:cNvPr id="3" name="Immagine 2" descr="Immagine che contiene sfera, luce&#10;&#10;Il contenuto generato dall&amp;#39;IA potrebbe non essere corretto.">
            <a:extLst>
              <a:ext uri="{FF2B5EF4-FFF2-40B4-BE49-F238E27FC236}">
                <a16:creationId xmlns:a16="http://schemas.microsoft.com/office/drawing/2014/main" id="{34E39CAA-75D8-1BE3-036C-7379B1A289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32" r="8286" b="2"/>
          <a:stretch>
            <a:fillRect/>
          </a:stretch>
        </p:blipFill>
        <p:spPr>
          <a:xfrm>
            <a:off x="517867" y="1692478"/>
            <a:ext cx="4959823" cy="3469143"/>
          </a:xfrm>
          <a:prstGeom prst="rect">
            <a:avLst/>
          </a:pr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Content Placeholder 8">
            <a:extLst>
              <a:ext uri="{FF2B5EF4-FFF2-40B4-BE49-F238E27FC236}">
                <a16:creationId xmlns:a16="http://schemas.microsoft.com/office/drawing/2014/main" id="{5429C9B3-6AC6-D9CD-5AD8-D38080F24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1849348"/>
            <a:ext cx="5513832" cy="449658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it-IT" b="1" dirty="0"/>
          </a:p>
          <a:p>
            <a:r>
              <a:rPr lang="it-IT" dirty="0"/>
              <a:t>AI </a:t>
            </a:r>
            <a:r>
              <a:rPr lang="it-IT" dirty="0" err="1"/>
              <a:t>optimizes</a:t>
            </a:r>
            <a:r>
              <a:rPr lang="it-IT" dirty="0"/>
              <a:t> </a:t>
            </a:r>
            <a:r>
              <a:rPr lang="it-IT" dirty="0" err="1"/>
              <a:t>within</a:t>
            </a:r>
            <a:r>
              <a:rPr lang="it-IT" dirty="0"/>
              <a:t> </a:t>
            </a:r>
            <a:r>
              <a:rPr lang="it-IT" dirty="0" err="1"/>
              <a:t>classical</a:t>
            </a:r>
            <a:r>
              <a:rPr lang="it-IT" dirty="0"/>
              <a:t> </a:t>
            </a:r>
            <a:r>
              <a:rPr lang="it-IT" dirty="0" err="1"/>
              <a:t>computation</a:t>
            </a:r>
            <a:r>
              <a:rPr lang="it-IT" dirty="0"/>
              <a:t> </a:t>
            </a:r>
            <a:r>
              <a:rPr lang="it-IT" dirty="0" err="1"/>
              <a:t>limits</a:t>
            </a:r>
            <a:endParaRPr lang="it-IT" dirty="0"/>
          </a:p>
          <a:p>
            <a:endParaRPr lang="it-IT" b="1" dirty="0"/>
          </a:p>
          <a:p>
            <a:r>
              <a:rPr lang="it-IT" dirty="0"/>
              <a:t>Quantum computing </a:t>
            </a:r>
            <a:r>
              <a:rPr lang="it-IT" dirty="0" err="1"/>
              <a:t>redefines</a:t>
            </a:r>
            <a:r>
              <a:rPr lang="it-IT" dirty="0"/>
              <a:t> </a:t>
            </a:r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complexity</a:t>
            </a:r>
            <a:r>
              <a:rPr lang="it-IT" dirty="0"/>
              <a:t> classes.</a:t>
            </a:r>
          </a:p>
          <a:p>
            <a:endParaRPr lang="it-IT" dirty="0"/>
          </a:p>
          <a:p>
            <a:r>
              <a:rPr lang="it-IT" dirty="0"/>
              <a:t> </a:t>
            </a:r>
            <a:r>
              <a:rPr lang="it-IT" dirty="0" err="1">
                <a:ea typeface="+mn-lt"/>
                <a:cs typeface="+mn-lt"/>
              </a:rPr>
              <a:t>Potential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synergy</a:t>
            </a:r>
            <a:r>
              <a:rPr lang="it-IT" dirty="0">
                <a:ea typeface="+mn-lt"/>
                <a:cs typeface="+mn-lt"/>
              </a:rPr>
              <a:t>: quantum </a:t>
            </a:r>
            <a:r>
              <a:rPr lang="it-IT" dirty="0" err="1">
                <a:ea typeface="+mn-lt"/>
                <a:cs typeface="+mn-lt"/>
              </a:rPr>
              <a:t>accelerating</a:t>
            </a:r>
            <a:r>
              <a:rPr lang="it-IT" dirty="0">
                <a:ea typeface="+mn-lt"/>
                <a:cs typeface="+mn-lt"/>
              </a:rPr>
              <a:t> future AI models</a:t>
            </a:r>
            <a:endParaRPr lang="it-IT" dirty="0"/>
          </a:p>
          <a:p>
            <a:endParaRPr lang="it-IT" b="1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2F618BD-4999-9764-1CEA-0D5B3124F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145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248"/>
    </mc:Choice>
    <mc:Fallback xmlns="">
      <p:transition spd="slow" advTm="4624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CD308-1655-CC16-0158-735B3334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89">
            <a:extLst>
              <a:ext uri="{FF2B5EF4-FFF2-40B4-BE49-F238E27FC236}">
                <a16:creationId xmlns:a16="http://schemas.microsoft.com/office/drawing/2014/main" id="{984C2D29-4B9A-2CE0-D05F-BFB38A4B7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81B43A1-1B74-BE05-1244-C4C0E3485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0592"/>
          </a:xfrm>
        </p:spPr>
        <p:txBody>
          <a:bodyPr>
            <a:normAutofit/>
          </a:bodyPr>
          <a:lstStyle/>
          <a:p>
            <a:r>
              <a:rPr lang="it-IT" dirty="0" err="1"/>
              <a:t>Closer</a:t>
            </a:r>
            <a:r>
              <a:rPr lang="it-IT" dirty="0"/>
              <a:t> to Reality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sp>
        <p:nvSpPr>
          <p:cNvPr id="98" name="Rectangle 91">
            <a:extLst>
              <a:ext uri="{FF2B5EF4-FFF2-40B4-BE49-F238E27FC236}">
                <a16:creationId xmlns:a16="http://schemas.microsoft.com/office/drawing/2014/main" id="{A76FF32C-CE03-C663-F328-974F0645D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3">
            <a:extLst>
              <a:ext uri="{FF2B5EF4-FFF2-40B4-BE49-F238E27FC236}">
                <a16:creationId xmlns:a16="http://schemas.microsoft.com/office/drawing/2014/main" id="{2419B4C0-ACC8-45E6-508E-D64DAE08B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1650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Content Placeholder 15">
            <a:extLst>
              <a:ext uri="{FF2B5EF4-FFF2-40B4-BE49-F238E27FC236}">
                <a16:creationId xmlns:a16="http://schemas.microsoft.com/office/drawing/2014/main" id="{6C3E6167-1BAA-ABCD-F1A0-16390F8A5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978408"/>
            <a:ext cx="5010912" cy="245059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</a:pPr>
            <a:endParaRPr lang="en-US" sz="2200" dirty="0"/>
          </a:p>
          <a:p>
            <a:pPr>
              <a:lnSpc>
                <a:spcPct val="100000"/>
              </a:lnSpc>
            </a:pPr>
            <a:endParaRPr lang="en-US" sz="2200" dirty="0">
              <a:ea typeface="+mn-lt"/>
              <a:cs typeface="+mn-lt"/>
            </a:endParaRP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EB4AF44-215F-23F0-2D19-AD1DE6E24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it-IT"/>
          </a:p>
        </p:txBody>
      </p:sp>
      <p:cxnSp>
        <p:nvCxnSpPr>
          <p:cNvPr id="6" name="Connettore dritto 5">
            <a:extLst>
              <a:ext uri="{FF2B5EF4-FFF2-40B4-BE49-F238E27FC236}">
                <a16:creationId xmlns:a16="http://schemas.microsoft.com/office/drawing/2014/main" id="{1ED315E6-D898-7948-1DE3-236346F6CAA0}"/>
              </a:ext>
            </a:extLst>
          </p:cNvPr>
          <p:cNvCxnSpPr/>
          <p:nvPr/>
        </p:nvCxnSpPr>
        <p:spPr>
          <a:xfrm>
            <a:off x="517870" y="4738255"/>
            <a:ext cx="11159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A626576-7508-4D03-5B43-38E72D6FE0D9}"/>
              </a:ext>
            </a:extLst>
          </p:cNvPr>
          <p:cNvSpPr txBox="1"/>
          <p:nvPr/>
        </p:nvSpPr>
        <p:spPr>
          <a:xfrm>
            <a:off x="8077200" y="5306291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  <a:p>
            <a:endParaRPr lang="it-IT" dirty="0"/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BBAEADD0-17FA-9A1F-E860-D9F3751C356E}"/>
              </a:ext>
            </a:extLst>
          </p:cNvPr>
          <p:cNvSpPr/>
          <p:nvPr/>
        </p:nvSpPr>
        <p:spPr>
          <a:xfrm>
            <a:off x="1371599" y="450965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CEB96FD4-B067-EB35-C0F8-DC17C04DEBE8}"/>
              </a:ext>
            </a:extLst>
          </p:cNvPr>
          <p:cNvSpPr/>
          <p:nvPr/>
        </p:nvSpPr>
        <p:spPr>
          <a:xfrm>
            <a:off x="5860472" y="450965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A4F0B450-FF17-D320-6D14-76EFE387C724}"/>
              </a:ext>
            </a:extLst>
          </p:cNvPr>
          <p:cNvSpPr/>
          <p:nvPr/>
        </p:nvSpPr>
        <p:spPr>
          <a:xfrm>
            <a:off x="10383983" y="4509655"/>
            <a:ext cx="457200" cy="457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6741543-775B-805B-55C1-C1C9AC39D431}"/>
              </a:ext>
            </a:extLst>
          </p:cNvPr>
          <p:cNvSpPr txBox="1"/>
          <p:nvPr/>
        </p:nvSpPr>
        <p:spPr>
          <a:xfrm>
            <a:off x="5300729" y="5289103"/>
            <a:ext cx="27228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Cryptography</a:t>
            </a:r>
            <a:endParaRPr lang="it-IT" dirty="0"/>
          </a:p>
          <a:p>
            <a:r>
              <a:rPr lang="it-IT" dirty="0"/>
              <a:t>Drug </a:t>
            </a:r>
            <a:r>
              <a:rPr lang="it-IT" dirty="0" err="1"/>
              <a:t>discovery</a:t>
            </a:r>
            <a:endParaRPr lang="it-IT" dirty="0"/>
          </a:p>
          <a:p>
            <a:r>
              <a:rPr lang="it-IT" dirty="0" err="1"/>
              <a:t>Optimization</a:t>
            </a:r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28DD04E-BFCF-F00E-45CE-ED13FEA0E988}"/>
              </a:ext>
            </a:extLst>
          </p:cNvPr>
          <p:cNvSpPr txBox="1"/>
          <p:nvPr/>
        </p:nvSpPr>
        <p:spPr>
          <a:xfrm>
            <a:off x="431713" y="5380393"/>
            <a:ext cx="3366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ea typeface="+mn-lt"/>
                <a:cs typeface="+mn-lt"/>
              </a:rPr>
              <a:t>Real-world quantum systems are advancing rapidly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62DD0582-34A9-F0ED-AB6E-8D20351D2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" y="1970640"/>
            <a:ext cx="986887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“Quantum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computing’s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power and speed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enable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to solve some of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civilization’s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hardest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problems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.”</a:t>
            </a:r>
            <a:b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— Chuck Brooks, The Economist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51CCA2C1-5B56-076B-BE1B-DD6F5F2B7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6976" y="5218021"/>
            <a:ext cx="309401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quantum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technologies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could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 generate 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up to $2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trillion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in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economic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value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by 2035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566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046"/>
    </mc:Choice>
    <mc:Fallback xmlns="">
      <p:transition spd="slow" advTm="12704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DD672-A59C-3AA3-C0A3-C332C3896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36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5AFB5B4-6D9B-48E9-DEED-11386CD93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0945"/>
          </a:xfrm>
        </p:spPr>
        <p:txBody>
          <a:bodyPr>
            <a:normAutofit/>
          </a:bodyPr>
          <a:lstStyle/>
          <a:p>
            <a:r>
              <a:rPr lang="it-IT" dirty="0"/>
              <a:t>Security risks</a:t>
            </a:r>
          </a:p>
        </p:txBody>
      </p:sp>
      <p:sp>
        <p:nvSpPr>
          <p:cNvPr id="42" name="Freeform: Shape 38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magine 4" descr="Immagine che contiene vestiti, Viso umano, persona, uomo&#10;&#10;Il contenuto generato dall&amp;#39;IA potrebbe non essere corretto.">
            <a:extLst>
              <a:ext uri="{FF2B5EF4-FFF2-40B4-BE49-F238E27FC236}">
                <a16:creationId xmlns:a16="http://schemas.microsoft.com/office/drawing/2014/main" id="{3BC7A423-6547-2509-2F9F-69BF4D3C1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8" r="1560" b="3"/>
          <a:stretch>
            <a:fillRect/>
          </a:stretch>
        </p:blipFill>
        <p:spPr>
          <a:xfrm>
            <a:off x="517866" y="2299390"/>
            <a:ext cx="5578133" cy="4048568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C3989C-9D09-51C2-B493-10DC6C825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0528" y="2304288"/>
            <a:ext cx="5157216" cy="40507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 err="1">
                <a:ea typeface="+mn-lt"/>
                <a:cs typeface="+mn-lt"/>
              </a:rPr>
              <a:t>Potential</a:t>
            </a:r>
            <a:r>
              <a:rPr lang="it-IT" dirty="0">
                <a:ea typeface="+mn-lt"/>
                <a:cs typeface="+mn-lt"/>
              </a:rPr>
              <a:t> to break </a:t>
            </a:r>
            <a:r>
              <a:rPr lang="it-IT" dirty="0" err="1">
                <a:ea typeface="+mn-lt"/>
                <a:cs typeface="+mn-lt"/>
              </a:rPr>
              <a:t>current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encryption</a:t>
            </a:r>
            <a:r>
              <a:rPr lang="it-IT" dirty="0">
                <a:ea typeface="+mn-lt"/>
                <a:cs typeface="+mn-lt"/>
              </a:rPr>
              <a:t> standards</a:t>
            </a:r>
          </a:p>
          <a:p>
            <a:endParaRPr lang="it-IT" dirty="0"/>
          </a:p>
          <a:p>
            <a:r>
              <a:rPr lang="it-IT" dirty="0" err="1">
                <a:ea typeface="+mn-lt"/>
                <a:cs typeface="+mn-lt"/>
              </a:rPr>
              <a:t>Q</a:t>
            </a:r>
            <a:r>
              <a:rPr lang="it-IT" dirty="0">
                <a:ea typeface="+mn-lt"/>
                <a:cs typeface="+mn-lt"/>
              </a:rPr>
              <a:t>-Day</a:t>
            </a:r>
          </a:p>
          <a:p>
            <a:endParaRPr lang="it-IT" dirty="0">
              <a:ea typeface="+mn-lt"/>
              <a:cs typeface="+mn-lt"/>
            </a:endParaRPr>
          </a:p>
          <a:p>
            <a:r>
              <a:rPr lang="it-IT" dirty="0">
                <a:ea typeface="+mn-lt"/>
                <a:cs typeface="+mn-lt"/>
              </a:rPr>
              <a:t>Cybersecurity </a:t>
            </a:r>
            <a:r>
              <a:rPr lang="it-IT" dirty="0" err="1">
                <a:ea typeface="+mn-lt"/>
                <a:cs typeface="+mn-lt"/>
              </a:rPr>
              <a:t>threat</a:t>
            </a:r>
            <a:r>
              <a:rPr lang="it-IT" dirty="0">
                <a:ea typeface="+mn-lt"/>
                <a:cs typeface="+mn-lt"/>
              </a:rPr>
              <a:t> models must evolve</a:t>
            </a:r>
            <a:endParaRPr lang="it-IT" dirty="0"/>
          </a:p>
          <a:p>
            <a:endParaRPr lang="it-IT" dirty="0"/>
          </a:p>
          <a:p>
            <a:r>
              <a:rPr lang="it-IT" dirty="0"/>
              <a:t>RSA and ECC are </a:t>
            </a:r>
            <a:r>
              <a:rPr lang="it-IT" dirty="0" err="1"/>
              <a:t>particularly</a:t>
            </a:r>
            <a:r>
              <a:rPr lang="it-IT" dirty="0"/>
              <a:t> </a:t>
            </a:r>
            <a:r>
              <a:rPr lang="it-IT" dirty="0" err="1"/>
              <a:t>vulnerable</a:t>
            </a:r>
            <a:r>
              <a:rPr lang="it-IT" dirty="0"/>
              <a:t> to </a:t>
            </a:r>
            <a:r>
              <a:rPr lang="it-IT" dirty="0" err="1"/>
              <a:t>Shor’s</a:t>
            </a:r>
            <a:r>
              <a:rPr lang="it-IT" dirty="0"/>
              <a:t> </a:t>
            </a:r>
            <a:r>
              <a:rPr lang="it-IT" dirty="0" err="1"/>
              <a:t>algorithm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B6AA20-8D8E-609B-32A2-DF7A3400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0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814"/>
    </mc:Choice>
    <mc:Fallback xmlns="">
      <p:transition spd="slow" advTm="21781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2293CA-59B3-5310-95EA-7EBCF23F9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1208" y="978408"/>
            <a:ext cx="4754880" cy="1463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Ethics </a:t>
            </a:r>
            <a:r>
              <a:rPr lang="it-IT" altLang="it-IT" dirty="0">
                <a:latin typeface="Arial"/>
                <a:cs typeface="Arial"/>
              </a:rPr>
              <a:t>&amp; Governance</a:t>
            </a:r>
            <a:endParaRPr kumimoji="0" lang="it-IT" altLang="it-IT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D201F2-E748-B0EB-9C9B-A91738B21F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253" y="2441449"/>
            <a:ext cx="4672584" cy="43427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/>
          <a:p>
            <a:r>
              <a:rPr lang="it-IT" sz="2200" dirty="0">
                <a:ea typeface="+mn-lt"/>
                <a:cs typeface="+mn-lt"/>
              </a:rPr>
              <a:t>Data privacy – EU Act </a:t>
            </a:r>
            <a:r>
              <a:rPr lang="it-IT" sz="2200" dirty="0" err="1">
                <a:ea typeface="+mn-lt"/>
                <a:cs typeface="+mn-lt"/>
              </a:rPr>
              <a:t>relevance</a:t>
            </a:r>
            <a:endParaRPr lang="it-IT" sz="22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it-IT" sz="22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it-IT" sz="2200" dirty="0" err="1">
                <a:ea typeface="+mn-lt"/>
                <a:cs typeface="+mn-lt"/>
              </a:rPr>
              <a:t>Inequality</a:t>
            </a:r>
            <a:r>
              <a:rPr lang="it-IT" sz="2200" dirty="0">
                <a:ea typeface="+mn-lt"/>
                <a:cs typeface="+mn-lt"/>
              </a:rPr>
              <a:t> risk – NIST </a:t>
            </a:r>
            <a:r>
              <a:rPr lang="it-IT" sz="2200" dirty="0" err="1">
                <a:ea typeface="+mn-lt"/>
                <a:cs typeface="+mn-lt"/>
              </a:rPr>
              <a:t>role</a:t>
            </a:r>
            <a:r>
              <a:rPr lang="it-IT" sz="2200" dirty="0">
                <a:ea typeface="+mn-lt"/>
                <a:cs typeface="+mn-lt"/>
              </a:rPr>
              <a:t> in </a:t>
            </a:r>
            <a:r>
              <a:rPr lang="it-IT" sz="2200" dirty="0" err="1">
                <a:ea typeface="+mn-lt"/>
                <a:cs typeface="+mn-lt"/>
              </a:rPr>
              <a:t>standardisation</a:t>
            </a:r>
            <a:endParaRPr lang="it-IT" sz="22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it-IT" sz="22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it-IT" sz="2200" dirty="0" err="1">
                <a:ea typeface="+mn-lt"/>
                <a:cs typeface="+mn-lt"/>
              </a:rPr>
              <a:t>Transparency</a:t>
            </a:r>
            <a:endParaRPr lang="it-IT" sz="22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it-IT" sz="22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it-IT" dirty="0"/>
              <a:t>Governance</a:t>
            </a:r>
            <a:endParaRPr lang="it-IT" sz="2200" dirty="0">
              <a:ea typeface="+mn-lt"/>
              <a:cs typeface="+mn-lt"/>
            </a:endParaRPr>
          </a:p>
        </p:txBody>
      </p:sp>
      <p:pic>
        <p:nvPicPr>
          <p:cNvPr id="2" name="Immagine 1" descr="Immagine che contiene testo, uomo, schermata, persona&#10;&#10;Il contenuto generato dall&amp;#39;IA potrebbe non essere corretto.">
            <a:extLst>
              <a:ext uri="{FF2B5EF4-FFF2-40B4-BE49-F238E27FC236}">
                <a16:creationId xmlns:a16="http://schemas.microsoft.com/office/drawing/2014/main" id="{63CF81D9-DBFC-4BB5-6738-8E51BE64B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3228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7AF7A07-1CD7-EE84-8224-5EB5EFD2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6</a:t>
            </a:fld>
            <a:endParaRPr lang="it-IT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21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903"/>
    </mc:Choice>
    <mc:Fallback xmlns="">
      <p:transition spd="slow" advTm="679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BFE9FCD-266F-C853-4EDC-25B93FD9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400" dirty="0">
                <a:ea typeface="+mj-lt"/>
                <a:cs typeface="+mj-lt"/>
              </a:rPr>
              <a:t>Enterprise Readiness</a:t>
            </a:r>
            <a:endParaRPr lang="it-IT" sz="3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13">
            <a:extLst>
              <a:ext uri="{FF2B5EF4-FFF2-40B4-BE49-F238E27FC236}">
                <a16:creationId xmlns:a16="http://schemas.microsoft.com/office/drawing/2014/main" id="{DEFCE458-8DFD-F5A0-CAE5-E4A940CAC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409893"/>
            <a:ext cx="5020056" cy="45076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ea typeface="+mn-lt"/>
                <a:cs typeface="+mn-lt"/>
              </a:rPr>
              <a:t>Quantum-ready strategies and early planning</a:t>
            </a:r>
            <a:br>
              <a:rPr lang="en-US" sz="1700" dirty="0">
                <a:ea typeface="+mn-lt"/>
                <a:cs typeface="+mn-lt"/>
              </a:rPr>
            </a:br>
            <a:endParaRPr lang="en-US" sz="1700" dirty="0"/>
          </a:p>
          <a:p>
            <a:r>
              <a:rPr lang="en-US" sz="1700" dirty="0">
                <a:ea typeface="+mn-lt"/>
                <a:cs typeface="+mn-lt"/>
              </a:rPr>
              <a:t>Post-quantum cryptography adoption</a:t>
            </a:r>
            <a:br>
              <a:rPr lang="it-IT" b="1" dirty="0"/>
            </a:br>
            <a:endParaRPr lang="en-US" sz="1700" dirty="0"/>
          </a:p>
          <a:p>
            <a:r>
              <a:rPr lang="en-US" sz="1700" dirty="0"/>
              <a:t>NVIDIA Accelerated Quantum Computing</a:t>
            </a:r>
          </a:p>
          <a:p>
            <a:pPr marL="0" indent="0">
              <a:buNone/>
            </a:pPr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  <p:pic>
        <p:nvPicPr>
          <p:cNvPr id="3" name="Immagine 2" descr="It's Waymo's World. We're All Just Riding in It. - WSJ">
            <a:extLst>
              <a:ext uri="{FF2B5EF4-FFF2-40B4-BE49-F238E27FC236}">
                <a16:creationId xmlns:a16="http://schemas.microsoft.com/office/drawing/2014/main" id="{C3AB6A7C-8546-08B6-ACC6-DF15AA94B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02" r="1" b="20444"/>
          <a:stretch>
            <a:fillRect/>
          </a:stretch>
        </p:blipFill>
        <p:spPr>
          <a:xfrm>
            <a:off x="6514733" y="508090"/>
            <a:ext cx="5122753" cy="2783750"/>
          </a:xfrm>
          <a:prstGeom prst="rect">
            <a:avLst/>
          </a:prstGeom>
        </p:spPr>
      </p:pic>
      <p:pic>
        <p:nvPicPr>
          <p:cNvPr id="4" name="Immagine 3" descr="Nvidia Corporation - automiamo.com">
            <a:extLst>
              <a:ext uri="{FF2B5EF4-FFF2-40B4-BE49-F238E27FC236}">
                <a16:creationId xmlns:a16="http://schemas.microsoft.com/office/drawing/2014/main" id="{14F4F765-9C14-5C2E-3F2C-DCB27D2F53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5" b="1440"/>
          <a:stretch>
            <a:fillRect/>
          </a:stretch>
        </p:blipFill>
        <p:spPr>
          <a:xfrm>
            <a:off x="6514733" y="3273807"/>
            <a:ext cx="5122753" cy="2779776"/>
          </a:xfrm>
          <a:prstGeom prst="rect">
            <a:avLst/>
          </a:prstGeom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484AFA-245E-3E5D-25BA-F599EA10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7</a:t>
            </a:fld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2B73D33-C4B7-446A-8773-8F9D06CF710A}"/>
              </a:ext>
            </a:extLst>
          </p:cNvPr>
          <p:cNvSpPr txBox="1"/>
          <p:nvPr/>
        </p:nvSpPr>
        <p:spPr>
          <a:xfrm>
            <a:off x="387786" y="5684216"/>
            <a:ext cx="104872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“It’s Waymo’s World. We’re All Just Riding in It.”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E00D8C3-3518-2C68-0022-656D91135E07}"/>
              </a:ext>
            </a:extLst>
          </p:cNvPr>
          <p:cNvSpPr txBox="1"/>
          <p:nvPr/>
        </p:nvSpPr>
        <p:spPr>
          <a:xfrm>
            <a:off x="554738" y="62912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Wall Street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0875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929"/>
    </mc:Choice>
    <mc:Fallback xmlns="">
      <p:transition spd="slow" advTm="6692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1" name="Rectangle 1060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478FDA3-81A7-7283-E9C3-0BA159CFE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9200" cy="14630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100" b="1" kern="1200" dirty="0">
                <a:latin typeface="+mj-lt"/>
                <a:ea typeface="+mj-ea"/>
                <a:cs typeface="+mj-cs"/>
              </a:rPr>
              <a:t>Innovation Balance</a:t>
            </a:r>
            <a:br>
              <a:rPr lang="en-US" sz="4100" b="1" kern="1200" dirty="0">
                <a:latin typeface="+mj-lt"/>
                <a:ea typeface="+mj-ea"/>
                <a:cs typeface="+mj-cs"/>
              </a:rPr>
            </a:br>
            <a:endParaRPr lang="en-US" sz="41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5219862E-7186-427C-8292-92687AF4E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magine che contiene Viso umano, vestiti, persona, Abbigliamento formale&#10;&#10;Il contenuto generato dall'IA potrebbe non essere corretto.">
            <a:extLst>
              <a:ext uri="{FF2B5EF4-FFF2-40B4-BE49-F238E27FC236}">
                <a16:creationId xmlns:a16="http://schemas.microsoft.com/office/drawing/2014/main" id="{8ECE772F-9E65-D3F6-169F-02E07862D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418"/>
          <a:stretch>
            <a:fillRect/>
          </a:stretch>
        </p:blipFill>
        <p:spPr bwMode="auto">
          <a:xfrm>
            <a:off x="827667" y="5265887"/>
            <a:ext cx="974014" cy="90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magine 3" descr="Immagine che contiene testo, schermata, diagramm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660E396B-3EB2-10A8-5EF1-B23A683665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0" t="-1776" r="55" b="10451"/>
          <a:stretch>
            <a:fillRect/>
          </a:stretch>
        </p:blipFill>
        <p:spPr>
          <a:xfrm>
            <a:off x="6096000" y="3978936"/>
            <a:ext cx="5576168" cy="2312077"/>
          </a:xfrm>
          <a:prstGeom prst="rect">
            <a:avLst/>
          </a:prstGeom>
          <a:scene3d>
            <a:camera prst="orthographicFront"/>
            <a:lightRig rig="threePt" dir="t">
              <a:rot lat="0" lon="0" rev="0"/>
            </a:lightRig>
          </a:scene3d>
          <a:sp3d prstMaterial="metal"/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322BA34-FA28-B7E5-1195-83E8D362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FF9E859-BCE6-CB31-7545-68601801B158}"/>
              </a:ext>
            </a:extLst>
          </p:cNvPr>
          <p:cNvSpPr txBox="1"/>
          <p:nvPr/>
        </p:nvSpPr>
        <p:spPr>
          <a:xfrm>
            <a:off x="1922267" y="5654361"/>
            <a:ext cx="6409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Luciano Regus, CEO of </a:t>
            </a:r>
            <a:r>
              <a:rPr lang="it-IT" sz="1600" dirty="0" err="1"/>
              <a:t>Intelectah</a:t>
            </a:r>
            <a:r>
              <a:rPr lang="it-IT" sz="1600" dirty="0"/>
              <a:t>,</a:t>
            </a:r>
            <a:br>
              <a:rPr lang="it-IT" sz="1600" dirty="0"/>
            </a:br>
            <a:r>
              <a:rPr lang="it-IT" sz="1600" dirty="0"/>
              <a:t>Health Tech Software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F74C05-7322-B9D2-A496-2D863C4B23ED}"/>
              </a:ext>
            </a:extLst>
          </p:cNvPr>
          <p:cNvSpPr txBox="1"/>
          <p:nvPr/>
        </p:nvSpPr>
        <p:spPr>
          <a:xfrm>
            <a:off x="748179" y="3281199"/>
            <a:ext cx="45919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None/>
            </a:pPr>
            <a:r>
              <a:rPr lang="it-IT" sz="2800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Quantum computing </a:t>
            </a:r>
            <a:r>
              <a:rPr lang="it-IT" sz="2800" dirty="0" err="1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will</a:t>
            </a:r>
            <a:r>
              <a:rPr lang="it-IT" sz="2800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 </a:t>
            </a:r>
            <a:r>
              <a:rPr lang="it-IT" sz="2800" dirty="0" err="1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not</a:t>
            </a:r>
            <a:r>
              <a:rPr lang="it-IT" sz="2800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 </a:t>
            </a:r>
            <a:r>
              <a:rPr lang="it-IT" sz="2800" dirty="0" err="1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suddenly</a:t>
            </a:r>
            <a:r>
              <a:rPr lang="it-IT" sz="2800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 </a:t>
            </a:r>
            <a:r>
              <a:rPr lang="it-IT" sz="2800" dirty="0" err="1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replace</a:t>
            </a:r>
            <a:r>
              <a:rPr lang="it-IT" sz="2800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 </a:t>
            </a:r>
            <a:r>
              <a:rPr lang="it-IT" sz="2800" dirty="0" err="1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classical</a:t>
            </a:r>
            <a:r>
              <a:rPr lang="it-IT" sz="2800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 systems, </a:t>
            </a:r>
            <a:r>
              <a:rPr lang="it-IT" sz="2800" dirty="0" err="1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but</a:t>
            </a:r>
            <a:r>
              <a:rPr lang="it-IT" sz="2800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 </a:t>
            </a:r>
            <a:r>
              <a:rPr lang="it-IT" sz="2800" dirty="0" err="1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will</a:t>
            </a:r>
            <a:r>
              <a:rPr lang="it-IT" sz="2800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 follow a </a:t>
            </a:r>
            <a:r>
              <a:rPr lang="it-IT" sz="2800" dirty="0" err="1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gradual</a:t>
            </a:r>
            <a:r>
              <a:rPr lang="it-IT" sz="2800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 curve of adoption.</a:t>
            </a:r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6F1C7293-4822-0941-1C2B-2AAC75DF97FE}"/>
              </a:ext>
            </a:extLst>
          </p:cNvPr>
          <p:cNvSpPr txBox="1">
            <a:spLocks/>
          </p:cNvSpPr>
          <p:nvPr/>
        </p:nvSpPr>
        <p:spPr>
          <a:xfrm>
            <a:off x="517870" y="2895664"/>
            <a:ext cx="460619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</a:t>
            </a:r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F597EC68-9F1C-151D-EF0F-42677D7D16C1}"/>
              </a:ext>
            </a:extLst>
          </p:cNvPr>
          <p:cNvSpPr txBox="1">
            <a:spLocks/>
          </p:cNvSpPr>
          <p:nvPr/>
        </p:nvSpPr>
        <p:spPr>
          <a:xfrm>
            <a:off x="4849681" y="5434894"/>
            <a:ext cx="460619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7CD6056-F3FE-E592-26B5-2EF0E9409E09}"/>
              </a:ext>
            </a:extLst>
          </p:cNvPr>
          <p:cNvSpPr txBox="1"/>
          <p:nvPr/>
        </p:nvSpPr>
        <p:spPr>
          <a:xfrm>
            <a:off x="5550408" y="1178612"/>
            <a:ext cx="6550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None/>
            </a:pPr>
            <a:r>
              <a:rPr lang="it-IT" dirty="0">
                <a:solidFill>
                  <a:srgbClr val="000000"/>
                </a:solidFill>
                <a:latin typeface="Bierstadt" panose="020B0004020202020204" pitchFamily="34" charset="0"/>
              </a:rPr>
              <a:t>Responsible Innovation • Ethical </a:t>
            </a:r>
            <a:r>
              <a:rPr lang="it-IT" dirty="0">
                <a:solidFill>
                  <a:srgbClr val="000000"/>
                </a:solidFill>
                <a:effectLst/>
                <a:latin typeface="Bierstadt" panose="020B0004020202020204" pitchFamily="34" charset="0"/>
              </a:rPr>
              <a:t>Review • Security Investment</a:t>
            </a:r>
          </a:p>
        </p:txBody>
      </p:sp>
    </p:spTree>
    <p:extLst>
      <p:ext uri="{BB962C8B-B14F-4D97-AF65-F5344CB8AC3E}">
        <p14:creationId xmlns:p14="http://schemas.microsoft.com/office/powerpoint/2010/main" val="98123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081"/>
    </mc:Choice>
    <mc:Fallback xmlns="">
      <p:transition spd="slow" advTm="10608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30" name="Rectangle 4125">
            <a:extLst>
              <a:ext uri="{FF2B5EF4-FFF2-40B4-BE49-F238E27FC236}">
                <a16:creationId xmlns:a16="http://schemas.microsoft.com/office/drawing/2014/main" id="{4C32CD27-7027-AB2B-38F1-71C08EB84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11415EF-5F20-1453-FC0D-D4F28E71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1536" y="978408"/>
            <a:ext cx="6236208" cy="3102674"/>
          </a:xfrm>
        </p:spPr>
        <p:txBody>
          <a:bodyPr>
            <a:normAutofit/>
          </a:bodyPr>
          <a:lstStyle/>
          <a:p>
            <a:r>
              <a:rPr lang="it-IT" dirty="0" err="1"/>
              <a:t>Conclusion</a:t>
            </a:r>
            <a:br>
              <a:rPr lang="it-IT" dirty="0"/>
            </a:br>
            <a:br>
              <a:rPr lang="it-IT" dirty="0"/>
            </a:br>
            <a:r>
              <a:rPr lang="it-IT" sz="2000" b="0" dirty="0"/>
              <a:t>Enterprises </a:t>
            </a:r>
            <a:r>
              <a:rPr lang="it-IT" sz="2000" b="0" dirty="0" err="1"/>
              <a:t>that</a:t>
            </a:r>
            <a:r>
              <a:rPr lang="it-IT" sz="2000" b="0" dirty="0"/>
              <a:t> </a:t>
            </a:r>
            <a:r>
              <a:rPr lang="it-IT" sz="2000" b="0" dirty="0" err="1"/>
              <a:t>fail</a:t>
            </a:r>
            <a:r>
              <a:rPr lang="it-IT" sz="2000" b="0" dirty="0"/>
              <a:t> to </a:t>
            </a:r>
            <a:r>
              <a:rPr lang="it-IT" sz="2000" b="0" dirty="0" err="1"/>
              <a:t>adopt</a:t>
            </a:r>
            <a:r>
              <a:rPr lang="it-IT" sz="2000" b="0" dirty="0"/>
              <a:t> post-quantum strategies risk long-</a:t>
            </a:r>
            <a:r>
              <a:rPr lang="it-IT" sz="2000" b="0" dirty="0" err="1"/>
              <a:t>term</a:t>
            </a:r>
            <a:r>
              <a:rPr lang="it-IT" sz="2000" b="0" dirty="0"/>
              <a:t> </a:t>
            </a:r>
            <a:r>
              <a:rPr lang="it-IT" sz="2000" b="0" dirty="0" err="1"/>
              <a:t>systemic</a:t>
            </a:r>
            <a:r>
              <a:rPr lang="it-IT" sz="2000" b="0" dirty="0"/>
              <a:t> </a:t>
            </a:r>
            <a:r>
              <a:rPr lang="it-IT" sz="2000" b="0" dirty="0" err="1"/>
              <a:t>vulnerability</a:t>
            </a:r>
            <a:r>
              <a:rPr lang="it-IT" sz="2000" b="0" dirty="0"/>
              <a:t>.</a:t>
            </a:r>
            <a:endParaRPr lang="it-IT" sz="2000" dirty="0"/>
          </a:p>
        </p:txBody>
      </p:sp>
      <p:pic>
        <p:nvPicPr>
          <p:cNvPr id="2050" name="Picture 2" descr="Immagine Pin Storia">
            <a:extLst>
              <a:ext uri="{FF2B5EF4-FFF2-40B4-BE49-F238E27FC236}">
                <a16:creationId xmlns:a16="http://schemas.microsoft.com/office/drawing/2014/main" id="{6905EDB5-07DC-9FA4-468B-66930143B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17" r="19184" b="-1"/>
          <a:stretch>
            <a:fillRect/>
          </a:stretch>
        </p:blipFill>
        <p:spPr bwMode="auto">
          <a:xfrm>
            <a:off x="517869" y="508091"/>
            <a:ext cx="4221911" cy="583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1" name="Freeform: Shape 4127">
            <a:extLst>
              <a:ext uri="{FF2B5EF4-FFF2-40B4-BE49-F238E27FC236}">
                <a16:creationId xmlns:a16="http://schemas.microsoft.com/office/drawing/2014/main" id="{C6DD38CD-CFFE-4ABA-3DC8-01ED90559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4611" y="508090"/>
            <a:ext cx="6186474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E5634D-DC25-D26C-3944-21CD5A13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432" y="6419088"/>
            <a:ext cx="64008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48CC95F-0247-41B6-91CF-DC97C76A7088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it-IT"/>
          </a:p>
        </p:txBody>
      </p:sp>
      <p:graphicFrame>
        <p:nvGraphicFramePr>
          <p:cNvPr id="69" name="Content Placeholder 31">
            <a:extLst>
              <a:ext uri="{FF2B5EF4-FFF2-40B4-BE49-F238E27FC236}">
                <a16:creationId xmlns:a16="http://schemas.microsoft.com/office/drawing/2014/main" id="{D2596E5D-43EA-784B-51FF-EC79BFB5E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7745028"/>
              </p:ext>
            </p:extLst>
          </p:nvPr>
        </p:nvGraphicFramePr>
        <p:xfrm>
          <a:off x="5431536" y="4081082"/>
          <a:ext cx="6236208" cy="2250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2626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265"/>
    </mc:Choice>
    <mc:Fallback xmlns="">
      <p:transition spd="slow" advTm="12026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149547-828D-060E-6164-01F59993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40667"/>
            <a:ext cx="11155680" cy="1700781"/>
          </a:xfrm>
        </p:spPr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08E5B0-014F-F4B7-DC43-753EE32A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542B775-6AB3-19B8-82F9-2E44A9A04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F43E38E-BE89-0A56-C9BF-6D27BDF5EB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9596" y="993575"/>
            <a:ext cx="11455685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lang="it-IT" altLang="it-IT" sz="11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nsar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S., Kumar, P. and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Ranjan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V. (2025) ‘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Synergistic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integration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of AI, cybersecurity and software engineering for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sustainable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automation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’, 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Journal of 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Intelligent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Systems and Applications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18(1), pp. 45–56.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Bose, M. (2024) 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Bias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in AI: A 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societal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threat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 IGI Global.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Downey, A. (2024) 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Think Python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 O’Reilly.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European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Commission (2024) 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Artificial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Intelligence Act (EU 2024/1689)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Available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at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eur-lex.europa.eu</a:t>
            </a: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Forbes (2022) ‘Risks of quantum computing’.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Available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at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forbes.com</a:t>
            </a: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Forbes (2025) ‘Quantum computing impact’.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Available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at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forbes.com</a:t>
            </a: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Forbes (2025) ‘Real-world quantum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applications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’.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Available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at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forbes.com</a:t>
            </a: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Jobin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A.,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Ienca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M. and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Vayena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E. (2019) ‘AI ethics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guidelines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’, 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Nature Machine Intelligence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1(9), pp. 389–399.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NIST (2025) 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Quantum computing 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explained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Available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at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nist.gov</a:t>
            </a: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Nature (2025) 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Quantum computing 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article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Available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at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nature.com</a:t>
            </a: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Sreerangapuri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A. (2024) ‘AI-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driven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service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transformation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’, 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IJSRCSEIT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10(6), pp. 132–140.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SSH Academy (2025) 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NIST PQC standards 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explained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Available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at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kumimoji="0" lang="it-IT" altLang="it-IT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ssh.com</a:t>
            </a: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The Quantum Insider (2023; 2025) 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Quantum computing and governance 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articles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Walton, D.J. (2024) </a:t>
            </a:r>
            <a:r>
              <a:rPr kumimoji="0" lang="it-IT" altLang="it-IT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Culturally</a:t>
            </a:r>
            <a:r>
              <a:rPr kumimoji="0" lang="it-IT" altLang="it-IT" sz="11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responsive computing</a:t>
            </a:r>
            <a:r>
              <a:rPr kumimoji="0" lang="it-IT" altLang="it-IT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. ROTEL.</a:t>
            </a:r>
          </a:p>
          <a:p>
            <a:pPr>
              <a:lnSpc>
                <a:spcPct val="100000"/>
              </a:lnSpc>
            </a:pPr>
            <a:endParaRPr lang="it-IT" altLang="it-IT" sz="1100" dirty="0">
              <a:solidFill>
                <a:srgbClr val="000000"/>
              </a:solidFill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it-IT" altLang="it-IT" sz="1100" dirty="0">
                <a:solidFill>
                  <a:srgbClr val="000000"/>
                </a:solidFill>
                <a:latin typeface="+mn-lt"/>
              </a:rPr>
              <a:t>OpenAI (2026) </a:t>
            </a:r>
            <a:r>
              <a:rPr lang="it-IT" altLang="it-IT" sz="1100" i="1" dirty="0">
                <a:solidFill>
                  <a:srgbClr val="000000"/>
                </a:solidFill>
              </a:rPr>
              <a:t>ChatGPT: AI-</a:t>
            </a:r>
            <a:r>
              <a:rPr lang="it-IT" altLang="it-IT" sz="1100" i="1" dirty="0" err="1">
                <a:solidFill>
                  <a:srgbClr val="000000"/>
                </a:solidFill>
              </a:rPr>
              <a:t>assisted</a:t>
            </a:r>
            <a:r>
              <a:rPr lang="it-IT" altLang="it-IT" sz="1100" i="1" dirty="0">
                <a:solidFill>
                  <a:srgbClr val="000000"/>
                </a:solidFill>
              </a:rPr>
              <a:t> generation of visual </a:t>
            </a:r>
            <a:r>
              <a:rPr lang="it-IT" altLang="it-IT" sz="1100" i="1" dirty="0" err="1">
                <a:solidFill>
                  <a:srgbClr val="000000"/>
                </a:solidFill>
              </a:rPr>
              <a:t>content</a:t>
            </a:r>
            <a:r>
              <a:rPr lang="it-IT" altLang="it-IT" sz="1100" i="1" dirty="0">
                <a:solidFill>
                  <a:srgbClr val="000000"/>
                </a:solidFill>
              </a:rPr>
              <a:t> for educational </a:t>
            </a:r>
            <a:r>
              <a:rPr lang="it-IT" altLang="it-IT" sz="1100" i="1" dirty="0" err="1">
                <a:solidFill>
                  <a:srgbClr val="000000"/>
                </a:solidFill>
              </a:rPr>
              <a:t>presentations</a:t>
            </a:r>
            <a:r>
              <a:rPr lang="it-IT" altLang="it-IT" sz="1100" dirty="0">
                <a:solidFill>
                  <a:srgbClr val="000000"/>
                </a:solidFill>
                <a:latin typeface="-webkit-standard"/>
              </a:rPr>
              <a:t>. </a:t>
            </a:r>
            <a:endParaRPr lang="it-IT" altLang="it-IT" sz="1100" dirty="0"/>
          </a:p>
          <a:p>
            <a:pPr>
              <a:lnSpc>
                <a:spcPct val="100000"/>
              </a:lnSpc>
            </a:pPr>
            <a:endParaRPr lang="it-IT" altLang="it-IT" sz="1100" dirty="0">
              <a:solidFill>
                <a:srgbClr val="000000"/>
              </a:solidFill>
              <a:latin typeface="+mn-lt"/>
            </a:endParaRPr>
          </a:p>
          <a:p>
            <a:pPr>
              <a:lnSpc>
                <a:spcPct val="100000"/>
              </a:lnSpc>
            </a:pPr>
            <a:endParaRPr kumimoji="0" lang="it-IT" altLang="it-IT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959713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7478</TotalTime>
  <Words>1492</Words>
  <Application>Microsoft Macintosh PowerPoint</Application>
  <PresentationFormat>Widescreen</PresentationFormat>
  <Paragraphs>142</Paragraphs>
  <Slides>10</Slides>
  <Notes>9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7" baseType="lpstr">
      <vt:lpstr>-webkit-standard</vt:lpstr>
      <vt:lpstr>Apple Color Emoji</vt:lpstr>
      <vt:lpstr>Aptos</vt:lpstr>
      <vt:lpstr>Arial</vt:lpstr>
      <vt:lpstr>Bierstadt</vt:lpstr>
      <vt:lpstr>Times</vt:lpstr>
      <vt:lpstr>GestaltVTI</vt:lpstr>
      <vt:lpstr>Quantum Innovation  and the Next Big Wave: Preparing Enterprises for  a Transformative Future</vt:lpstr>
      <vt:lpstr>What is quantum computing ?</vt:lpstr>
      <vt:lpstr>Quantum vs AI </vt:lpstr>
      <vt:lpstr>Closer to Reality  </vt:lpstr>
      <vt:lpstr>Security risks</vt:lpstr>
      <vt:lpstr>Ethics &amp; Governance</vt:lpstr>
      <vt:lpstr>Enterprise Readiness</vt:lpstr>
      <vt:lpstr>Innovation Balance </vt:lpstr>
      <vt:lpstr>Conclusion  Enterprises that fail to adopt post-quantum strategies risk long-term systemic vulnerability.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Almeida Ferrera, Yasmin</dc:creator>
  <cp:lastModifiedBy>Almeida Ferrera, Yasmin</cp:lastModifiedBy>
  <cp:revision>175</cp:revision>
  <dcterms:created xsi:type="dcterms:W3CDTF">2025-12-03T16:15:13Z</dcterms:created>
  <dcterms:modified xsi:type="dcterms:W3CDTF">2026-08-03T16:31:16Z</dcterms:modified>
</cp:coreProperties>
</file>